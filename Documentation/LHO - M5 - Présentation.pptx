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6" r:id="rId2"/>
  </p:sldMasterIdLst>
  <p:notesMasterIdLst>
    <p:notesMasterId r:id="rId15"/>
  </p:notesMasterIdLst>
  <p:sldIdLst>
    <p:sldId id="256" r:id="rId3"/>
    <p:sldId id="257" r:id="rId4"/>
    <p:sldId id="258" r:id="rId5"/>
    <p:sldId id="270" r:id="rId6"/>
    <p:sldId id="271" r:id="rId7"/>
    <p:sldId id="264" r:id="rId8"/>
    <p:sldId id="267" r:id="rId9"/>
    <p:sldId id="268" r:id="rId10"/>
    <p:sldId id="269" r:id="rId11"/>
    <p:sldId id="261" r:id="rId12"/>
    <p:sldId id="262" r:id="rId13"/>
    <p:sldId id="263" r:id="rId14"/>
  </p:sldIdLst>
  <p:sldSz cx="9144000" cy="5143500" type="screen16x9"/>
  <p:notesSz cx="6858000" cy="9144000"/>
  <p:embeddedFontLst>
    <p:embeddedFont>
      <p:font typeface="Archivo" pitchFamily="2" charset="0"/>
      <p:regular r:id="rId16"/>
      <p:bold r:id="rId17"/>
      <p:italic r:id="rId18"/>
      <p:boldItalic r:id="rId19"/>
    </p:embeddedFont>
    <p:embeddedFont>
      <p:font typeface="Archivo Black" panose="020B0A03020202020B04" pitchFamily="34" charset="0"/>
      <p:regular r:id="rId20"/>
      <p:bold r:id="rId21"/>
      <p:boldItalic r:id="rId22"/>
    </p:embeddedFont>
    <p:embeddedFont>
      <p:font typeface="DM Sans" pitchFamily="2" charset="0"/>
      <p:regular r:id="rId23"/>
      <p:bold r:id="rId24"/>
      <p:italic r:id="rId25"/>
      <p:boldItalic r:id="rId26"/>
    </p:embeddedFont>
    <p:embeddedFont>
      <p:font typeface="Manrope" pitchFamily="2" charset="0"/>
      <p:regular r:id="rId27"/>
      <p:bold r:id="rId28"/>
    </p:embeddedFont>
    <p:embeddedFont>
      <p:font typeface="Proxima Nova" panose="02000506030000020004" pitchFamily="50" charset="0"/>
      <p:regular r:id="rId29"/>
      <p:bold r:id="rId30"/>
      <p:italic r:id="rId31"/>
      <p:boldItalic r:id="rId32"/>
    </p:embeddedFont>
    <p:embeddedFont>
      <p:font typeface="Proxima Nova Semibold" panose="02000506030000020004" pitchFamily="50" charset="0"/>
      <p:bold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FDF8FE"/>
    <a:srgbClr val="FEF8F8"/>
    <a:srgbClr val="F8FEF8"/>
    <a:srgbClr val="F8FA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413" y="1493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21" Type="http://schemas.openxmlformats.org/officeDocument/2006/relationships/font" Target="fonts/font6.fntdata"/><Relationship Id="rId34" Type="http://schemas.openxmlformats.org/officeDocument/2006/relationships/font" Target="fonts/font19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font" Target="fonts/font18.fntdata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9.fntdata"/><Relationship Id="rId32" Type="http://schemas.openxmlformats.org/officeDocument/2006/relationships/font" Target="fonts/font17.fntdata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7866473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9348995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9282042" name="Google Shape;451;gd431007ba2_0_208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8953038" name="Google Shape;452;gd431007ba2_0_208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Date : format international standard ISO 8601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842349" name="Google Shape;488;gd431007ba2_0_215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0319534" name="Google Shape;489;gd431007ba2_0_215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64355" name="Google Shape;544;gec9722e163_0_121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3779603" name="Google Shape;545;gec9722e163_0_121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16B2248F-48EC-20A4-1E09-0B28CFCBE07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64355" name="Google Shape;544;gec9722e163_0_121:notes">
            <a:extLst>
              <a:ext uri="{FF2B5EF4-FFF2-40B4-BE49-F238E27FC236}">
                <a16:creationId xmlns:a16="http://schemas.microsoft.com/office/drawing/2014/main" id="{5326D128-D05F-F0F2-3573-942EC1F370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3779603" name="Google Shape;545;gec9722e163_0_121:notes">
            <a:extLst>
              <a:ext uri="{FF2B5EF4-FFF2-40B4-BE49-F238E27FC236}">
                <a16:creationId xmlns:a16="http://schemas.microsoft.com/office/drawing/2014/main" id="{DC178D8F-AA83-EED0-C55E-CC84C0C490A7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80913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90DEA9D3-687A-90BD-9FAC-270DF87F732C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64355" name="Google Shape;544;gec9722e163_0_121:notes">
            <a:extLst>
              <a:ext uri="{FF2B5EF4-FFF2-40B4-BE49-F238E27FC236}">
                <a16:creationId xmlns:a16="http://schemas.microsoft.com/office/drawing/2014/main" id="{5F4EAED7-F6E9-7938-27E5-48C920BCF3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3779603" name="Google Shape;545;gec9722e163_0_121:notes">
            <a:extLst>
              <a:ext uri="{FF2B5EF4-FFF2-40B4-BE49-F238E27FC236}">
                <a16:creationId xmlns:a16="http://schemas.microsoft.com/office/drawing/2014/main" id="{10441D1F-7A85-49CF-7F43-21CE472CE43C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33998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448B9E95-FE13-B6F7-0A22-E97AD1BA0A5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64355" name="Google Shape;544;gec9722e163_0_121:notes">
            <a:extLst>
              <a:ext uri="{FF2B5EF4-FFF2-40B4-BE49-F238E27FC236}">
                <a16:creationId xmlns:a16="http://schemas.microsoft.com/office/drawing/2014/main" id="{2B35F579-91A7-C19F-231B-8A06937DB6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3779603" name="Google Shape;545;gec9722e163_0_121:notes">
            <a:extLst>
              <a:ext uri="{FF2B5EF4-FFF2-40B4-BE49-F238E27FC236}">
                <a16:creationId xmlns:a16="http://schemas.microsoft.com/office/drawing/2014/main" id="{264FD02D-2EB2-14C4-B296-7AB7AF554B5B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05893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ABF5F638-5D1C-E19E-1492-B03882412241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64355" name="Google Shape;544;gec9722e163_0_121:notes">
            <a:extLst>
              <a:ext uri="{FF2B5EF4-FFF2-40B4-BE49-F238E27FC236}">
                <a16:creationId xmlns:a16="http://schemas.microsoft.com/office/drawing/2014/main" id="{E7E04683-3F73-E41E-449F-E488EC1782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3779603" name="Google Shape;545;gec9722e163_0_121:notes">
            <a:extLst>
              <a:ext uri="{FF2B5EF4-FFF2-40B4-BE49-F238E27FC236}">
                <a16:creationId xmlns:a16="http://schemas.microsoft.com/office/drawing/2014/main" id="{9CC6F62A-1D84-3B2E-A586-057B8D03940A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89406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501073D3-A867-05BD-C84D-DEEC961DBF0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64355" name="Google Shape;544;gec9722e163_0_121:notes">
            <a:extLst>
              <a:ext uri="{FF2B5EF4-FFF2-40B4-BE49-F238E27FC236}">
                <a16:creationId xmlns:a16="http://schemas.microsoft.com/office/drawing/2014/main" id="{B2F1941E-B8FE-1309-92FC-8C32C15C63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3779603" name="Google Shape;545;gec9722e163_0_121:notes">
            <a:extLst>
              <a:ext uri="{FF2B5EF4-FFF2-40B4-BE49-F238E27FC236}">
                <a16:creationId xmlns:a16="http://schemas.microsoft.com/office/drawing/2014/main" id="{26D8795E-547C-4EF9-0FA4-A712CB1DF62E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575349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775B1BE5-F3E3-A871-6830-61B46A55520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64355" name="Google Shape;544;gec9722e163_0_121:notes">
            <a:extLst>
              <a:ext uri="{FF2B5EF4-FFF2-40B4-BE49-F238E27FC236}">
                <a16:creationId xmlns:a16="http://schemas.microsoft.com/office/drawing/2014/main" id="{7E4E782F-0A56-BCA0-69B2-45E6CFCC10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3779603" name="Google Shape;545;gec9722e163_0_121:notes">
            <a:extLst>
              <a:ext uri="{FF2B5EF4-FFF2-40B4-BE49-F238E27FC236}">
                <a16:creationId xmlns:a16="http://schemas.microsoft.com/office/drawing/2014/main" id="{014ECF22-7543-4F5F-00AF-C212909743BC}"/>
              </a:ext>
            </a:extLst>
          </p:cNvPr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09111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7585649" name="Google Shape;8183;g277303276c8_0_17475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2933232" name="Google Shape;8184;g277303276c8_0_17475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862267" name="Google Shape;8183;g277303276c8_0_17475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3152666" name="Google Shape;8184;g277303276c8_0_17475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0051222" name="Google Shape;8183;g277303276c8_0_17475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8160686" name="Google Shape;8184;g277303276c8_0_17475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slide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971518" name="Google Shape;9;p2"/>
          <p:cNvSpPr txBox="1">
            <a:spLocks noGrp="1"/>
          </p:cNvSpPr>
          <p:nvPr>
            <p:ph type="ctrTitle"/>
          </p:nvPr>
        </p:nvSpPr>
        <p:spPr bwMode="auto">
          <a:xfrm>
            <a:off x="713225" y="539500"/>
            <a:ext cx="4807500" cy="200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000"/>
              <a:buNone/>
              <a:defRPr sz="3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  <p:sp>
        <p:nvSpPr>
          <p:cNvPr id="336767377" name="Google Shape;10;p2"/>
          <p:cNvSpPr txBox="1">
            <a:spLocks noGrp="1"/>
          </p:cNvSpPr>
          <p:nvPr>
            <p:ph type="subTitle" idx="1"/>
          </p:nvPr>
        </p:nvSpPr>
        <p:spPr bwMode="auto">
          <a:xfrm>
            <a:off x="713225" y="2733950"/>
            <a:ext cx="2237400" cy="6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latin typeface="Manrope"/>
                <a:ea typeface="Manrope"/>
                <a:cs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pPr>
              <a:defRPr/>
            </a:pPr>
            <a:endParaRPr/>
          </a:p>
        </p:txBody>
      </p:sp>
      <p:sp>
        <p:nvSpPr>
          <p:cNvPr id="1199629537" name="Google Shape;11;p2"/>
          <p:cNvSpPr>
            <a:spLocks noGrp="1"/>
          </p:cNvSpPr>
          <p:nvPr>
            <p:ph type="pic" idx="2"/>
          </p:nvPr>
        </p:nvSpPr>
        <p:spPr bwMode="auto">
          <a:xfrm>
            <a:off x="5654925" y="1312525"/>
            <a:ext cx="2852100" cy="2852100"/>
          </a:xfrm>
          <a:prstGeom prst="ellipse">
            <a:avLst/>
          </a:prstGeom>
          <a:noFill/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lang="fr-CH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le only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0498203" name="Google Shape;64;p6"/>
          <p:cNvSpPr txBox="1">
            <a:spLocks noGrp="1"/>
          </p:cNvSpPr>
          <p:nvPr>
            <p:ph type="title"/>
          </p:nvPr>
        </p:nvSpPr>
        <p:spPr bwMode="auto"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498787914" name="Google Shape;65;p6"/>
          <p:cNvGrpSpPr/>
          <p:nvPr/>
        </p:nvGrpSpPr>
        <p:grpSpPr bwMode="auto">
          <a:xfrm>
            <a:off x="7267300" y="387524"/>
            <a:ext cx="2456449" cy="5138686"/>
            <a:chOff x="7267300" y="387524"/>
            <a:chExt cx="2456449" cy="5138686"/>
          </a:xfrm>
        </p:grpSpPr>
        <p:grpSp>
          <p:nvGrpSpPr>
            <p:cNvPr id="66" name="Google Shape;66;p6"/>
            <p:cNvGrpSpPr/>
            <p:nvPr/>
          </p:nvGrpSpPr>
          <p:grpSpPr bwMode="auto">
            <a:xfrm rot="10800000" flipH="1">
              <a:off x="7432803" y="387524"/>
              <a:ext cx="1309796" cy="257750"/>
              <a:chOff x="-6337521" y="4362225"/>
              <a:chExt cx="1309796" cy="257750"/>
            </a:xfrm>
          </p:grpSpPr>
          <p:sp>
            <p:nvSpPr>
              <p:cNvPr id="67" name="Google Shape;67;p6"/>
              <p:cNvSpPr/>
              <p:nvPr/>
            </p:nvSpPr>
            <p:spPr bwMode="auto">
              <a:xfrm>
                <a:off x="-5917975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68" name="Google Shape;68;p6"/>
              <p:cNvSpPr/>
              <p:nvPr/>
            </p:nvSpPr>
            <p:spPr bwMode="auto">
              <a:xfrm>
                <a:off x="-5713862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69" name="Google Shape;69;p6"/>
              <p:cNvSpPr/>
              <p:nvPr/>
            </p:nvSpPr>
            <p:spPr bwMode="auto">
              <a:xfrm>
                <a:off x="-5509750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0" name="Google Shape;70;p6"/>
              <p:cNvSpPr/>
              <p:nvPr/>
            </p:nvSpPr>
            <p:spPr bwMode="auto">
              <a:xfrm>
                <a:off x="-5305637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1" name="Google Shape;71;p6"/>
              <p:cNvSpPr/>
              <p:nvPr/>
            </p:nvSpPr>
            <p:spPr bwMode="auto">
              <a:xfrm>
                <a:off x="-5101525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2" name="Google Shape;72;p6"/>
              <p:cNvSpPr/>
              <p:nvPr/>
            </p:nvSpPr>
            <p:spPr bwMode="auto">
              <a:xfrm>
                <a:off x="-6337521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3" name="Google Shape;73;p6"/>
              <p:cNvSpPr/>
              <p:nvPr/>
            </p:nvSpPr>
            <p:spPr bwMode="auto">
              <a:xfrm>
                <a:off x="-6133409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4" name="Google Shape;74;p6"/>
              <p:cNvSpPr/>
              <p:nvPr/>
            </p:nvSpPr>
            <p:spPr bwMode="auto">
              <a:xfrm>
                <a:off x="-5929296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5" name="Google Shape;75;p6"/>
              <p:cNvSpPr/>
              <p:nvPr/>
            </p:nvSpPr>
            <p:spPr bwMode="auto">
              <a:xfrm>
                <a:off x="-5725184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6" name="Google Shape;76;p6"/>
              <p:cNvSpPr/>
              <p:nvPr/>
            </p:nvSpPr>
            <p:spPr bwMode="auto">
              <a:xfrm>
                <a:off x="-5521071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77" name="Google Shape;77;p6"/>
            <p:cNvGrpSpPr/>
            <p:nvPr/>
          </p:nvGrpSpPr>
          <p:grpSpPr bwMode="auto">
            <a:xfrm rot="10800000" flipH="1">
              <a:off x="7267300" y="3608800"/>
              <a:ext cx="2456449" cy="1917411"/>
              <a:chOff x="7267300" y="-366311"/>
              <a:chExt cx="2456449" cy="1917411"/>
            </a:xfrm>
          </p:grpSpPr>
          <p:sp>
            <p:nvSpPr>
              <p:cNvPr id="78" name="Google Shape;78;p6"/>
              <p:cNvSpPr/>
              <p:nvPr/>
            </p:nvSpPr>
            <p:spPr bwMode="auto">
              <a:xfrm rot="-5400000" flipH="1">
                <a:off x="7653475" y="-500"/>
                <a:ext cx="1554599" cy="1548600"/>
              </a:xfrm>
              <a:prstGeom prst="rtTriangl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79" name="Google Shape;79;p6"/>
              <p:cNvSpPr/>
              <p:nvPr/>
            </p:nvSpPr>
            <p:spPr bwMode="auto">
              <a:xfrm rot="2699364" flipH="1">
                <a:off x="8648903" y="642478"/>
                <a:ext cx="1150392" cy="262619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80" name="Google Shape;80;p6"/>
              <p:cNvSpPr/>
              <p:nvPr/>
            </p:nvSpPr>
            <p:spPr bwMode="auto">
              <a:xfrm>
                <a:off x="7719598" y="153426"/>
                <a:ext cx="1309800" cy="13098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lgDash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81" name="Google Shape;81;p6"/>
              <p:cNvSpPr/>
              <p:nvPr/>
            </p:nvSpPr>
            <p:spPr bwMode="auto">
              <a:xfrm rot="2699336" flipH="1">
                <a:off x="7177884" y="-7536"/>
                <a:ext cx="1098632" cy="20195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lank" type="blank" userDrawn="1">
  <p:cSld name="BLANK">
    <p:bg>
      <p:bgPr>
        <a:noFill/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able of contents" userDrawn="1">
  <p:cSld name="BLANK_1_1_1_1_1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550198" name="Google Shape;159;p13"/>
          <p:cNvSpPr txBox="1">
            <a:spLocks noGrp="1"/>
          </p:cNvSpPr>
          <p:nvPr>
            <p:ph type="title"/>
          </p:nvPr>
        </p:nvSpPr>
        <p:spPr bwMode="auto"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30296922" name="Google Shape;160;p13"/>
          <p:cNvSpPr txBox="1">
            <a:spLocks noGrp="1"/>
          </p:cNvSpPr>
          <p:nvPr>
            <p:ph type="subTitle" idx="1"/>
          </p:nvPr>
        </p:nvSpPr>
        <p:spPr bwMode="auto">
          <a:xfrm>
            <a:off x="1578601" y="2296975"/>
            <a:ext cx="2309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99770460" name="Google Shape;161;p13"/>
          <p:cNvSpPr txBox="1">
            <a:spLocks noGrp="1"/>
          </p:cNvSpPr>
          <p:nvPr>
            <p:ph type="subTitle" idx="2"/>
          </p:nvPr>
        </p:nvSpPr>
        <p:spPr bwMode="auto">
          <a:xfrm>
            <a:off x="1578601" y="3954230"/>
            <a:ext cx="2309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22408677" name="Google Shape;162;p13"/>
          <p:cNvSpPr txBox="1">
            <a:spLocks noGrp="1"/>
          </p:cNvSpPr>
          <p:nvPr>
            <p:ph type="subTitle" idx="3"/>
          </p:nvPr>
        </p:nvSpPr>
        <p:spPr bwMode="auto">
          <a:xfrm>
            <a:off x="5534500" y="3954200"/>
            <a:ext cx="2309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76469417" name="Google Shape;163;p13"/>
          <p:cNvSpPr txBox="1">
            <a:spLocks noGrp="1"/>
          </p:cNvSpPr>
          <p:nvPr>
            <p:ph type="subTitle" idx="4"/>
          </p:nvPr>
        </p:nvSpPr>
        <p:spPr bwMode="auto">
          <a:xfrm>
            <a:off x="5534500" y="2296975"/>
            <a:ext cx="2309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84704885" name="Google Shape;164;p13"/>
          <p:cNvSpPr txBox="1">
            <a:spLocks noGrp="1"/>
          </p:cNvSpPr>
          <p:nvPr>
            <p:ph type="title" idx="5" hasCustomPrompt="1"/>
          </p:nvPr>
        </p:nvSpPr>
        <p:spPr bwMode="auto">
          <a:xfrm>
            <a:off x="796200" y="1633675"/>
            <a:ext cx="707400" cy="12360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840208096" name="Google Shape;165;p13"/>
          <p:cNvSpPr txBox="1">
            <a:spLocks noGrp="1"/>
          </p:cNvSpPr>
          <p:nvPr>
            <p:ph type="title" idx="6" hasCustomPrompt="1"/>
          </p:nvPr>
        </p:nvSpPr>
        <p:spPr bwMode="auto">
          <a:xfrm>
            <a:off x="4750950" y="3290775"/>
            <a:ext cx="707400" cy="12360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1334950164" name="Google Shape;166;p13"/>
          <p:cNvSpPr txBox="1">
            <a:spLocks noGrp="1"/>
          </p:cNvSpPr>
          <p:nvPr>
            <p:ph type="title" idx="7" hasCustomPrompt="1"/>
          </p:nvPr>
        </p:nvSpPr>
        <p:spPr bwMode="auto">
          <a:xfrm>
            <a:off x="796200" y="3290900"/>
            <a:ext cx="707400" cy="12360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1996097669" name="Google Shape;167;p13"/>
          <p:cNvSpPr txBox="1">
            <a:spLocks noGrp="1"/>
          </p:cNvSpPr>
          <p:nvPr>
            <p:ph type="title" idx="8" hasCustomPrompt="1"/>
          </p:nvPr>
        </p:nvSpPr>
        <p:spPr bwMode="auto">
          <a:xfrm>
            <a:off x="4750950" y="1633575"/>
            <a:ext cx="707400" cy="12360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t>xx%</a:t>
            </a:r>
          </a:p>
        </p:txBody>
      </p:sp>
      <p:sp>
        <p:nvSpPr>
          <p:cNvPr id="1831753529" name="Google Shape;168;p13"/>
          <p:cNvSpPr txBox="1">
            <a:spLocks noGrp="1"/>
          </p:cNvSpPr>
          <p:nvPr>
            <p:ph type="subTitle" idx="9"/>
          </p:nvPr>
        </p:nvSpPr>
        <p:spPr bwMode="auto">
          <a:xfrm>
            <a:off x="1578600" y="1633675"/>
            <a:ext cx="2309700" cy="73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Archivo"/>
                <a:ea typeface="Archivo"/>
                <a:cs typeface="Archiv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14722001" name="Google Shape;169;p13"/>
          <p:cNvSpPr txBox="1">
            <a:spLocks noGrp="1"/>
          </p:cNvSpPr>
          <p:nvPr>
            <p:ph type="subTitle" idx="13"/>
          </p:nvPr>
        </p:nvSpPr>
        <p:spPr bwMode="auto">
          <a:xfrm>
            <a:off x="1578600" y="3290939"/>
            <a:ext cx="2309700" cy="73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Archivo"/>
                <a:ea typeface="Archivo"/>
                <a:cs typeface="Archiv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915630510" name="Google Shape;170;p13"/>
          <p:cNvSpPr txBox="1">
            <a:spLocks noGrp="1"/>
          </p:cNvSpPr>
          <p:nvPr>
            <p:ph type="subTitle" idx="14"/>
          </p:nvPr>
        </p:nvSpPr>
        <p:spPr bwMode="auto">
          <a:xfrm>
            <a:off x="5534500" y="3290901"/>
            <a:ext cx="2309700" cy="73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Archivo"/>
                <a:ea typeface="Archivo"/>
                <a:cs typeface="Archiv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143071855" name="Google Shape;171;p13"/>
          <p:cNvSpPr txBox="1">
            <a:spLocks noGrp="1"/>
          </p:cNvSpPr>
          <p:nvPr>
            <p:ph type="subTitle" idx="15"/>
          </p:nvPr>
        </p:nvSpPr>
        <p:spPr bwMode="auto">
          <a:xfrm>
            <a:off x="5534500" y="1633675"/>
            <a:ext cx="2309700" cy="73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latin typeface="Archivo"/>
                <a:ea typeface="Archivo"/>
                <a:cs typeface="Archiv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</a:defRPr>
            </a:lvl9pPr>
          </a:lstStyle>
          <a:p>
            <a:pPr>
              <a:defRPr/>
            </a:pPr>
            <a:endParaRPr/>
          </a:p>
        </p:txBody>
      </p:sp>
      <p:grpSp>
        <p:nvGrpSpPr>
          <p:cNvPr id="1472468309" name="Google Shape;172;p13"/>
          <p:cNvGrpSpPr/>
          <p:nvPr/>
        </p:nvGrpSpPr>
        <p:grpSpPr bwMode="auto">
          <a:xfrm>
            <a:off x="7527475" y="-437123"/>
            <a:ext cx="2304049" cy="2076084"/>
            <a:chOff x="7527475" y="-437123"/>
            <a:chExt cx="2304049" cy="2076084"/>
          </a:xfrm>
        </p:grpSpPr>
        <p:sp>
          <p:nvSpPr>
            <p:cNvPr id="173" name="Google Shape;173;p13"/>
            <p:cNvSpPr/>
            <p:nvPr/>
          </p:nvSpPr>
          <p:spPr bwMode="auto">
            <a:xfrm rot="-5400000" flipH="1">
              <a:off x="7653475" y="-58150"/>
              <a:ext cx="1554599" cy="1548600"/>
            </a:xfrm>
            <a:prstGeom prst="rtTriangl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74" name="Google Shape;174;p13"/>
            <p:cNvGrpSpPr/>
            <p:nvPr/>
          </p:nvGrpSpPr>
          <p:grpSpPr bwMode="auto">
            <a:xfrm>
              <a:off x="7527475" y="-190576"/>
              <a:ext cx="2304049" cy="1829537"/>
              <a:chOff x="7267300" y="-366311"/>
              <a:chExt cx="2304049" cy="1829537"/>
            </a:xfrm>
          </p:grpSpPr>
          <p:sp>
            <p:nvSpPr>
              <p:cNvPr id="175" name="Google Shape;175;p13"/>
              <p:cNvSpPr/>
              <p:nvPr/>
            </p:nvSpPr>
            <p:spPr bwMode="auto">
              <a:xfrm rot="2699364" flipH="1">
                <a:off x="8496503" y="490078"/>
                <a:ext cx="1150392" cy="262619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76" name="Google Shape;176;p13"/>
              <p:cNvSpPr/>
              <p:nvPr/>
            </p:nvSpPr>
            <p:spPr bwMode="auto">
              <a:xfrm>
                <a:off x="7719598" y="153426"/>
                <a:ext cx="1309800" cy="13098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lgDash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77" name="Google Shape;177;p13"/>
              <p:cNvSpPr/>
              <p:nvPr/>
            </p:nvSpPr>
            <p:spPr bwMode="auto">
              <a:xfrm rot="2699336" flipH="1">
                <a:off x="7177884" y="-7536"/>
                <a:ext cx="1098632" cy="20195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sp>
          <p:nvSpPr>
            <p:cNvPr id="178" name="Google Shape;178;p13"/>
            <p:cNvSpPr/>
            <p:nvPr/>
          </p:nvSpPr>
          <p:spPr bwMode="auto">
            <a:xfrm rot="2700000">
              <a:off x="7775558" y="-183425"/>
              <a:ext cx="770464" cy="127703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" userDrawn="1">
  <p:cSld name="CUSTOM_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81492176" name="Google Shape;409;p25"/>
          <p:cNvGrpSpPr/>
          <p:nvPr/>
        </p:nvGrpSpPr>
        <p:grpSpPr bwMode="auto">
          <a:xfrm>
            <a:off x="7267300" y="-374475"/>
            <a:ext cx="2456449" cy="5138686"/>
            <a:chOff x="7267300" y="-374475"/>
            <a:chExt cx="2456449" cy="5138686"/>
          </a:xfrm>
        </p:grpSpPr>
        <p:grpSp>
          <p:nvGrpSpPr>
            <p:cNvPr id="410" name="Google Shape;410;p25"/>
            <p:cNvGrpSpPr/>
            <p:nvPr/>
          </p:nvGrpSpPr>
          <p:grpSpPr bwMode="auto">
            <a:xfrm>
              <a:off x="7432803" y="4506461"/>
              <a:ext cx="1309796" cy="257750"/>
              <a:chOff x="-6337521" y="4362225"/>
              <a:chExt cx="1309796" cy="257750"/>
            </a:xfrm>
          </p:grpSpPr>
          <p:sp>
            <p:nvSpPr>
              <p:cNvPr id="411" name="Google Shape;411;p25"/>
              <p:cNvSpPr/>
              <p:nvPr/>
            </p:nvSpPr>
            <p:spPr bwMode="auto">
              <a:xfrm>
                <a:off x="-5917975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2" name="Google Shape;412;p25"/>
              <p:cNvSpPr/>
              <p:nvPr/>
            </p:nvSpPr>
            <p:spPr bwMode="auto">
              <a:xfrm>
                <a:off x="-5713862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3" name="Google Shape;413;p25"/>
              <p:cNvSpPr/>
              <p:nvPr/>
            </p:nvSpPr>
            <p:spPr bwMode="auto">
              <a:xfrm>
                <a:off x="-5509750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4" name="Google Shape;414;p25"/>
              <p:cNvSpPr/>
              <p:nvPr/>
            </p:nvSpPr>
            <p:spPr bwMode="auto">
              <a:xfrm>
                <a:off x="-5305637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5" name="Google Shape;415;p25"/>
              <p:cNvSpPr/>
              <p:nvPr/>
            </p:nvSpPr>
            <p:spPr bwMode="auto">
              <a:xfrm>
                <a:off x="-5101525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6" name="Google Shape;416;p25"/>
              <p:cNvSpPr/>
              <p:nvPr/>
            </p:nvSpPr>
            <p:spPr bwMode="auto">
              <a:xfrm>
                <a:off x="-6337521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7" name="Google Shape;417;p25"/>
              <p:cNvSpPr/>
              <p:nvPr/>
            </p:nvSpPr>
            <p:spPr bwMode="auto">
              <a:xfrm>
                <a:off x="-6133409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8" name="Google Shape;418;p25"/>
              <p:cNvSpPr/>
              <p:nvPr/>
            </p:nvSpPr>
            <p:spPr bwMode="auto">
              <a:xfrm>
                <a:off x="-5929296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19" name="Google Shape;419;p25"/>
              <p:cNvSpPr/>
              <p:nvPr/>
            </p:nvSpPr>
            <p:spPr bwMode="auto">
              <a:xfrm>
                <a:off x="-5725184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20" name="Google Shape;420;p25"/>
              <p:cNvSpPr/>
              <p:nvPr/>
            </p:nvSpPr>
            <p:spPr bwMode="auto">
              <a:xfrm>
                <a:off x="-5521071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421" name="Google Shape;421;p25"/>
            <p:cNvGrpSpPr/>
            <p:nvPr/>
          </p:nvGrpSpPr>
          <p:grpSpPr bwMode="auto">
            <a:xfrm>
              <a:off x="7267300" y="-374475"/>
              <a:ext cx="2456449" cy="1917411"/>
              <a:chOff x="7267300" y="-366311"/>
              <a:chExt cx="2456449" cy="1917411"/>
            </a:xfrm>
          </p:grpSpPr>
          <p:sp>
            <p:nvSpPr>
              <p:cNvPr id="422" name="Google Shape;422;p25"/>
              <p:cNvSpPr/>
              <p:nvPr/>
            </p:nvSpPr>
            <p:spPr bwMode="auto">
              <a:xfrm rot="-5400000" flipH="1">
                <a:off x="7653475" y="-500"/>
                <a:ext cx="1554599" cy="1548600"/>
              </a:xfrm>
              <a:prstGeom prst="rtTriangl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23" name="Google Shape;423;p25"/>
              <p:cNvSpPr/>
              <p:nvPr/>
            </p:nvSpPr>
            <p:spPr bwMode="auto">
              <a:xfrm rot="2699364" flipH="1">
                <a:off x="8648903" y="642478"/>
                <a:ext cx="1150392" cy="262619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24" name="Google Shape;424;p25"/>
              <p:cNvSpPr/>
              <p:nvPr/>
            </p:nvSpPr>
            <p:spPr bwMode="auto">
              <a:xfrm>
                <a:off x="7719598" y="153426"/>
                <a:ext cx="1309800" cy="13098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lgDash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25" name="Google Shape;425;p25"/>
              <p:cNvSpPr/>
              <p:nvPr/>
            </p:nvSpPr>
            <p:spPr bwMode="auto">
              <a:xfrm rot="2699336" flipH="1">
                <a:off x="7177884" y="-7536"/>
                <a:ext cx="1098632" cy="20195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 1" userDrawn="1">
  <p:cSld name="CUSTOM_9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2987911" name="Google Shape;427;p26"/>
          <p:cNvGrpSpPr/>
          <p:nvPr/>
        </p:nvGrpSpPr>
        <p:grpSpPr bwMode="auto">
          <a:xfrm>
            <a:off x="7267300" y="387524"/>
            <a:ext cx="2456449" cy="5138686"/>
            <a:chOff x="7267300" y="387524"/>
            <a:chExt cx="2456449" cy="5138686"/>
          </a:xfrm>
        </p:grpSpPr>
        <p:grpSp>
          <p:nvGrpSpPr>
            <p:cNvPr id="428" name="Google Shape;428;p26"/>
            <p:cNvGrpSpPr/>
            <p:nvPr/>
          </p:nvGrpSpPr>
          <p:grpSpPr bwMode="auto">
            <a:xfrm rot="10800000" flipH="1">
              <a:off x="7432803" y="387524"/>
              <a:ext cx="1309796" cy="257750"/>
              <a:chOff x="-6337521" y="4362225"/>
              <a:chExt cx="1309796" cy="257750"/>
            </a:xfrm>
          </p:grpSpPr>
          <p:sp>
            <p:nvSpPr>
              <p:cNvPr id="429" name="Google Shape;429;p26"/>
              <p:cNvSpPr/>
              <p:nvPr/>
            </p:nvSpPr>
            <p:spPr bwMode="auto">
              <a:xfrm>
                <a:off x="-5917975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0" name="Google Shape;430;p26"/>
              <p:cNvSpPr/>
              <p:nvPr/>
            </p:nvSpPr>
            <p:spPr bwMode="auto">
              <a:xfrm>
                <a:off x="-5713862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1" name="Google Shape;431;p26"/>
              <p:cNvSpPr/>
              <p:nvPr/>
            </p:nvSpPr>
            <p:spPr bwMode="auto">
              <a:xfrm>
                <a:off x="-5509750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2" name="Google Shape;432;p26"/>
              <p:cNvSpPr/>
              <p:nvPr/>
            </p:nvSpPr>
            <p:spPr bwMode="auto">
              <a:xfrm>
                <a:off x="-5305637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3" name="Google Shape;433;p26"/>
              <p:cNvSpPr/>
              <p:nvPr/>
            </p:nvSpPr>
            <p:spPr bwMode="auto">
              <a:xfrm>
                <a:off x="-5101525" y="436222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4" name="Google Shape;434;p26"/>
              <p:cNvSpPr/>
              <p:nvPr/>
            </p:nvSpPr>
            <p:spPr bwMode="auto">
              <a:xfrm>
                <a:off x="-6337521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5" name="Google Shape;435;p26"/>
              <p:cNvSpPr/>
              <p:nvPr/>
            </p:nvSpPr>
            <p:spPr bwMode="auto">
              <a:xfrm>
                <a:off x="-6133409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6" name="Google Shape;436;p26"/>
              <p:cNvSpPr/>
              <p:nvPr/>
            </p:nvSpPr>
            <p:spPr bwMode="auto">
              <a:xfrm>
                <a:off x="-5929296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7" name="Google Shape;437;p26"/>
              <p:cNvSpPr/>
              <p:nvPr/>
            </p:nvSpPr>
            <p:spPr bwMode="auto">
              <a:xfrm>
                <a:off x="-5725184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38" name="Google Shape;438;p26"/>
              <p:cNvSpPr/>
              <p:nvPr/>
            </p:nvSpPr>
            <p:spPr bwMode="auto">
              <a:xfrm>
                <a:off x="-5521071" y="4546175"/>
                <a:ext cx="73800" cy="738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439" name="Google Shape;439;p26"/>
            <p:cNvGrpSpPr/>
            <p:nvPr/>
          </p:nvGrpSpPr>
          <p:grpSpPr bwMode="auto">
            <a:xfrm rot="10800000" flipH="1">
              <a:off x="7267300" y="3608800"/>
              <a:ext cx="2456449" cy="1917411"/>
              <a:chOff x="7267300" y="-366311"/>
              <a:chExt cx="2456449" cy="1917411"/>
            </a:xfrm>
          </p:grpSpPr>
          <p:sp>
            <p:nvSpPr>
              <p:cNvPr id="440" name="Google Shape;440;p26"/>
              <p:cNvSpPr/>
              <p:nvPr/>
            </p:nvSpPr>
            <p:spPr bwMode="auto">
              <a:xfrm rot="-5400000" flipH="1">
                <a:off x="7653475" y="-500"/>
                <a:ext cx="1554599" cy="1548600"/>
              </a:xfrm>
              <a:prstGeom prst="rtTriangl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41" name="Google Shape;441;p26"/>
              <p:cNvSpPr/>
              <p:nvPr/>
            </p:nvSpPr>
            <p:spPr bwMode="auto">
              <a:xfrm rot="2699364" flipH="1">
                <a:off x="8648903" y="642478"/>
                <a:ext cx="1150392" cy="262619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42" name="Google Shape;442;p26"/>
              <p:cNvSpPr/>
              <p:nvPr/>
            </p:nvSpPr>
            <p:spPr bwMode="auto">
              <a:xfrm>
                <a:off x="7719598" y="153426"/>
                <a:ext cx="1309800" cy="13098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lgDash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43" name="Google Shape;443;p26"/>
              <p:cNvSpPr/>
              <p:nvPr/>
            </p:nvSpPr>
            <p:spPr bwMode="auto">
              <a:xfrm rot="2699336" flipH="1">
                <a:off x="7177884" y="-7536"/>
                <a:ext cx="1098632" cy="20195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lank slide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4927487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322048674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●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1pPr>
            <a:lvl2pPr marL="914400" lvl="1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○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2pPr>
            <a:lvl3pPr marL="1371600" lvl="2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■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3pPr>
            <a:lvl4pPr marL="1828800" lvl="3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●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4pPr>
            <a:lvl5pPr marL="2286000" lvl="4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○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5pPr>
            <a:lvl6pPr marL="2743200" lvl="5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■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6pPr>
            <a:lvl7pPr marL="3200400" lvl="6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●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7pPr>
            <a:lvl8pPr marL="3657600" lvl="7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○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8pPr>
            <a:lvl9pPr marL="4114800" lvl="8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■"/>
              <a:defRPr>
                <a:solidFill>
                  <a:schemeClr val="dk1"/>
                </a:solidFill>
                <a:latin typeface="Manrope"/>
                <a:ea typeface="Manrope"/>
                <a:cs typeface="Manrope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4612486" name="Google Shape;445;p27"/>
          <p:cNvSpPr txBox="1">
            <a:spLocks noGrp="1"/>
          </p:cNvSpPr>
          <p:nvPr>
            <p:ph type="title"/>
          </p:nvPr>
        </p:nvSpPr>
        <p:spPr bwMode="auto"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27635329" name="Google Shape;446;p27"/>
          <p:cNvSpPr txBox="1">
            <a:spLocks noGrp="1"/>
          </p:cNvSpPr>
          <p:nvPr>
            <p:ph type="body" idx="1"/>
          </p:nvPr>
        </p:nvSpPr>
        <p:spPr bwMode="auto"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1pPr>
            <a:lvl2pPr marL="914400" lvl="1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2pPr>
            <a:lvl3pPr marL="1371600" lvl="2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3pPr>
            <a:lvl4pPr marL="1828800" lvl="3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4pPr>
            <a:lvl5pPr marL="2286000" lvl="4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5pPr>
            <a:lvl6pPr marL="2743200" lvl="5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6pPr>
            <a:lvl7pPr marL="3200400" lvl="6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7pPr>
            <a:lvl8pPr marL="3657600" lvl="7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8pPr>
            <a:lvl9pPr marL="4114800" lvl="8" indent="-298450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7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1.png"/><Relationship Id="rId10" Type="http://schemas.openxmlformats.org/officeDocument/2006/relationships/image" Target="../media/image6.png"/><Relationship Id="rId4" Type="http://schemas.openxmlformats.org/officeDocument/2006/relationships/image" Target="../media/image10.jpeg"/><Relationship Id="rId9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12.sv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10" Type="http://schemas.openxmlformats.org/officeDocument/2006/relationships/image" Target="../media/image16.png"/><Relationship Id="rId4" Type="http://schemas.openxmlformats.org/officeDocument/2006/relationships/image" Target="../media/image13.sv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Hoferlukaslh/ScholarLog/releases/tag/v1.0" TargetMode="External"/><Relationship Id="rId3" Type="http://schemas.openxmlformats.org/officeDocument/2006/relationships/image" Target="../media/image12.sv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Relationship Id="rId9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hyperlink" Target="https://github.com/Hoferlukaslh/ScholarLog/releases/tag/v1.0" TargetMode="External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6.png"/><Relationship Id="rId4" Type="http://schemas.openxmlformats.org/officeDocument/2006/relationships/image" Target="../media/image17.png"/><Relationship Id="rId9" Type="http://schemas.openxmlformats.org/officeDocument/2006/relationships/image" Target="../media/image21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8.png"/><Relationship Id="rId7" Type="http://schemas.openxmlformats.org/officeDocument/2006/relationships/hyperlink" Target="https://github.com/Hoferlukaslh/ScholarLog/releases/tag/v1.0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2882526" name="Google Shape;454;p30"/>
          <p:cNvSpPr txBox="1">
            <a:spLocks noGrp="1"/>
          </p:cNvSpPr>
          <p:nvPr>
            <p:ph type="ctrTitle"/>
          </p:nvPr>
        </p:nvSpPr>
        <p:spPr bwMode="auto">
          <a:xfrm>
            <a:off x="713225" y="539500"/>
            <a:ext cx="5099746" cy="200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defRPr/>
            </a:pPr>
            <a:r>
              <a:rPr lang="fr-CH" dirty="0" err="1"/>
              <a:t>Presentation</a:t>
            </a:r>
            <a:r>
              <a:rPr lang="en" b="0" dirty="0">
                <a:latin typeface="Archivo Black"/>
                <a:ea typeface="Archivo Black"/>
                <a:cs typeface="Archivo Black"/>
              </a:rPr>
              <a:t> M</a:t>
            </a:r>
            <a:r>
              <a:rPr lang="fr-CH" b="0" dirty="0">
                <a:latin typeface="Archivo Black"/>
                <a:ea typeface="Archivo Black"/>
                <a:cs typeface="Archivo Black"/>
              </a:rPr>
              <a:t>5</a:t>
            </a:r>
            <a:r>
              <a:rPr lang="en" b="0" dirty="0">
                <a:latin typeface="Archivo Black"/>
                <a:ea typeface="Archivo Black"/>
                <a:cs typeface="Archivo Black"/>
              </a:rPr>
              <a:t> - </a:t>
            </a:r>
            <a:r>
              <a:rPr lang="fr-CH" dirty="0" err="1">
                <a:latin typeface="Archivo Black"/>
                <a:ea typeface="Archivo Black"/>
                <a:cs typeface="Archivo Black"/>
              </a:rPr>
              <a:t>ScholarLog</a:t>
            </a:r>
            <a:endParaRPr dirty="0">
              <a:latin typeface="Archivo"/>
              <a:ea typeface="Archivo"/>
              <a:cs typeface="Archivo"/>
            </a:endParaRPr>
          </a:p>
        </p:txBody>
      </p:sp>
      <p:sp>
        <p:nvSpPr>
          <p:cNvPr id="1014846900" name="Google Shape;455;p30"/>
          <p:cNvSpPr txBox="1">
            <a:spLocks noGrp="1"/>
          </p:cNvSpPr>
          <p:nvPr>
            <p:ph type="subTitle" idx="1"/>
          </p:nvPr>
        </p:nvSpPr>
        <p:spPr bwMode="auto">
          <a:xfrm>
            <a:off x="781972" y="2060180"/>
            <a:ext cx="3461865" cy="63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defRPr/>
            </a:pPr>
            <a:r>
              <a:rPr lang="fr-CH" dirty="0"/>
              <a:t>26.06.11 - Hofer Lukas - TINF2</a:t>
            </a:r>
            <a:endParaRPr dirty="0"/>
          </a:p>
        </p:txBody>
      </p:sp>
      <p:grpSp>
        <p:nvGrpSpPr>
          <p:cNvPr id="1272996691" name="Google Shape;456;p30"/>
          <p:cNvGrpSpPr/>
          <p:nvPr/>
        </p:nvGrpSpPr>
        <p:grpSpPr bwMode="auto">
          <a:xfrm>
            <a:off x="5146551" y="1161090"/>
            <a:ext cx="4429800" cy="4367100"/>
            <a:chOff x="4926061" y="968050"/>
            <a:chExt cx="4429800" cy="4367100"/>
          </a:xfrm>
        </p:grpSpPr>
        <p:sp>
          <p:nvSpPr>
            <p:cNvPr id="457" name="Google Shape;457;p30"/>
            <p:cNvSpPr/>
            <p:nvPr/>
          </p:nvSpPr>
          <p:spPr bwMode="auto">
            <a:xfrm flipH="1">
              <a:off x="4926061" y="968050"/>
              <a:ext cx="4429800" cy="4367100"/>
            </a:xfrm>
            <a:prstGeom prst="rtTriangl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58" name="Google Shape;458;p30"/>
            <p:cNvSpPr/>
            <p:nvPr/>
          </p:nvSpPr>
          <p:spPr bwMode="auto">
            <a:xfrm rot="-2700000">
              <a:off x="7675121" y="1303413"/>
              <a:ext cx="996172" cy="114976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59" name="Google Shape;459;p30"/>
            <p:cNvSpPr/>
            <p:nvPr/>
          </p:nvSpPr>
          <p:spPr bwMode="auto">
            <a:xfrm rot="-2699590">
              <a:off x="4984509" y="3275203"/>
              <a:ext cx="1780000" cy="326683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0" name="Google Shape;460;p30"/>
            <p:cNvSpPr/>
            <p:nvPr/>
          </p:nvSpPr>
          <p:spPr bwMode="auto">
            <a:xfrm rot="-2699590">
              <a:off x="7108289" y="2092651"/>
              <a:ext cx="1780000" cy="326683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1" name="Google Shape;461;p30"/>
            <p:cNvSpPr/>
            <p:nvPr/>
          </p:nvSpPr>
          <p:spPr bwMode="auto">
            <a:xfrm rot="-2699590">
              <a:off x="6792716" y="1243005"/>
              <a:ext cx="1780000" cy="477721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2" name="Google Shape;462;p30"/>
            <p:cNvSpPr/>
            <p:nvPr/>
          </p:nvSpPr>
          <p:spPr bwMode="auto">
            <a:xfrm rot="-2699590">
              <a:off x="5127485" y="3849460"/>
              <a:ext cx="1780000" cy="477721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922289310" name="Google Shape;463;p30"/>
          <p:cNvGrpSpPr/>
          <p:nvPr/>
        </p:nvGrpSpPr>
        <p:grpSpPr bwMode="auto">
          <a:xfrm>
            <a:off x="2669704" y="4362225"/>
            <a:ext cx="1309796" cy="257750"/>
            <a:chOff x="-6337521" y="4362225"/>
            <a:chExt cx="1309796" cy="257750"/>
          </a:xfrm>
        </p:grpSpPr>
        <p:sp>
          <p:nvSpPr>
            <p:cNvPr id="464" name="Google Shape;464;p30"/>
            <p:cNvSpPr/>
            <p:nvPr/>
          </p:nvSpPr>
          <p:spPr bwMode="auto">
            <a:xfrm>
              <a:off x="-5917975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5" name="Google Shape;465;p30"/>
            <p:cNvSpPr/>
            <p:nvPr/>
          </p:nvSpPr>
          <p:spPr bwMode="auto">
            <a:xfrm>
              <a:off x="-5713862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6" name="Google Shape;466;p30"/>
            <p:cNvSpPr/>
            <p:nvPr/>
          </p:nvSpPr>
          <p:spPr bwMode="auto">
            <a:xfrm>
              <a:off x="-5509750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7" name="Google Shape;467;p30"/>
            <p:cNvSpPr/>
            <p:nvPr/>
          </p:nvSpPr>
          <p:spPr bwMode="auto">
            <a:xfrm>
              <a:off x="-5305637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8" name="Google Shape;468;p30"/>
            <p:cNvSpPr/>
            <p:nvPr/>
          </p:nvSpPr>
          <p:spPr bwMode="auto">
            <a:xfrm>
              <a:off x="-5101525" y="436222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69" name="Google Shape;469;p30"/>
            <p:cNvSpPr/>
            <p:nvPr/>
          </p:nvSpPr>
          <p:spPr bwMode="auto">
            <a:xfrm>
              <a:off x="-6337521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0" name="Google Shape;470;p30"/>
            <p:cNvSpPr/>
            <p:nvPr/>
          </p:nvSpPr>
          <p:spPr bwMode="auto">
            <a:xfrm>
              <a:off x="-6133409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1" name="Google Shape;471;p30"/>
            <p:cNvSpPr/>
            <p:nvPr/>
          </p:nvSpPr>
          <p:spPr bwMode="auto">
            <a:xfrm>
              <a:off x="-5929296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2" name="Google Shape;472;p30"/>
            <p:cNvSpPr/>
            <p:nvPr/>
          </p:nvSpPr>
          <p:spPr bwMode="auto">
            <a:xfrm>
              <a:off x="-5725184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3" name="Google Shape;473;p30"/>
            <p:cNvSpPr/>
            <p:nvPr/>
          </p:nvSpPr>
          <p:spPr bwMode="auto">
            <a:xfrm>
              <a:off x="-5521071" y="4546175"/>
              <a:ext cx="73800" cy="73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pic>
        <p:nvPicPr>
          <p:cNvPr id="740223674" name="Google Shape;474;p30"/>
          <p:cNvPicPr>
            <a:picLocks noGrp="1"/>
          </p:cNvPicPr>
          <p:nvPr>
            <p:ph type="pic" idx="2"/>
          </p:nvPr>
        </p:nvPicPr>
        <p:blipFill rotWithShape="1">
          <a:blip r:embed="rId3"/>
          <a:srcRect l="16925" t="4496" r="13676" b="-11269"/>
        </p:blipFill>
        <p:spPr bwMode="auto">
          <a:xfrm>
            <a:off x="5693942" y="1661616"/>
            <a:ext cx="2852100" cy="2852100"/>
          </a:xfrm>
          <a:prstGeom prst="ellipse">
            <a:avLst/>
          </a:prstGeom>
        </p:spPr>
      </p:pic>
      <p:grpSp>
        <p:nvGrpSpPr>
          <p:cNvPr id="1030979467" name="Google Shape;475;p30"/>
          <p:cNvGrpSpPr/>
          <p:nvPr/>
        </p:nvGrpSpPr>
        <p:grpSpPr bwMode="auto">
          <a:xfrm>
            <a:off x="4643689" y="2814981"/>
            <a:ext cx="2188531" cy="1862750"/>
            <a:chOff x="4643689" y="2814981"/>
            <a:chExt cx="2188531" cy="1862750"/>
          </a:xfrm>
        </p:grpSpPr>
        <p:sp>
          <p:nvSpPr>
            <p:cNvPr id="476" name="Google Shape;476;p30"/>
            <p:cNvSpPr/>
            <p:nvPr/>
          </p:nvSpPr>
          <p:spPr bwMode="auto">
            <a:xfrm rot="-2700000">
              <a:off x="5941284" y="4227394"/>
              <a:ext cx="996172" cy="114976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7" name="Google Shape;477;p30"/>
            <p:cNvSpPr/>
            <p:nvPr/>
          </p:nvSpPr>
          <p:spPr bwMode="auto">
            <a:xfrm>
              <a:off x="4643689" y="2814981"/>
              <a:ext cx="1596600" cy="15966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lg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2" name="Google Shape;485;p31">
            <a:extLst>
              <a:ext uri="{FF2B5EF4-FFF2-40B4-BE49-F238E27FC236}">
                <a16:creationId xmlns:a16="http://schemas.microsoft.com/office/drawing/2014/main" id="{856EC717-C34F-F31F-9CD1-E5CBD9372787}"/>
              </a:ext>
            </a:extLst>
          </p:cNvPr>
          <p:cNvSpPr txBox="1"/>
          <p:nvPr/>
        </p:nvSpPr>
        <p:spPr bwMode="auto">
          <a:xfrm>
            <a:off x="263618" y="6315540"/>
            <a:ext cx="3511770" cy="31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000" b="1" i="0" u="none" strike="noStrike" cap="none" spc="0" dirty="0">
                <a:solidFill>
                  <a:schemeClr val="dk1"/>
                </a:solidFill>
                <a:latin typeface="Manrope"/>
                <a:ea typeface="Manrope"/>
                <a:cs typeface="Manrope"/>
              </a:rPr>
              <a:t>Duration of presentation: 15 min (5 min questions)</a:t>
            </a:r>
            <a:endParaRPr sz="1000" b="1" u="sng" dirty="0">
              <a:solidFill>
                <a:schemeClr val="dk1"/>
              </a:solidFill>
              <a:latin typeface="Manrope"/>
              <a:ea typeface="Manrope"/>
              <a:cs typeface="Manrope"/>
            </a:endParaRPr>
          </a:p>
        </p:txBody>
      </p:sp>
      <p:grpSp>
        <p:nvGrpSpPr>
          <p:cNvPr id="3" name="Groupe 17">
            <a:extLst>
              <a:ext uri="{FF2B5EF4-FFF2-40B4-BE49-F238E27FC236}">
                <a16:creationId xmlns:a16="http://schemas.microsoft.com/office/drawing/2014/main" id="{69BDB2F4-4DE8-CFC2-DF8A-47E3FEB2570D}"/>
              </a:ext>
            </a:extLst>
          </p:cNvPr>
          <p:cNvGrpSpPr/>
          <p:nvPr/>
        </p:nvGrpSpPr>
        <p:grpSpPr bwMode="auto">
          <a:xfrm>
            <a:off x="13102488" y="1978118"/>
            <a:ext cx="3092100" cy="732000"/>
            <a:chOff x="4866364" y="2073965"/>
            <a:chExt cx="3092100" cy="732000"/>
          </a:xfrm>
        </p:grpSpPr>
        <p:sp>
          <p:nvSpPr>
            <p:cNvPr id="4" name="Google Shape;496;p32">
              <a:extLst>
                <a:ext uri="{FF2B5EF4-FFF2-40B4-BE49-F238E27FC236}">
                  <a16:creationId xmlns:a16="http://schemas.microsoft.com/office/drawing/2014/main" id="{3400BE9E-2CBC-05C9-2DC6-5DC0524E41C4}"/>
                </a:ext>
              </a:extLst>
            </p:cNvPr>
            <p:cNvSpPr txBox="1"/>
            <p:nvPr/>
          </p:nvSpPr>
          <p:spPr bwMode="auto">
            <a:xfrm>
              <a:off x="4866364" y="2108315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 dirty="0">
                  <a:solidFill>
                    <a:schemeClr val="bg1"/>
                  </a:solidFill>
                </a:rPr>
                <a:t>05</a:t>
              </a:r>
              <a:endParaRPr dirty="0"/>
            </a:p>
          </p:txBody>
        </p:sp>
        <p:sp>
          <p:nvSpPr>
            <p:cNvPr id="5" name="Google Shape;500;p32">
              <a:extLst>
                <a:ext uri="{FF2B5EF4-FFF2-40B4-BE49-F238E27FC236}">
                  <a16:creationId xmlns:a16="http://schemas.microsoft.com/office/drawing/2014/main" id="{610C89CD-8710-E97F-4C62-498EE2B1D0E0}"/>
                </a:ext>
              </a:extLst>
            </p:cNvPr>
            <p:cNvSpPr txBox="1"/>
            <p:nvPr/>
          </p:nvSpPr>
          <p:spPr bwMode="auto">
            <a:xfrm>
              <a:off x="5648764" y="2073965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indent="0">
                <a:defRPr/>
              </a:pPr>
              <a:r>
                <a:rPr lang="fr-CH" dirty="0"/>
                <a:t>Conclusion</a:t>
              </a:r>
              <a:endParaRPr dirty="0"/>
            </a:p>
          </p:txBody>
        </p:sp>
      </p:grpSp>
      <p:grpSp>
        <p:nvGrpSpPr>
          <p:cNvPr id="6" name="Groupe 18">
            <a:extLst>
              <a:ext uri="{FF2B5EF4-FFF2-40B4-BE49-F238E27FC236}">
                <a16:creationId xmlns:a16="http://schemas.microsoft.com/office/drawing/2014/main" id="{888D8B90-272F-932D-07F6-0B0665AD149B}"/>
              </a:ext>
            </a:extLst>
          </p:cNvPr>
          <p:cNvGrpSpPr/>
          <p:nvPr/>
        </p:nvGrpSpPr>
        <p:grpSpPr bwMode="auto">
          <a:xfrm>
            <a:off x="15587781" y="2936711"/>
            <a:ext cx="3092100" cy="732000"/>
            <a:chOff x="4866364" y="2922323"/>
            <a:chExt cx="3092100" cy="732000"/>
          </a:xfrm>
        </p:grpSpPr>
        <p:sp>
          <p:nvSpPr>
            <p:cNvPr id="7" name="Google Shape;496;p32">
              <a:extLst>
                <a:ext uri="{FF2B5EF4-FFF2-40B4-BE49-F238E27FC236}">
                  <a16:creationId xmlns:a16="http://schemas.microsoft.com/office/drawing/2014/main" id="{13912595-D2A8-556E-3B29-17DF618DF243}"/>
                </a:ext>
              </a:extLst>
            </p:cNvPr>
            <p:cNvSpPr txBox="1"/>
            <p:nvPr/>
          </p:nvSpPr>
          <p:spPr bwMode="auto">
            <a:xfrm>
              <a:off x="4866364" y="2956673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 dirty="0">
                  <a:solidFill>
                    <a:schemeClr val="bg1"/>
                  </a:solidFill>
                </a:rPr>
                <a:t>06</a:t>
              </a:r>
              <a:endParaRPr dirty="0"/>
            </a:p>
          </p:txBody>
        </p:sp>
        <p:sp>
          <p:nvSpPr>
            <p:cNvPr id="8" name="Google Shape;500;p32">
              <a:extLst>
                <a:ext uri="{FF2B5EF4-FFF2-40B4-BE49-F238E27FC236}">
                  <a16:creationId xmlns:a16="http://schemas.microsoft.com/office/drawing/2014/main" id="{615B1CAD-D056-0200-A54F-AC3CE130A703}"/>
                </a:ext>
              </a:extLst>
            </p:cNvPr>
            <p:cNvSpPr txBox="1"/>
            <p:nvPr/>
          </p:nvSpPr>
          <p:spPr bwMode="auto">
            <a:xfrm>
              <a:off x="5648764" y="2922323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indent="0">
                <a:defRPr/>
              </a:pPr>
              <a:r>
                <a:rPr lang="fr-CH" dirty="0"/>
                <a:t>Questions</a:t>
              </a:r>
              <a:endParaRPr dirty="0"/>
            </a:p>
          </p:txBody>
        </p:sp>
      </p:grpSp>
      <p:grpSp>
        <p:nvGrpSpPr>
          <p:cNvPr id="9" name="Groupe 12">
            <a:extLst>
              <a:ext uri="{FF2B5EF4-FFF2-40B4-BE49-F238E27FC236}">
                <a16:creationId xmlns:a16="http://schemas.microsoft.com/office/drawing/2014/main" id="{BD904468-519F-7130-293D-76AF975277E8}"/>
              </a:ext>
            </a:extLst>
          </p:cNvPr>
          <p:cNvGrpSpPr/>
          <p:nvPr/>
        </p:nvGrpSpPr>
        <p:grpSpPr bwMode="auto">
          <a:xfrm>
            <a:off x="-3443670" y="1200526"/>
            <a:ext cx="3092100" cy="732000"/>
            <a:chOff x="891772" y="1221908"/>
            <a:chExt cx="3092100" cy="732000"/>
          </a:xfrm>
        </p:grpSpPr>
        <p:sp>
          <p:nvSpPr>
            <p:cNvPr id="10" name="Google Shape;496;p32">
              <a:extLst>
                <a:ext uri="{FF2B5EF4-FFF2-40B4-BE49-F238E27FC236}">
                  <a16:creationId xmlns:a16="http://schemas.microsoft.com/office/drawing/2014/main" id="{1E47676D-C231-D239-AD0D-7B2ADE5FB846}"/>
                </a:ext>
              </a:extLst>
            </p:cNvPr>
            <p:cNvSpPr txBox="1"/>
            <p:nvPr/>
          </p:nvSpPr>
          <p:spPr bwMode="auto">
            <a:xfrm>
              <a:off x="891772" y="1256258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 dirty="0">
                  <a:solidFill>
                    <a:schemeClr val="bg1"/>
                  </a:solidFill>
                </a:rPr>
                <a:t>01</a:t>
              </a:r>
              <a:endParaRPr dirty="0"/>
            </a:p>
          </p:txBody>
        </p:sp>
        <p:sp>
          <p:nvSpPr>
            <p:cNvPr id="11" name="Google Shape;500;p32">
              <a:extLst>
                <a:ext uri="{FF2B5EF4-FFF2-40B4-BE49-F238E27FC236}">
                  <a16:creationId xmlns:a16="http://schemas.microsoft.com/office/drawing/2014/main" id="{A138DB33-136E-E07E-B959-D25610CD232B}"/>
                </a:ext>
              </a:extLst>
            </p:cNvPr>
            <p:cNvSpPr txBox="1"/>
            <p:nvPr/>
          </p:nvSpPr>
          <p:spPr bwMode="auto">
            <a:xfrm>
              <a:off x="1674172" y="1221908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lvl="0" indent="0">
                <a:defRPr/>
              </a:pPr>
              <a:r>
                <a:rPr lang="fr-CH" dirty="0" err="1"/>
                <a:t>Problematics</a:t>
              </a:r>
              <a:endParaRPr dirty="0"/>
            </a:p>
          </p:txBody>
        </p:sp>
      </p:grpSp>
      <p:grpSp>
        <p:nvGrpSpPr>
          <p:cNvPr id="12" name="Groupe 13">
            <a:extLst>
              <a:ext uri="{FF2B5EF4-FFF2-40B4-BE49-F238E27FC236}">
                <a16:creationId xmlns:a16="http://schemas.microsoft.com/office/drawing/2014/main" id="{EF9264C9-09B9-B5FA-B813-0CBA2BD504E8}"/>
              </a:ext>
            </a:extLst>
          </p:cNvPr>
          <p:cNvGrpSpPr/>
          <p:nvPr/>
        </p:nvGrpSpPr>
        <p:grpSpPr bwMode="auto">
          <a:xfrm>
            <a:off x="-5905012" y="1949698"/>
            <a:ext cx="3223028" cy="732000"/>
            <a:chOff x="891772" y="2070265"/>
            <a:chExt cx="3223028" cy="732000"/>
          </a:xfrm>
        </p:grpSpPr>
        <p:sp>
          <p:nvSpPr>
            <p:cNvPr id="13" name="Google Shape;496;p32">
              <a:extLst>
                <a:ext uri="{FF2B5EF4-FFF2-40B4-BE49-F238E27FC236}">
                  <a16:creationId xmlns:a16="http://schemas.microsoft.com/office/drawing/2014/main" id="{3594EC0F-2654-446D-E362-21AC5FA5ECDE}"/>
                </a:ext>
              </a:extLst>
            </p:cNvPr>
            <p:cNvSpPr txBox="1"/>
            <p:nvPr/>
          </p:nvSpPr>
          <p:spPr bwMode="auto">
            <a:xfrm>
              <a:off x="891772" y="2104615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>
                  <a:solidFill>
                    <a:schemeClr val="bg1"/>
                  </a:solidFill>
                </a:rPr>
                <a:t>02</a:t>
              </a:r>
              <a:endParaRPr/>
            </a:p>
          </p:txBody>
        </p:sp>
        <p:sp>
          <p:nvSpPr>
            <p:cNvPr id="14" name="Google Shape;500;p32">
              <a:extLst>
                <a:ext uri="{FF2B5EF4-FFF2-40B4-BE49-F238E27FC236}">
                  <a16:creationId xmlns:a16="http://schemas.microsoft.com/office/drawing/2014/main" id="{552FAA08-C71C-99FA-73C9-6A050B1F89D7}"/>
                </a:ext>
              </a:extLst>
            </p:cNvPr>
            <p:cNvSpPr txBox="1"/>
            <p:nvPr/>
          </p:nvSpPr>
          <p:spPr bwMode="auto">
            <a:xfrm>
              <a:off x="1674172" y="2070265"/>
              <a:ext cx="2440628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indent="0">
                <a:defRPr/>
              </a:pPr>
              <a:r>
                <a:rPr lang="fr-CH" dirty="0"/>
                <a:t>Needs</a:t>
              </a:r>
              <a:endParaRPr dirty="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02E828A-8FBE-1AC7-E87A-71FDC0D670D7}"/>
              </a:ext>
            </a:extLst>
          </p:cNvPr>
          <p:cNvGrpSpPr/>
          <p:nvPr/>
        </p:nvGrpSpPr>
        <p:grpSpPr bwMode="auto">
          <a:xfrm>
            <a:off x="-8643412" y="2751190"/>
            <a:ext cx="3092100" cy="732000"/>
            <a:chOff x="891772" y="2918623"/>
            <a:chExt cx="3092100" cy="732000"/>
          </a:xfrm>
        </p:grpSpPr>
        <p:sp>
          <p:nvSpPr>
            <p:cNvPr id="16" name="Google Shape;496;p32">
              <a:extLst>
                <a:ext uri="{FF2B5EF4-FFF2-40B4-BE49-F238E27FC236}">
                  <a16:creationId xmlns:a16="http://schemas.microsoft.com/office/drawing/2014/main" id="{F89C47F7-577C-DC69-3B7C-5D121B837508}"/>
                </a:ext>
              </a:extLst>
            </p:cNvPr>
            <p:cNvSpPr txBox="1"/>
            <p:nvPr/>
          </p:nvSpPr>
          <p:spPr bwMode="auto">
            <a:xfrm>
              <a:off x="891772" y="2952973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>
                  <a:solidFill>
                    <a:schemeClr val="bg1"/>
                  </a:solidFill>
                </a:rPr>
                <a:t>03</a:t>
              </a:r>
              <a:endParaRPr/>
            </a:p>
          </p:txBody>
        </p:sp>
        <p:sp>
          <p:nvSpPr>
            <p:cNvPr id="17" name="Google Shape;500;p32">
              <a:extLst>
                <a:ext uri="{FF2B5EF4-FFF2-40B4-BE49-F238E27FC236}">
                  <a16:creationId xmlns:a16="http://schemas.microsoft.com/office/drawing/2014/main" id="{9F19FC18-B6B3-5BC5-18D6-29EF655E7D50}"/>
                </a:ext>
              </a:extLst>
            </p:cNvPr>
            <p:cNvSpPr txBox="1"/>
            <p:nvPr/>
          </p:nvSpPr>
          <p:spPr bwMode="auto">
            <a:xfrm>
              <a:off x="1674172" y="2918623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indent="0">
                <a:defRPr/>
              </a:pPr>
              <a:r>
                <a:rPr lang="fr-CH" dirty="0" err="1"/>
                <a:t>My</a:t>
              </a:r>
              <a:r>
                <a:rPr lang="fr-CH" dirty="0"/>
                <a:t> solution</a:t>
              </a:r>
              <a:endParaRPr dirty="0"/>
            </a:p>
          </p:txBody>
        </p:sp>
      </p:grpSp>
      <p:grpSp>
        <p:nvGrpSpPr>
          <p:cNvPr id="18" name="Groupe 16">
            <a:extLst>
              <a:ext uri="{FF2B5EF4-FFF2-40B4-BE49-F238E27FC236}">
                <a16:creationId xmlns:a16="http://schemas.microsoft.com/office/drawing/2014/main" id="{05C261D0-1066-9DF4-7F13-2B4ADF2894CD}"/>
              </a:ext>
            </a:extLst>
          </p:cNvPr>
          <p:cNvGrpSpPr/>
          <p:nvPr/>
        </p:nvGrpSpPr>
        <p:grpSpPr bwMode="auto">
          <a:xfrm>
            <a:off x="10325992" y="1060385"/>
            <a:ext cx="2776496" cy="732000"/>
            <a:chOff x="4866364" y="1236174"/>
            <a:chExt cx="2776496" cy="732000"/>
          </a:xfrm>
        </p:grpSpPr>
        <p:sp>
          <p:nvSpPr>
            <p:cNvPr id="19" name="Google Shape;496;p32">
              <a:extLst>
                <a:ext uri="{FF2B5EF4-FFF2-40B4-BE49-F238E27FC236}">
                  <a16:creationId xmlns:a16="http://schemas.microsoft.com/office/drawing/2014/main" id="{6B7517E9-77E8-0BCA-BE50-D43535632BB8}"/>
                </a:ext>
              </a:extLst>
            </p:cNvPr>
            <p:cNvSpPr txBox="1"/>
            <p:nvPr/>
          </p:nvSpPr>
          <p:spPr bwMode="auto">
            <a:xfrm>
              <a:off x="4866364" y="1270524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 dirty="0">
                  <a:solidFill>
                    <a:schemeClr val="bg1"/>
                  </a:solidFill>
                </a:rPr>
                <a:t>04</a:t>
              </a:r>
              <a:endParaRPr dirty="0"/>
            </a:p>
          </p:txBody>
        </p:sp>
        <p:sp>
          <p:nvSpPr>
            <p:cNvPr id="20" name="Google Shape;500;p32">
              <a:extLst>
                <a:ext uri="{FF2B5EF4-FFF2-40B4-BE49-F238E27FC236}">
                  <a16:creationId xmlns:a16="http://schemas.microsoft.com/office/drawing/2014/main" id="{53ABD576-571C-51FB-3987-F6066537B2CC}"/>
                </a:ext>
              </a:extLst>
            </p:cNvPr>
            <p:cNvSpPr txBox="1"/>
            <p:nvPr/>
          </p:nvSpPr>
          <p:spPr bwMode="auto">
            <a:xfrm>
              <a:off x="5648764" y="1236174"/>
              <a:ext cx="1994096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lvl="0" indent="0">
                <a:defRPr/>
              </a:pPr>
              <a:r>
                <a:rPr lang="fr-CH" dirty="0" err="1"/>
                <a:t>Demonstration</a:t>
              </a:r>
              <a:endParaRPr dirty="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634711" name="Google Shape;491;p32"/>
          <p:cNvSpPr txBox="1">
            <a:spLocks noGrp="1"/>
          </p:cNvSpPr>
          <p:nvPr>
            <p:ph type="title"/>
          </p:nvPr>
        </p:nvSpPr>
        <p:spPr bwMode="auto"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en" dirty="0"/>
              <a:t>Content</a:t>
            </a:r>
            <a:endParaRPr dirty="0"/>
          </a:p>
        </p:txBody>
      </p:sp>
      <p:sp>
        <p:nvSpPr>
          <p:cNvPr id="1248797066" name="Google Shape;485;p31"/>
          <p:cNvSpPr txBox="1"/>
          <p:nvPr/>
        </p:nvSpPr>
        <p:spPr bwMode="auto">
          <a:xfrm>
            <a:off x="805343" y="4615339"/>
            <a:ext cx="3511770" cy="31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000" b="1" i="0" u="none" strike="noStrike" cap="none" spc="0" dirty="0">
                <a:solidFill>
                  <a:schemeClr val="dk1"/>
                </a:solidFill>
                <a:latin typeface="Manrope"/>
                <a:ea typeface="Manrope"/>
                <a:cs typeface="Manrope"/>
              </a:rPr>
              <a:t>Duration of presentation: 15 min (5 min questions)</a:t>
            </a:r>
            <a:endParaRPr sz="1000" b="1" u="sng" dirty="0">
              <a:solidFill>
                <a:schemeClr val="dk1"/>
              </a:solidFill>
              <a:latin typeface="Manrope"/>
              <a:ea typeface="Manrope"/>
              <a:cs typeface="Manrope"/>
            </a:endParaRPr>
          </a:p>
        </p:txBody>
      </p:sp>
      <p:grpSp>
        <p:nvGrpSpPr>
          <p:cNvPr id="1817306361" name="Groupe 17"/>
          <p:cNvGrpSpPr/>
          <p:nvPr/>
        </p:nvGrpSpPr>
        <p:grpSpPr bwMode="auto">
          <a:xfrm>
            <a:off x="4866364" y="2282765"/>
            <a:ext cx="3092100" cy="732000"/>
            <a:chOff x="4866364" y="2073965"/>
            <a:chExt cx="3092100" cy="732000"/>
          </a:xfrm>
        </p:grpSpPr>
        <p:sp>
          <p:nvSpPr>
            <p:cNvPr id="39" name="Google Shape;496;p32"/>
            <p:cNvSpPr txBox="1"/>
            <p:nvPr/>
          </p:nvSpPr>
          <p:spPr bwMode="auto">
            <a:xfrm>
              <a:off x="4866364" y="2108315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 dirty="0">
                  <a:solidFill>
                    <a:schemeClr val="bg1"/>
                  </a:solidFill>
                </a:rPr>
                <a:t>05</a:t>
              </a:r>
              <a:endParaRPr dirty="0"/>
            </a:p>
          </p:txBody>
        </p:sp>
        <p:sp>
          <p:nvSpPr>
            <p:cNvPr id="40" name="Google Shape;500;p32"/>
            <p:cNvSpPr txBox="1"/>
            <p:nvPr/>
          </p:nvSpPr>
          <p:spPr bwMode="auto">
            <a:xfrm>
              <a:off x="5648764" y="2073965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indent="0">
                <a:defRPr/>
              </a:pPr>
              <a:r>
                <a:rPr lang="fr-CH" dirty="0"/>
                <a:t>Conclusion</a:t>
              </a:r>
              <a:endParaRPr dirty="0"/>
            </a:p>
          </p:txBody>
        </p:sp>
      </p:grpSp>
      <p:grpSp>
        <p:nvGrpSpPr>
          <p:cNvPr id="98518182" name="Groupe 18"/>
          <p:cNvGrpSpPr/>
          <p:nvPr/>
        </p:nvGrpSpPr>
        <p:grpSpPr bwMode="auto">
          <a:xfrm>
            <a:off x="4866364" y="3131123"/>
            <a:ext cx="3092100" cy="732000"/>
            <a:chOff x="4866364" y="2922323"/>
            <a:chExt cx="3092100" cy="732000"/>
          </a:xfrm>
        </p:grpSpPr>
        <p:sp>
          <p:nvSpPr>
            <p:cNvPr id="41" name="Google Shape;496;p32"/>
            <p:cNvSpPr txBox="1"/>
            <p:nvPr/>
          </p:nvSpPr>
          <p:spPr bwMode="auto">
            <a:xfrm>
              <a:off x="4866364" y="2956673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 dirty="0">
                  <a:solidFill>
                    <a:schemeClr val="bg1"/>
                  </a:solidFill>
                </a:rPr>
                <a:t>06</a:t>
              </a:r>
              <a:endParaRPr dirty="0"/>
            </a:p>
          </p:txBody>
        </p:sp>
        <p:sp>
          <p:nvSpPr>
            <p:cNvPr id="42" name="Google Shape;500;p32"/>
            <p:cNvSpPr txBox="1"/>
            <p:nvPr/>
          </p:nvSpPr>
          <p:spPr bwMode="auto">
            <a:xfrm>
              <a:off x="5648764" y="2922323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indent="0">
                <a:defRPr/>
              </a:pPr>
              <a:r>
                <a:rPr lang="fr-CH" dirty="0"/>
                <a:t>Questions</a:t>
              </a:r>
              <a:endParaRPr dirty="0"/>
            </a:p>
          </p:txBody>
        </p:sp>
      </p:grpSp>
      <p:grpSp>
        <p:nvGrpSpPr>
          <p:cNvPr id="674765216" name="Groupe 12"/>
          <p:cNvGrpSpPr/>
          <p:nvPr/>
        </p:nvGrpSpPr>
        <p:grpSpPr bwMode="auto">
          <a:xfrm>
            <a:off x="891772" y="1430708"/>
            <a:ext cx="3092100" cy="732000"/>
            <a:chOff x="891772" y="1221908"/>
            <a:chExt cx="3092100" cy="732000"/>
          </a:xfrm>
        </p:grpSpPr>
        <p:sp>
          <p:nvSpPr>
            <p:cNvPr id="3" name="Google Shape;496;p32"/>
            <p:cNvSpPr txBox="1"/>
            <p:nvPr/>
          </p:nvSpPr>
          <p:spPr bwMode="auto">
            <a:xfrm>
              <a:off x="891772" y="1256258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 dirty="0">
                  <a:solidFill>
                    <a:schemeClr val="bg1"/>
                  </a:solidFill>
                </a:rPr>
                <a:t>01</a:t>
              </a:r>
              <a:endParaRPr dirty="0"/>
            </a:p>
          </p:txBody>
        </p:sp>
        <p:sp>
          <p:nvSpPr>
            <p:cNvPr id="4" name="Google Shape;500;p32"/>
            <p:cNvSpPr txBox="1"/>
            <p:nvPr/>
          </p:nvSpPr>
          <p:spPr bwMode="auto">
            <a:xfrm>
              <a:off x="1674172" y="1221908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lvl="0" indent="0">
                <a:defRPr/>
              </a:pPr>
              <a:r>
                <a:rPr lang="fr-CH" dirty="0" err="1"/>
                <a:t>Problematics</a:t>
              </a:r>
              <a:endParaRPr dirty="0"/>
            </a:p>
          </p:txBody>
        </p:sp>
      </p:grpSp>
      <p:grpSp>
        <p:nvGrpSpPr>
          <p:cNvPr id="391081952" name="Groupe 13"/>
          <p:cNvGrpSpPr/>
          <p:nvPr/>
        </p:nvGrpSpPr>
        <p:grpSpPr bwMode="auto">
          <a:xfrm>
            <a:off x="891772" y="2279065"/>
            <a:ext cx="3223028" cy="732000"/>
            <a:chOff x="891772" y="2070265"/>
            <a:chExt cx="3223028" cy="732000"/>
          </a:xfrm>
        </p:grpSpPr>
        <p:sp>
          <p:nvSpPr>
            <p:cNvPr id="5" name="Google Shape;496;p32"/>
            <p:cNvSpPr txBox="1"/>
            <p:nvPr/>
          </p:nvSpPr>
          <p:spPr bwMode="auto">
            <a:xfrm>
              <a:off x="891772" y="2104615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>
                  <a:solidFill>
                    <a:schemeClr val="bg1"/>
                  </a:solidFill>
                </a:rPr>
                <a:t>02</a:t>
              </a:r>
              <a:endParaRPr/>
            </a:p>
          </p:txBody>
        </p:sp>
        <p:sp>
          <p:nvSpPr>
            <p:cNvPr id="6" name="Google Shape;500;p32"/>
            <p:cNvSpPr txBox="1"/>
            <p:nvPr/>
          </p:nvSpPr>
          <p:spPr bwMode="auto">
            <a:xfrm>
              <a:off x="1674172" y="2070265"/>
              <a:ext cx="2440628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indent="0">
                <a:defRPr/>
              </a:pPr>
              <a:r>
                <a:rPr lang="fr-CH" dirty="0"/>
                <a:t>Needs</a:t>
              </a:r>
              <a:endParaRPr dirty="0"/>
            </a:p>
          </p:txBody>
        </p:sp>
      </p:grpSp>
      <p:grpSp>
        <p:nvGrpSpPr>
          <p:cNvPr id="3573316" name="Groupe 14"/>
          <p:cNvGrpSpPr/>
          <p:nvPr/>
        </p:nvGrpSpPr>
        <p:grpSpPr bwMode="auto">
          <a:xfrm>
            <a:off x="891772" y="3127423"/>
            <a:ext cx="3092100" cy="732000"/>
            <a:chOff x="891772" y="2918623"/>
            <a:chExt cx="3092100" cy="732000"/>
          </a:xfrm>
        </p:grpSpPr>
        <p:sp>
          <p:nvSpPr>
            <p:cNvPr id="7" name="Google Shape;496;p32"/>
            <p:cNvSpPr txBox="1"/>
            <p:nvPr/>
          </p:nvSpPr>
          <p:spPr bwMode="auto">
            <a:xfrm>
              <a:off x="891772" y="2952973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>
                  <a:solidFill>
                    <a:schemeClr val="bg1"/>
                  </a:solidFill>
                </a:rPr>
                <a:t>03</a:t>
              </a:r>
              <a:endParaRPr/>
            </a:p>
          </p:txBody>
        </p:sp>
        <p:sp>
          <p:nvSpPr>
            <p:cNvPr id="8" name="Google Shape;500;p32"/>
            <p:cNvSpPr txBox="1"/>
            <p:nvPr/>
          </p:nvSpPr>
          <p:spPr bwMode="auto">
            <a:xfrm>
              <a:off x="1674172" y="2918623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indent="0">
                <a:defRPr/>
              </a:pPr>
              <a:r>
                <a:rPr lang="fr-CH" dirty="0" err="1"/>
                <a:t>My</a:t>
              </a:r>
              <a:r>
                <a:rPr lang="fr-CH" dirty="0"/>
                <a:t> solution</a:t>
              </a:r>
              <a:endParaRPr dirty="0"/>
            </a:p>
          </p:txBody>
        </p:sp>
      </p:grpSp>
      <p:grpSp>
        <p:nvGrpSpPr>
          <p:cNvPr id="1878989132" name="Groupe 16"/>
          <p:cNvGrpSpPr/>
          <p:nvPr/>
        </p:nvGrpSpPr>
        <p:grpSpPr bwMode="auto">
          <a:xfrm>
            <a:off x="4866364" y="1444974"/>
            <a:ext cx="2776496" cy="732000"/>
            <a:chOff x="4866364" y="1236174"/>
            <a:chExt cx="2776496" cy="732000"/>
          </a:xfrm>
        </p:grpSpPr>
        <p:sp>
          <p:nvSpPr>
            <p:cNvPr id="11" name="Google Shape;496;p32"/>
            <p:cNvSpPr txBox="1"/>
            <p:nvPr/>
          </p:nvSpPr>
          <p:spPr bwMode="auto">
            <a:xfrm>
              <a:off x="4866364" y="1270524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 dirty="0">
                  <a:solidFill>
                    <a:schemeClr val="bg1"/>
                  </a:solidFill>
                </a:rPr>
                <a:t>04</a:t>
              </a:r>
              <a:endParaRPr dirty="0"/>
            </a:p>
          </p:txBody>
        </p:sp>
        <p:sp>
          <p:nvSpPr>
            <p:cNvPr id="12" name="Google Shape;500;p32"/>
            <p:cNvSpPr txBox="1"/>
            <p:nvPr/>
          </p:nvSpPr>
          <p:spPr bwMode="auto">
            <a:xfrm>
              <a:off x="5648764" y="1236174"/>
              <a:ext cx="1994096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lvl="0" indent="0">
                <a:defRPr/>
              </a:pPr>
              <a:r>
                <a:rPr lang="fr-CH" dirty="0" err="1"/>
                <a:t>Demonstration</a:t>
              </a:r>
              <a:endParaRPr dirty="0"/>
            </a:p>
          </p:txBody>
        </p:sp>
      </p:grpSp>
      <p:sp>
        <p:nvSpPr>
          <p:cNvPr id="2" name="Google Shape;536;p35">
            <a:extLst>
              <a:ext uri="{FF2B5EF4-FFF2-40B4-BE49-F238E27FC236}">
                <a16:creationId xmlns:a16="http://schemas.microsoft.com/office/drawing/2014/main" id="{4F753642-4E9C-8D84-7D07-A783255EB1B9}"/>
              </a:ext>
            </a:extLst>
          </p:cNvPr>
          <p:cNvSpPr txBox="1">
            <a:spLocks/>
          </p:cNvSpPr>
          <p:nvPr/>
        </p:nvSpPr>
        <p:spPr bwMode="auto">
          <a:xfrm>
            <a:off x="2019401" y="-1739893"/>
            <a:ext cx="5254630" cy="629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9pPr>
          </a:lstStyle>
          <a:p>
            <a:pPr>
              <a:defRPr/>
            </a:pPr>
            <a:r>
              <a:rPr lang="fr-CH"/>
              <a:t>Problematics</a:t>
            </a:r>
            <a:endParaRPr lang="fr-CH" dirty="0">
              <a:latin typeface="Archivo"/>
              <a:ea typeface="Archivo"/>
              <a:cs typeface="Archivo"/>
            </a:endParaRPr>
          </a:p>
        </p:txBody>
      </p:sp>
      <p:sp>
        <p:nvSpPr>
          <p:cNvPr id="9" name="Google Shape;538;p35">
            <a:extLst>
              <a:ext uri="{FF2B5EF4-FFF2-40B4-BE49-F238E27FC236}">
                <a16:creationId xmlns:a16="http://schemas.microsoft.com/office/drawing/2014/main" id="{EC4A6F0B-3335-8BA2-5B35-83B1195D4C4A}"/>
              </a:ext>
            </a:extLst>
          </p:cNvPr>
          <p:cNvSpPr txBox="1"/>
          <p:nvPr/>
        </p:nvSpPr>
        <p:spPr bwMode="auto">
          <a:xfrm>
            <a:off x="805343" y="-1760618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>
                <a:solidFill>
                  <a:schemeClr val="bg1"/>
                </a:solidFill>
                <a:latin typeface="Archivo Black"/>
                <a:cs typeface="Archivo Black"/>
              </a:rPr>
              <a:t>1</a:t>
            </a:r>
            <a:endParaRPr/>
          </a:p>
        </p:txBody>
      </p:sp>
      <p:sp>
        <p:nvSpPr>
          <p:cNvPr id="10" name="Google Shape;537;p35">
            <a:extLst>
              <a:ext uri="{FF2B5EF4-FFF2-40B4-BE49-F238E27FC236}">
                <a16:creationId xmlns:a16="http://schemas.microsoft.com/office/drawing/2014/main" id="{DAD23EC3-5419-09B7-D18D-E30F42D86089}"/>
              </a:ext>
            </a:extLst>
          </p:cNvPr>
          <p:cNvSpPr txBox="1"/>
          <p:nvPr/>
        </p:nvSpPr>
        <p:spPr bwMode="auto">
          <a:xfrm>
            <a:off x="-8197168" y="1582328"/>
            <a:ext cx="2291493" cy="3565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 err="1">
                <a:latin typeface="Manrope" pitchFamily="2" charset="0"/>
              </a:rPr>
              <a:t>Results</a:t>
            </a: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sp>
        <p:nvSpPr>
          <p:cNvPr id="13" name="Google Shape;537;p35">
            <a:extLst>
              <a:ext uri="{FF2B5EF4-FFF2-40B4-BE49-F238E27FC236}">
                <a16:creationId xmlns:a16="http://schemas.microsoft.com/office/drawing/2014/main" id="{1E831883-62CA-BFD8-7CAE-597FFDB00B23}"/>
              </a:ext>
            </a:extLst>
          </p:cNvPr>
          <p:cNvSpPr txBox="1"/>
          <p:nvPr/>
        </p:nvSpPr>
        <p:spPr bwMode="auto">
          <a:xfrm>
            <a:off x="-2795978" y="1551908"/>
            <a:ext cx="2502896" cy="3565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>
                <a:latin typeface="Manrope" pitchFamily="2" charset="0"/>
              </a:rPr>
              <a:t>Work logs</a:t>
            </a:r>
            <a:endParaRPr lang="fr-FR" sz="1600" dirty="0">
              <a:latin typeface="Manrope" pitchFamily="2" charset="0"/>
            </a:endParaRPr>
          </a:p>
        </p:txBody>
      </p:sp>
      <p:sp>
        <p:nvSpPr>
          <p:cNvPr id="14" name="Google Shape;537;p35">
            <a:extLst>
              <a:ext uri="{FF2B5EF4-FFF2-40B4-BE49-F238E27FC236}">
                <a16:creationId xmlns:a16="http://schemas.microsoft.com/office/drawing/2014/main" id="{672DABFC-DB46-E596-A821-218BE9F95CC6}"/>
              </a:ext>
            </a:extLst>
          </p:cNvPr>
          <p:cNvSpPr txBox="1"/>
          <p:nvPr/>
        </p:nvSpPr>
        <p:spPr bwMode="auto">
          <a:xfrm>
            <a:off x="-18052471" y="1581391"/>
            <a:ext cx="2358550" cy="3575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 err="1">
                <a:latin typeface="Manrope" pitchFamily="2" charset="0"/>
              </a:rPr>
              <a:t>Average</a:t>
            </a:r>
            <a:r>
              <a:rPr lang="fr-CH" sz="1600" b="1" dirty="0">
                <a:latin typeface="Manrope" pitchFamily="2" charset="0"/>
              </a:rPr>
              <a:t> rating</a:t>
            </a:r>
            <a:endParaRPr lang="fr-FR" sz="1600" dirty="0">
              <a:latin typeface="Manrope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" name="Google Shape;537;p35">
            <a:extLst>
              <a:ext uri="{FF2B5EF4-FFF2-40B4-BE49-F238E27FC236}">
                <a16:creationId xmlns:a16="http://schemas.microsoft.com/office/drawing/2014/main" id="{805B9D7D-E18D-819A-9E51-D20320C2C1A0}"/>
              </a:ext>
            </a:extLst>
          </p:cNvPr>
          <p:cNvSpPr txBox="1"/>
          <p:nvPr/>
        </p:nvSpPr>
        <p:spPr bwMode="auto">
          <a:xfrm>
            <a:off x="-2536877" y="870219"/>
            <a:ext cx="2345745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Solutions ? (Excel)</a:t>
            </a:r>
            <a:endParaRPr dirty="0"/>
          </a:p>
        </p:txBody>
      </p:sp>
      <p:sp>
        <p:nvSpPr>
          <p:cNvPr id="239403588" name="Google Shape;536;p35"/>
          <p:cNvSpPr txBox="1">
            <a:spLocks noGrp="1"/>
          </p:cNvSpPr>
          <p:nvPr>
            <p:ph type="title"/>
          </p:nvPr>
        </p:nvSpPr>
        <p:spPr bwMode="auto">
          <a:xfrm>
            <a:off x="1988852" y="529464"/>
            <a:ext cx="5254630" cy="62902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defRPr/>
            </a:pPr>
            <a:r>
              <a:rPr lang="fr-CH" dirty="0" err="1"/>
              <a:t>Problematics</a:t>
            </a:r>
            <a:endParaRPr lang="fr-CH" dirty="0">
              <a:latin typeface="Archivo"/>
              <a:ea typeface="Archivo"/>
              <a:cs typeface="Archivo"/>
            </a:endParaRPr>
          </a:p>
        </p:txBody>
      </p:sp>
      <p:sp>
        <p:nvSpPr>
          <p:cNvPr id="823150496" name="Google Shape;538;p35"/>
          <p:cNvSpPr txBox="1"/>
          <p:nvPr/>
        </p:nvSpPr>
        <p:spPr bwMode="auto">
          <a:xfrm>
            <a:off x="774794" y="508739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>
                <a:solidFill>
                  <a:schemeClr val="bg1"/>
                </a:solidFill>
                <a:latin typeface="Archivo Black"/>
                <a:cs typeface="Archivo Black"/>
              </a:rPr>
              <a:t>1</a:t>
            </a:r>
            <a:endParaRPr/>
          </a:p>
        </p:txBody>
      </p:sp>
      <p:sp>
        <p:nvSpPr>
          <p:cNvPr id="611398426" name="Google Shape;537;p35"/>
          <p:cNvSpPr txBox="1"/>
          <p:nvPr/>
        </p:nvSpPr>
        <p:spPr bwMode="auto">
          <a:xfrm>
            <a:off x="1992662" y="938810"/>
            <a:ext cx="931038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dirty="0">
                <a:solidFill>
                  <a:schemeClr val="bg1"/>
                </a:solidFill>
                <a:latin typeface="Manrope"/>
              </a:rPr>
              <a:t>x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7" name="Google Shape;537;p35">
            <a:extLst>
              <a:ext uri="{FF2B5EF4-FFF2-40B4-BE49-F238E27FC236}">
                <a16:creationId xmlns:a16="http://schemas.microsoft.com/office/drawing/2014/main" id="{64A73D30-6B32-F51F-98AB-F1D860197054}"/>
              </a:ext>
            </a:extLst>
          </p:cNvPr>
          <p:cNvSpPr txBox="1"/>
          <p:nvPr/>
        </p:nvSpPr>
        <p:spPr bwMode="auto">
          <a:xfrm>
            <a:off x="3338343" y="1582328"/>
            <a:ext cx="2291493" cy="3565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 err="1">
                <a:latin typeface="Manrope" pitchFamily="2" charset="0"/>
              </a:rPr>
              <a:t>Results</a:t>
            </a: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sp>
        <p:nvSpPr>
          <p:cNvPr id="8" name="Google Shape;537;p35">
            <a:extLst>
              <a:ext uri="{FF2B5EF4-FFF2-40B4-BE49-F238E27FC236}">
                <a16:creationId xmlns:a16="http://schemas.microsoft.com/office/drawing/2014/main" id="{E4E1E1EB-34E2-D613-928A-80F2F6884462}"/>
              </a:ext>
            </a:extLst>
          </p:cNvPr>
          <p:cNvSpPr txBox="1"/>
          <p:nvPr/>
        </p:nvSpPr>
        <p:spPr bwMode="auto">
          <a:xfrm>
            <a:off x="6183904" y="1551908"/>
            <a:ext cx="2502896" cy="3565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>
                <a:latin typeface="Manrope" pitchFamily="2" charset="0"/>
              </a:rPr>
              <a:t>Work logs</a:t>
            </a:r>
            <a:endParaRPr lang="fr-FR" sz="1600" dirty="0">
              <a:latin typeface="Manrope" pitchFamily="2" charset="0"/>
            </a:endParaRPr>
          </a:p>
        </p:txBody>
      </p:sp>
      <p:sp>
        <p:nvSpPr>
          <p:cNvPr id="2" name="Google Shape;491;p32">
            <a:extLst>
              <a:ext uri="{FF2B5EF4-FFF2-40B4-BE49-F238E27FC236}">
                <a16:creationId xmlns:a16="http://schemas.microsoft.com/office/drawing/2014/main" id="{8735764F-3219-487C-F7A7-A295AC4D331A}"/>
              </a:ext>
            </a:extLst>
          </p:cNvPr>
          <p:cNvSpPr txBox="1">
            <a:spLocks/>
          </p:cNvSpPr>
          <p:nvPr/>
        </p:nvSpPr>
        <p:spPr bwMode="auto">
          <a:xfrm>
            <a:off x="632089" y="-138187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9pPr>
          </a:lstStyle>
          <a:p>
            <a:pPr>
              <a:defRPr/>
            </a:pPr>
            <a:r>
              <a:rPr lang="fr-CH" dirty="0"/>
              <a:t>Content</a:t>
            </a:r>
          </a:p>
        </p:txBody>
      </p:sp>
      <p:grpSp>
        <p:nvGrpSpPr>
          <p:cNvPr id="4" name="Groupe 17">
            <a:extLst>
              <a:ext uri="{FF2B5EF4-FFF2-40B4-BE49-F238E27FC236}">
                <a16:creationId xmlns:a16="http://schemas.microsoft.com/office/drawing/2014/main" id="{502B9442-2C2F-8F7A-8C6F-5CAE783CE9E3}"/>
              </a:ext>
            </a:extLst>
          </p:cNvPr>
          <p:cNvGrpSpPr/>
          <p:nvPr/>
        </p:nvGrpSpPr>
        <p:grpSpPr bwMode="auto">
          <a:xfrm>
            <a:off x="15778204" y="2131089"/>
            <a:ext cx="3092100" cy="732000"/>
            <a:chOff x="4866364" y="2073965"/>
            <a:chExt cx="3092100" cy="732000"/>
          </a:xfrm>
        </p:grpSpPr>
        <p:sp>
          <p:nvSpPr>
            <p:cNvPr id="5" name="Google Shape;496;p32">
              <a:extLst>
                <a:ext uri="{FF2B5EF4-FFF2-40B4-BE49-F238E27FC236}">
                  <a16:creationId xmlns:a16="http://schemas.microsoft.com/office/drawing/2014/main" id="{2DE95EF2-4FB3-65CD-85CF-5461B92F5253}"/>
                </a:ext>
              </a:extLst>
            </p:cNvPr>
            <p:cNvSpPr txBox="1"/>
            <p:nvPr/>
          </p:nvSpPr>
          <p:spPr bwMode="auto">
            <a:xfrm>
              <a:off x="4866364" y="2108315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 dirty="0">
                  <a:solidFill>
                    <a:schemeClr val="bg1"/>
                  </a:solidFill>
                </a:rPr>
                <a:t>05</a:t>
              </a:r>
              <a:endParaRPr dirty="0"/>
            </a:p>
          </p:txBody>
        </p:sp>
        <p:sp>
          <p:nvSpPr>
            <p:cNvPr id="6" name="Google Shape;500;p32">
              <a:extLst>
                <a:ext uri="{FF2B5EF4-FFF2-40B4-BE49-F238E27FC236}">
                  <a16:creationId xmlns:a16="http://schemas.microsoft.com/office/drawing/2014/main" id="{55D036E9-C565-553C-E996-ACC32749F47A}"/>
                </a:ext>
              </a:extLst>
            </p:cNvPr>
            <p:cNvSpPr txBox="1"/>
            <p:nvPr/>
          </p:nvSpPr>
          <p:spPr bwMode="auto">
            <a:xfrm>
              <a:off x="5648764" y="2073965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indent="0">
                <a:defRPr/>
              </a:pPr>
              <a:r>
                <a:rPr lang="fr-CH" dirty="0"/>
                <a:t>Conclusion</a:t>
              </a:r>
              <a:endParaRPr dirty="0"/>
            </a:p>
          </p:txBody>
        </p:sp>
      </p:grpSp>
      <p:grpSp>
        <p:nvGrpSpPr>
          <p:cNvPr id="9" name="Groupe 18">
            <a:extLst>
              <a:ext uri="{FF2B5EF4-FFF2-40B4-BE49-F238E27FC236}">
                <a16:creationId xmlns:a16="http://schemas.microsoft.com/office/drawing/2014/main" id="{E88B185A-AA9F-03D7-5358-35B05CA9F5CC}"/>
              </a:ext>
            </a:extLst>
          </p:cNvPr>
          <p:cNvGrpSpPr/>
          <p:nvPr/>
        </p:nvGrpSpPr>
        <p:grpSpPr bwMode="auto">
          <a:xfrm>
            <a:off x="13278844" y="3161773"/>
            <a:ext cx="3092100" cy="732000"/>
            <a:chOff x="4866364" y="2922323"/>
            <a:chExt cx="3092100" cy="732000"/>
          </a:xfrm>
        </p:grpSpPr>
        <p:sp>
          <p:nvSpPr>
            <p:cNvPr id="10" name="Google Shape;496;p32">
              <a:extLst>
                <a:ext uri="{FF2B5EF4-FFF2-40B4-BE49-F238E27FC236}">
                  <a16:creationId xmlns:a16="http://schemas.microsoft.com/office/drawing/2014/main" id="{2B308F3C-A08C-C008-5E6B-141EAC3FFCE9}"/>
                </a:ext>
              </a:extLst>
            </p:cNvPr>
            <p:cNvSpPr txBox="1"/>
            <p:nvPr/>
          </p:nvSpPr>
          <p:spPr bwMode="auto">
            <a:xfrm>
              <a:off x="4866364" y="2956673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 dirty="0">
                  <a:solidFill>
                    <a:schemeClr val="bg1"/>
                  </a:solidFill>
                </a:rPr>
                <a:t>06</a:t>
              </a:r>
              <a:endParaRPr dirty="0"/>
            </a:p>
          </p:txBody>
        </p:sp>
        <p:sp>
          <p:nvSpPr>
            <p:cNvPr id="11" name="Google Shape;500;p32">
              <a:extLst>
                <a:ext uri="{FF2B5EF4-FFF2-40B4-BE49-F238E27FC236}">
                  <a16:creationId xmlns:a16="http://schemas.microsoft.com/office/drawing/2014/main" id="{F2534BBF-F45D-44EE-3A2C-CE016D938D70}"/>
                </a:ext>
              </a:extLst>
            </p:cNvPr>
            <p:cNvSpPr txBox="1"/>
            <p:nvPr/>
          </p:nvSpPr>
          <p:spPr bwMode="auto">
            <a:xfrm>
              <a:off x="5648764" y="2922323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indent="0">
                <a:defRPr/>
              </a:pPr>
              <a:r>
                <a:rPr lang="fr-CH" dirty="0"/>
                <a:t>Questions</a:t>
              </a:r>
              <a:endParaRPr dirty="0"/>
            </a:p>
          </p:txBody>
        </p:sp>
      </p:grpSp>
      <p:grpSp>
        <p:nvGrpSpPr>
          <p:cNvPr id="12" name="Groupe 12">
            <a:extLst>
              <a:ext uri="{FF2B5EF4-FFF2-40B4-BE49-F238E27FC236}">
                <a16:creationId xmlns:a16="http://schemas.microsoft.com/office/drawing/2014/main" id="{BB06B87D-B52F-E170-04CE-4157548C0613}"/>
              </a:ext>
            </a:extLst>
          </p:cNvPr>
          <p:cNvGrpSpPr/>
          <p:nvPr/>
        </p:nvGrpSpPr>
        <p:grpSpPr bwMode="auto">
          <a:xfrm>
            <a:off x="-9589171" y="1241259"/>
            <a:ext cx="3092100" cy="732000"/>
            <a:chOff x="891772" y="1221908"/>
            <a:chExt cx="3092100" cy="732000"/>
          </a:xfrm>
        </p:grpSpPr>
        <p:sp>
          <p:nvSpPr>
            <p:cNvPr id="13" name="Google Shape;496;p32">
              <a:extLst>
                <a:ext uri="{FF2B5EF4-FFF2-40B4-BE49-F238E27FC236}">
                  <a16:creationId xmlns:a16="http://schemas.microsoft.com/office/drawing/2014/main" id="{C3FEC48D-134D-89AB-98D8-4CEE3DF76EAD}"/>
                </a:ext>
              </a:extLst>
            </p:cNvPr>
            <p:cNvSpPr txBox="1"/>
            <p:nvPr/>
          </p:nvSpPr>
          <p:spPr bwMode="auto">
            <a:xfrm>
              <a:off x="891772" y="1256258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 dirty="0">
                  <a:solidFill>
                    <a:schemeClr val="bg1"/>
                  </a:solidFill>
                </a:rPr>
                <a:t>01</a:t>
              </a:r>
              <a:endParaRPr dirty="0"/>
            </a:p>
          </p:txBody>
        </p:sp>
        <p:sp>
          <p:nvSpPr>
            <p:cNvPr id="14" name="Google Shape;500;p32">
              <a:extLst>
                <a:ext uri="{FF2B5EF4-FFF2-40B4-BE49-F238E27FC236}">
                  <a16:creationId xmlns:a16="http://schemas.microsoft.com/office/drawing/2014/main" id="{734E6B48-F3C0-011D-CD4D-F6DFAA0A0ABF}"/>
                </a:ext>
              </a:extLst>
            </p:cNvPr>
            <p:cNvSpPr txBox="1"/>
            <p:nvPr/>
          </p:nvSpPr>
          <p:spPr bwMode="auto">
            <a:xfrm>
              <a:off x="1674172" y="1221908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lvl="0" indent="0">
                <a:defRPr/>
              </a:pPr>
              <a:r>
                <a:rPr lang="fr-CH" dirty="0" err="1"/>
                <a:t>Problematics</a:t>
              </a:r>
              <a:endParaRPr dirty="0"/>
            </a:p>
          </p:txBody>
        </p:sp>
      </p:grpSp>
      <p:grpSp>
        <p:nvGrpSpPr>
          <p:cNvPr id="15" name="Groupe 13">
            <a:extLst>
              <a:ext uri="{FF2B5EF4-FFF2-40B4-BE49-F238E27FC236}">
                <a16:creationId xmlns:a16="http://schemas.microsoft.com/office/drawing/2014/main" id="{04188D74-16EC-FF59-8B07-813F66131FA9}"/>
              </a:ext>
            </a:extLst>
          </p:cNvPr>
          <p:cNvGrpSpPr/>
          <p:nvPr/>
        </p:nvGrpSpPr>
        <p:grpSpPr bwMode="auto">
          <a:xfrm>
            <a:off x="-6941839" y="2194922"/>
            <a:ext cx="3223028" cy="732000"/>
            <a:chOff x="891772" y="2070265"/>
            <a:chExt cx="3223028" cy="732000"/>
          </a:xfrm>
        </p:grpSpPr>
        <p:sp>
          <p:nvSpPr>
            <p:cNvPr id="16" name="Google Shape;496;p32">
              <a:extLst>
                <a:ext uri="{FF2B5EF4-FFF2-40B4-BE49-F238E27FC236}">
                  <a16:creationId xmlns:a16="http://schemas.microsoft.com/office/drawing/2014/main" id="{523FF341-371A-6C3F-B4C2-1BE235601662}"/>
                </a:ext>
              </a:extLst>
            </p:cNvPr>
            <p:cNvSpPr txBox="1"/>
            <p:nvPr/>
          </p:nvSpPr>
          <p:spPr bwMode="auto">
            <a:xfrm>
              <a:off x="891772" y="2104615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>
                  <a:solidFill>
                    <a:schemeClr val="bg1"/>
                  </a:solidFill>
                </a:rPr>
                <a:t>02</a:t>
              </a:r>
              <a:endParaRPr/>
            </a:p>
          </p:txBody>
        </p:sp>
        <p:sp>
          <p:nvSpPr>
            <p:cNvPr id="17" name="Google Shape;500;p32">
              <a:extLst>
                <a:ext uri="{FF2B5EF4-FFF2-40B4-BE49-F238E27FC236}">
                  <a16:creationId xmlns:a16="http://schemas.microsoft.com/office/drawing/2014/main" id="{740D8176-BEDA-ED3F-DA48-31D2C68010DC}"/>
                </a:ext>
              </a:extLst>
            </p:cNvPr>
            <p:cNvSpPr txBox="1"/>
            <p:nvPr/>
          </p:nvSpPr>
          <p:spPr bwMode="auto">
            <a:xfrm>
              <a:off x="1674172" y="2070265"/>
              <a:ext cx="2440628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indent="0">
                <a:defRPr/>
              </a:pPr>
              <a:r>
                <a:rPr lang="fr-CH" dirty="0"/>
                <a:t>Needs</a:t>
              </a:r>
              <a:endParaRPr dirty="0"/>
            </a:p>
          </p:txBody>
        </p:sp>
      </p:grpSp>
      <p:grpSp>
        <p:nvGrpSpPr>
          <p:cNvPr id="18" name="Groupe 14">
            <a:extLst>
              <a:ext uri="{FF2B5EF4-FFF2-40B4-BE49-F238E27FC236}">
                <a16:creationId xmlns:a16="http://schemas.microsoft.com/office/drawing/2014/main" id="{23235F5A-F602-C2FF-540F-6B3E271CE0D3}"/>
              </a:ext>
            </a:extLst>
          </p:cNvPr>
          <p:cNvGrpSpPr/>
          <p:nvPr/>
        </p:nvGrpSpPr>
        <p:grpSpPr bwMode="auto">
          <a:xfrm>
            <a:off x="-4790489" y="3040113"/>
            <a:ext cx="3092100" cy="732000"/>
            <a:chOff x="891772" y="2918623"/>
            <a:chExt cx="3092100" cy="732000"/>
          </a:xfrm>
        </p:grpSpPr>
        <p:sp>
          <p:nvSpPr>
            <p:cNvPr id="19" name="Google Shape;496;p32">
              <a:extLst>
                <a:ext uri="{FF2B5EF4-FFF2-40B4-BE49-F238E27FC236}">
                  <a16:creationId xmlns:a16="http://schemas.microsoft.com/office/drawing/2014/main" id="{E2599FCD-4CCE-768E-322E-A32EC5BD8B34}"/>
                </a:ext>
              </a:extLst>
            </p:cNvPr>
            <p:cNvSpPr txBox="1"/>
            <p:nvPr/>
          </p:nvSpPr>
          <p:spPr bwMode="auto">
            <a:xfrm>
              <a:off x="891772" y="2952973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>
                  <a:solidFill>
                    <a:schemeClr val="bg1"/>
                  </a:solidFill>
                </a:rPr>
                <a:t>03</a:t>
              </a:r>
              <a:endParaRPr/>
            </a:p>
          </p:txBody>
        </p:sp>
        <p:sp>
          <p:nvSpPr>
            <p:cNvPr id="20" name="Google Shape;500;p32">
              <a:extLst>
                <a:ext uri="{FF2B5EF4-FFF2-40B4-BE49-F238E27FC236}">
                  <a16:creationId xmlns:a16="http://schemas.microsoft.com/office/drawing/2014/main" id="{882EABCD-5173-1BD9-308A-6FFE1481E93C}"/>
                </a:ext>
              </a:extLst>
            </p:cNvPr>
            <p:cNvSpPr txBox="1"/>
            <p:nvPr/>
          </p:nvSpPr>
          <p:spPr bwMode="auto">
            <a:xfrm>
              <a:off x="1674172" y="2918623"/>
              <a:ext cx="2309700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indent="0">
                <a:defRPr/>
              </a:pPr>
              <a:r>
                <a:rPr lang="fr-CH" dirty="0" err="1"/>
                <a:t>My</a:t>
              </a:r>
              <a:r>
                <a:rPr lang="fr-CH" dirty="0"/>
                <a:t> solution</a:t>
              </a:r>
              <a:endParaRPr dirty="0"/>
            </a:p>
          </p:txBody>
        </p:sp>
      </p:grpSp>
      <p:grpSp>
        <p:nvGrpSpPr>
          <p:cNvPr id="21" name="Groupe 16">
            <a:extLst>
              <a:ext uri="{FF2B5EF4-FFF2-40B4-BE49-F238E27FC236}">
                <a16:creationId xmlns:a16="http://schemas.microsoft.com/office/drawing/2014/main" id="{B8FC4556-2577-4E35-B34D-A9EEDD86D232}"/>
              </a:ext>
            </a:extLst>
          </p:cNvPr>
          <p:cNvGrpSpPr/>
          <p:nvPr/>
        </p:nvGrpSpPr>
        <p:grpSpPr bwMode="auto">
          <a:xfrm>
            <a:off x="17881324" y="1241259"/>
            <a:ext cx="2776496" cy="732000"/>
            <a:chOff x="4866364" y="1236174"/>
            <a:chExt cx="2776496" cy="732000"/>
          </a:xfrm>
        </p:grpSpPr>
        <p:sp>
          <p:nvSpPr>
            <p:cNvPr id="22" name="Google Shape;496;p32">
              <a:extLst>
                <a:ext uri="{FF2B5EF4-FFF2-40B4-BE49-F238E27FC236}">
                  <a16:creationId xmlns:a16="http://schemas.microsoft.com/office/drawing/2014/main" id="{8E3DCCAB-31ED-5CA3-E3AA-4B9CDCCE807D}"/>
                </a:ext>
              </a:extLst>
            </p:cNvPr>
            <p:cNvSpPr txBox="1"/>
            <p:nvPr/>
          </p:nvSpPr>
          <p:spPr bwMode="auto">
            <a:xfrm>
              <a:off x="4866364" y="1270524"/>
              <a:ext cx="707400" cy="6633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dk1"/>
                  </a:solidFill>
                  <a:latin typeface="Archivo Black"/>
                  <a:ea typeface="Archivo Black"/>
                  <a:cs typeface="Archivo Black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000"/>
                <a:buFont typeface="Archivo Black"/>
                <a:buNone/>
                <a:defRPr sz="3000" b="0" i="0" u="none" strike="noStrike" cap="none">
                  <a:solidFill>
                    <a:schemeClr val="lt1"/>
                  </a:solidFill>
                  <a:latin typeface="Archivo Black"/>
                  <a:ea typeface="Archivo Black"/>
                  <a:cs typeface="Archivo Black"/>
                </a:defRPr>
              </a:lvl9pPr>
            </a:lstStyle>
            <a:p>
              <a:pPr>
                <a:defRPr/>
              </a:pPr>
              <a:r>
                <a:rPr lang="en" dirty="0">
                  <a:solidFill>
                    <a:schemeClr val="bg1"/>
                  </a:solidFill>
                </a:rPr>
                <a:t>04</a:t>
              </a:r>
              <a:endParaRPr dirty="0"/>
            </a:p>
          </p:txBody>
        </p:sp>
        <p:sp>
          <p:nvSpPr>
            <p:cNvPr id="23" name="Google Shape;500;p32">
              <a:extLst>
                <a:ext uri="{FF2B5EF4-FFF2-40B4-BE49-F238E27FC236}">
                  <a16:creationId xmlns:a16="http://schemas.microsoft.com/office/drawing/2014/main" id="{5B5A7931-E95D-82E0-FBB6-C4897E542754}"/>
                </a:ext>
              </a:extLst>
            </p:cNvPr>
            <p:cNvSpPr txBox="1"/>
            <p:nvPr/>
          </p:nvSpPr>
          <p:spPr bwMode="auto">
            <a:xfrm>
              <a:off x="5648764" y="1236174"/>
              <a:ext cx="1994096" cy="73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000" b="1" i="0" u="none" strike="noStrike" cap="none">
                  <a:solidFill>
                    <a:schemeClr val="dk1"/>
                  </a:solidFill>
                  <a:latin typeface="Archivo"/>
                  <a:ea typeface="Archivo"/>
                  <a:cs typeface="Archivo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DM Sans"/>
                <a:buNone/>
                <a:defRPr sz="2400" b="1" i="0" u="none" strike="noStrike" cap="none">
                  <a:solidFill>
                    <a:schemeClr val="dk1"/>
                  </a:solidFill>
                  <a:latin typeface="DM Sans"/>
                  <a:ea typeface="DM Sans"/>
                  <a:cs typeface="DM Sans"/>
                </a:defRPr>
              </a:lvl9pPr>
            </a:lstStyle>
            <a:p>
              <a:pPr marL="0" lvl="0" indent="0">
                <a:defRPr/>
              </a:pPr>
              <a:r>
                <a:rPr lang="fr-CH" dirty="0" err="1"/>
                <a:t>Demonstration</a:t>
              </a:r>
              <a:endParaRPr dirty="0"/>
            </a:p>
          </p:txBody>
        </p:sp>
      </p:grpSp>
      <p:pic>
        <p:nvPicPr>
          <p:cNvPr id="26" name="Image 25">
            <a:extLst>
              <a:ext uri="{FF2B5EF4-FFF2-40B4-BE49-F238E27FC236}">
                <a16:creationId xmlns:a16="http://schemas.microsoft.com/office/drawing/2014/main" id="{2E30D344-2305-2EB3-B94F-1C932B7FDB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0" y="900271"/>
            <a:ext cx="774794" cy="320068"/>
          </a:xfrm>
          <a:prstGeom prst="rect">
            <a:avLst/>
          </a:prstGeom>
        </p:spPr>
      </p:pic>
      <p:pic>
        <p:nvPicPr>
          <p:cNvPr id="27" name="Picture 6">
            <a:extLst>
              <a:ext uri="{FF2B5EF4-FFF2-40B4-BE49-F238E27FC236}">
                <a16:creationId xmlns:a16="http://schemas.microsoft.com/office/drawing/2014/main" id="{418FB735-15FB-3B67-36EB-D76BD33AD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260141">
            <a:off x="7412383" y="-1715984"/>
            <a:ext cx="1099528" cy="102311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Google Shape;485;p31">
            <a:extLst>
              <a:ext uri="{FF2B5EF4-FFF2-40B4-BE49-F238E27FC236}">
                <a16:creationId xmlns:a16="http://schemas.microsoft.com/office/drawing/2014/main" id="{717AA20C-17C9-4402-D5B6-8FBDF173B410}"/>
              </a:ext>
            </a:extLst>
          </p:cNvPr>
          <p:cNvSpPr txBox="1"/>
          <p:nvPr/>
        </p:nvSpPr>
        <p:spPr bwMode="auto">
          <a:xfrm rot="20807524">
            <a:off x="-107948" y="7389017"/>
            <a:ext cx="3511770" cy="31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000" b="1" i="0" u="none" strike="noStrike" cap="none" spc="0" dirty="0">
                <a:solidFill>
                  <a:schemeClr val="dk1"/>
                </a:solidFill>
                <a:latin typeface="Manrope"/>
                <a:ea typeface="Manrope"/>
                <a:cs typeface="Manrope"/>
              </a:rPr>
              <a:t>Duration of presentation: 15 min (5 min questions)</a:t>
            </a:r>
            <a:endParaRPr sz="1000" b="1" u="sng" dirty="0">
              <a:solidFill>
                <a:schemeClr val="dk1"/>
              </a:solidFill>
              <a:latin typeface="Manrope"/>
              <a:ea typeface="Manrope"/>
              <a:cs typeface="Manrope"/>
            </a:endParaRPr>
          </a:p>
        </p:txBody>
      </p:sp>
      <p:sp>
        <p:nvSpPr>
          <p:cNvPr id="31" name="Google Shape;537;p35">
            <a:extLst>
              <a:ext uri="{FF2B5EF4-FFF2-40B4-BE49-F238E27FC236}">
                <a16:creationId xmlns:a16="http://schemas.microsoft.com/office/drawing/2014/main" id="{481380D9-F8BF-91A3-A0D1-56C73484A4CE}"/>
              </a:ext>
            </a:extLst>
          </p:cNvPr>
          <p:cNvSpPr txBox="1"/>
          <p:nvPr/>
        </p:nvSpPr>
        <p:spPr bwMode="auto">
          <a:xfrm>
            <a:off x="774794" y="1581391"/>
            <a:ext cx="2358550" cy="3575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 err="1">
                <a:latin typeface="Manrope" pitchFamily="2" charset="0"/>
              </a:rPr>
              <a:t>Average</a:t>
            </a:r>
            <a:r>
              <a:rPr lang="fr-CH" sz="1600" b="1" dirty="0">
                <a:latin typeface="Manrope" pitchFamily="2" charset="0"/>
              </a:rPr>
              <a:t> rating</a:t>
            </a:r>
            <a:endParaRPr lang="fr-FR" sz="1600" dirty="0">
              <a:latin typeface="Manrope" pitchFamily="2" charset="0"/>
            </a:endParaRPr>
          </a:p>
        </p:txBody>
      </p:sp>
      <p:sp>
        <p:nvSpPr>
          <p:cNvPr id="32" name="Google Shape;537;p35">
            <a:extLst>
              <a:ext uri="{FF2B5EF4-FFF2-40B4-BE49-F238E27FC236}">
                <a16:creationId xmlns:a16="http://schemas.microsoft.com/office/drawing/2014/main" id="{96F80FB9-103E-A2AD-28A2-93713E31C8E0}"/>
              </a:ext>
            </a:extLst>
          </p:cNvPr>
          <p:cNvSpPr txBox="1"/>
          <p:nvPr/>
        </p:nvSpPr>
        <p:spPr bwMode="auto">
          <a:xfrm>
            <a:off x="774794" y="3317932"/>
            <a:ext cx="2358550" cy="7568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Did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I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calculate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correctly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?</a:t>
            </a: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sp>
        <p:nvSpPr>
          <p:cNvPr id="33" name="Google Shape;537;p35">
            <a:extLst>
              <a:ext uri="{FF2B5EF4-FFF2-40B4-BE49-F238E27FC236}">
                <a16:creationId xmlns:a16="http://schemas.microsoft.com/office/drawing/2014/main" id="{6DAD7BED-3C8F-A9C5-9D00-DF3270CDED47}"/>
              </a:ext>
            </a:extLst>
          </p:cNvPr>
          <p:cNvSpPr txBox="1"/>
          <p:nvPr/>
        </p:nvSpPr>
        <p:spPr bwMode="auto">
          <a:xfrm>
            <a:off x="774794" y="2633312"/>
            <a:ext cx="2358550" cy="7568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How do I calculate my average ?</a:t>
            </a:r>
            <a:endParaRPr sz="1600" dirty="0"/>
          </a:p>
        </p:txBody>
      </p:sp>
      <p:sp>
        <p:nvSpPr>
          <p:cNvPr id="34" name="Google Shape;537;p35">
            <a:extLst>
              <a:ext uri="{FF2B5EF4-FFF2-40B4-BE49-F238E27FC236}">
                <a16:creationId xmlns:a16="http://schemas.microsoft.com/office/drawing/2014/main" id="{30F7989D-4D03-7B88-C5BC-573AE9EFF641}"/>
              </a:ext>
            </a:extLst>
          </p:cNvPr>
          <p:cNvSpPr txBox="1"/>
          <p:nvPr/>
        </p:nvSpPr>
        <p:spPr bwMode="auto">
          <a:xfrm>
            <a:off x="774794" y="1916455"/>
            <a:ext cx="2358550" cy="7568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What is my current average ?</a:t>
            </a:r>
            <a:endParaRPr sz="1600" dirty="0"/>
          </a:p>
        </p:txBody>
      </p:sp>
      <p:sp>
        <p:nvSpPr>
          <p:cNvPr id="35" name="Google Shape;537;p35">
            <a:extLst>
              <a:ext uri="{FF2B5EF4-FFF2-40B4-BE49-F238E27FC236}">
                <a16:creationId xmlns:a16="http://schemas.microsoft.com/office/drawing/2014/main" id="{4C4F18ED-101B-BE06-95C5-B27F05F6711B}"/>
              </a:ext>
            </a:extLst>
          </p:cNvPr>
          <p:cNvSpPr txBox="1"/>
          <p:nvPr/>
        </p:nvSpPr>
        <p:spPr bwMode="auto">
          <a:xfrm>
            <a:off x="3266534" y="2640978"/>
            <a:ext cx="2291493" cy="6290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Where should I record my results ?</a:t>
            </a: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</p:txBody>
      </p:sp>
      <p:sp>
        <p:nvSpPr>
          <p:cNvPr id="36" name="Google Shape;537;p35">
            <a:extLst>
              <a:ext uri="{FF2B5EF4-FFF2-40B4-BE49-F238E27FC236}">
                <a16:creationId xmlns:a16="http://schemas.microsoft.com/office/drawing/2014/main" id="{10F4A1D0-B903-A85F-448B-03DA36949F18}"/>
              </a:ext>
            </a:extLst>
          </p:cNvPr>
          <p:cNvSpPr txBox="1"/>
          <p:nvPr/>
        </p:nvSpPr>
        <p:spPr bwMode="auto">
          <a:xfrm>
            <a:off x="3315302" y="1914758"/>
            <a:ext cx="2291493" cy="62902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Where did I put my proof ?</a:t>
            </a: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sp>
        <p:nvSpPr>
          <p:cNvPr id="38" name="Google Shape;537;p35">
            <a:extLst>
              <a:ext uri="{FF2B5EF4-FFF2-40B4-BE49-F238E27FC236}">
                <a16:creationId xmlns:a16="http://schemas.microsoft.com/office/drawing/2014/main" id="{C5D5CD0D-001B-DE76-B97F-513FA53C1EFB}"/>
              </a:ext>
            </a:extLst>
          </p:cNvPr>
          <p:cNvSpPr txBox="1"/>
          <p:nvPr/>
        </p:nvSpPr>
        <p:spPr bwMode="auto">
          <a:xfrm>
            <a:off x="6153251" y="1938909"/>
            <a:ext cx="2291493" cy="62902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Where should I keep my work journal ?</a:t>
            </a: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sp>
        <p:nvSpPr>
          <p:cNvPr id="39" name="Google Shape;537;p35">
            <a:extLst>
              <a:ext uri="{FF2B5EF4-FFF2-40B4-BE49-F238E27FC236}">
                <a16:creationId xmlns:a16="http://schemas.microsoft.com/office/drawing/2014/main" id="{53036E2D-AEF9-7D76-F540-DB73F98C3748}"/>
              </a:ext>
            </a:extLst>
          </p:cNvPr>
          <p:cNvSpPr txBox="1"/>
          <p:nvPr/>
        </p:nvSpPr>
        <p:spPr bwMode="auto">
          <a:xfrm>
            <a:off x="6107871" y="2640978"/>
            <a:ext cx="2291493" cy="62902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How much time did I spend on that task ?</a:t>
            </a: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34" grpId="0"/>
      <p:bldP spid="35" grpId="0"/>
      <p:bldP spid="36" grpId="0"/>
      <p:bldP spid="38" grpId="0"/>
      <p:bldP spid="3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248B5A-A7AA-483F-2B87-0678A4204D34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" name="Google Shape;537;p35">
            <a:extLst>
              <a:ext uri="{FF2B5EF4-FFF2-40B4-BE49-F238E27FC236}">
                <a16:creationId xmlns:a16="http://schemas.microsoft.com/office/drawing/2014/main" id="{D953E6FE-05D8-6666-66C1-64112857AF9E}"/>
              </a:ext>
            </a:extLst>
          </p:cNvPr>
          <p:cNvSpPr txBox="1"/>
          <p:nvPr/>
        </p:nvSpPr>
        <p:spPr bwMode="auto">
          <a:xfrm>
            <a:off x="-3591275" y="938810"/>
            <a:ext cx="2919997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Solutions ? (Cloud app)</a:t>
            </a:r>
            <a:endParaRPr dirty="0"/>
          </a:p>
        </p:txBody>
      </p:sp>
      <p:sp>
        <p:nvSpPr>
          <p:cNvPr id="611398426" name="Google Shape;537;p35">
            <a:extLst>
              <a:ext uri="{FF2B5EF4-FFF2-40B4-BE49-F238E27FC236}">
                <a16:creationId xmlns:a16="http://schemas.microsoft.com/office/drawing/2014/main" id="{EDA188EC-031B-FF1F-D7E5-9B3292D45501}"/>
              </a:ext>
            </a:extLst>
          </p:cNvPr>
          <p:cNvSpPr txBox="1"/>
          <p:nvPr/>
        </p:nvSpPr>
        <p:spPr bwMode="auto">
          <a:xfrm>
            <a:off x="1992661" y="938810"/>
            <a:ext cx="2345745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Solutions ? (Excel)</a:t>
            </a:r>
            <a:endParaRPr dirty="0"/>
          </a:p>
        </p:txBody>
      </p:sp>
      <p:sp>
        <p:nvSpPr>
          <p:cNvPr id="239403588" name="Google Shape;536;p35">
            <a:extLst>
              <a:ext uri="{FF2B5EF4-FFF2-40B4-BE49-F238E27FC236}">
                <a16:creationId xmlns:a16="http://schemas.microsoft.com/office/drawing/2014/main" id="{B688F096-D76A-F556-20A8-3CE8C0BDEC29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1988852" y="529464"/>
            <a:ext cx="5254630" cy="62902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defRPr/>
            </a:pPr>
            <a:r>
              <a:rPr lang="fr-CH" dirty="0" err="1"/>
              <a:t>Problematics</a:t>
            </a:r>
            <a:endParaRPr lang="fr-CH" dirty="0">
              <a:latin typeface="Archivo"/>
              <a:ea typeface="Archivo"/>
              <a:cs typeface="Archivo"/>
            </a:endParaRPr>
          </a:p>
        </p:txBody>
      </p:sp>
      <p:sp>
        <p:nvSpPr>
          <p:cNvPr id="823150496" name="Google Shape;538;p35">
            <a:extLst>
              <a:ext uri="{FF2B5EF4-FFF2-40B4-BE49-F238E27FC236}">
                <a16:creationId xmlns:a16="http://schemas.microsoft.com/office/drawing/2014/main" id="{A0886756-CA73-9D9C-473A-719C42F831D8}"/>
              </a:ext>
            </a:extLst>
          </p:cNvPr>
          <p:cNvSpPr txBox="1"/>
          <p:nvPr/>
        </p:nvSpPr>
        <p:spPr bwMode="auto">
          <a:xfrm>
            <a:off x="774794" y="508739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>
                <a:solidFill>
                  <a:schemeClr val="bg1"/>
                </a:solidFill>
                <a:latin typeface="Archivo Black"/>
                <a:cs typeface="Archivo Black"/>
              </a:rPr>
              <a:t>1</a:t>
            </a:r>
            <a:endParaRPr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14206735-E57A-7A89-BE6C-69F8C3D7BE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6167" y="1394067"/>
            <a:ext cx="1099528" cy="102311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Use Excel Data Validation for Entering Dates">
            <a:extLst>
              <a:ext uri="{FF2B5EF4-FFF2-40B4-BE49-F238E27FC236}">
                <a16:creationId xmlns:a16="http://schemas.microsoft.com/office/drawing/2014/main" id="{7F10734E-8A1A-E0C1-4224-B0869FD3A4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553"/>
          <a:stretch>
            <a:fillRect/>
          </a:stretch>
        </p:blipFill>
        <p:spPr bwMode="auto">
          <a:xfrm>
            <a:off x="6715398" y="2195314"/>
            <a:ext cx="3038475" cy="130113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Excel Will Not Open Macro Enabled Workbooks - Software &amp; Applications -  Spiceworks Community">
            <a:extLst>
              <a:ext uri="{FF2B5EF4-FFF2-40B4-BE49-F238E27FC236}">
                <a16:creationId xmlns:a16="http://schemas.microsoft.com/office/drawing/2014/main" id="{AEEC4533-C367-7D89-07F7-A6510178A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8696" y="831827"/>
            <a:ext cx="2422431" cy="81115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537;p35">
            <a:extLst>
              <a:ext uri="{FF2B5EF4-FFF2-40B4-BE49-F238E27FC236}">
                <a16:creationId xmlns:a16="http://schemas.microsoft.com/office/drawing/2014/main" id="{8DA34300-E483-D5DB-DCFA-763670337D7A}"/>
              </a:ext>
            </a:extLst>
          </p:cNvPr>
          <p:cNvSpPr txBox="1"/>
          <p:nvPr/>
        </p:nvSpPr>
        <p:spPr bwMode="auto">
          <a:xfrm>
            <a:off x="774793" y="1725666"/>
            <a:ext cx="2748335" cy="6290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Technical </a:t>
            </a:r>
            <a:r>
              <a:rPr lang="fr-CH" sz="1600" b="1" dirty="0" err="1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instability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 :</a:t>
            </a:r>
            <a:endParaRPr lang="fr-FR" sz="1600" dirty="0">
              <a:solidFill>
                <a:schemeClr val="bg1">
                  <a:lumMod val="10000"/>
                </a:schemeClr>
              </a:solidFill>
              <a:latin typeface="Manrope" pitchFamily="2" charset="0"/>
            </a:endParaRPr>
          </a:p>
          <a:p>
            <a:pPr>
              <a:defRPr/>
            </a:pP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Too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much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 macros</a:t>
            </a:r>
            <a:b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6606B5A-BC37-2641-3C2B-E0761D050A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9330" y="2652754"/>
            <a:ext cx="2355047" cy="169527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052" name="Picture 4" descr="Macro Errors in Excel - Step by Step Tutorial">
            <a:extLst>
              <a:ext uri="{FF2B5EF4-FFF2-40B4-BE49-F238E27FC236}">
                <a16:creationId xmlns:a16="http://schemas.microsoft.com/office/drawing/2014/main" id="{42EEAC0D-878F-CED2-E526-4F27A893B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0836" y="1158490"/>
            <a:ext cx="2301234" cy="151711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775D8CC-11EB-EC55-EFE0-189505B75F3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5931" y="3426948"/>
            <a:ext cx="2479296" cy="163138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E1A9D26-6B11-9DEA-975F-788B499115C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900270"/>
            <a:ext cx="774793" cy="416049"/>
          </a:xfrm>
          <a:prstGeom prst="rect">
            <a:avLst/>
          </a:prstGeom>
        </p:spPr>
      </p:pic>
      <p:sp>
        <p:nvSpPr>
          <p:cNvPr id="6" name="Google Shape;537;p35">
            <a:extLst>
              <a:ext uri="{FF2B5EF4-FFF2-40B4-BE49-F238E27FC236}">
                <a16:creationId xmlns:a16="http://schemas.microsoft.com/office/drawing/2014/main" id="{CA1A0F5A-1D50-D0F3-8B24-EBB6C96D8822}"/>
              </a:ext>
            </a:extLst>
          </p:cNvPr>
          <p:cNvSpPr txBox="1"/>
          <p:nvPr/>
        </p:nvSpPr>
        <p:spPr bwMode="auto">
          <a:xfrm>
            <a:off x="774311" y="2571750"/>
            <a:ext cx="2748335" cy="6290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Heavy </a:t>
            </a:r>
            <a:r>
              <a:rPr lang="fr-CH" sz="1600" b="1" dirty="0" err="1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ergonomics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 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/>
              </a:rPr>
              <a:t>:</a:t>
            </a:r>
          </a:p>
          <a:p>
            <a:pPr>
              <a:defRPr/>
            </a:pP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UI 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is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not user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friendly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</a:t>
            </a:r>
            <a:b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sp>
        <p:nvSpPr>
          <p:cNvPr id="7" name="Google Shape;537;p35">
            <a:extLst>
              <a:ext uri="{FF2B5EF4-FFF2-40B4-BE49-F238E27FC236}">
                <a16:creationId xmlns:a16="http://schemas.microsoft.com/office/drawing/2014/main" id="{D9FB3E08-DBCE-0E29-22A5-17BD102D7F31}"/>
              </a:ext>
            </a:extLst>
          </p:cNvPr>
          <p:cNvSpPr txBox="1"/>
          <p:nvPr/>
        </p:nvSpPr>
        <p:spPr bwMode="auto">
          <a:xfrm>
            <a:off x="774312" y="3422370"/>
            <a:ext cx="2748335" cy="782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 err="1">
                <a:solidFill>
                  <a:schemeClr val="bg1">
                    <a:lumMod val="10000"/>
                  </a:schemeClr>
                </a:solidFill>
                <a:latin typeface="Manrope"/>
              </a:rPr>
              <a:t>Archiving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/>
              </a:rPr>
              <a:t> not possible :</a:t>
            </a:r>
          </a:p>
          <a:p>
            <a:pPr>
              <a:defRPr/>
            </a:pP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Not possible to put PDF</a:t>
            </a:r>
            <a:b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sp>
        <p:nvSpPr>
          <p:cNvPr id="8" name="Google Shape;537;p35">
            <a:extLst>
              <a:ext uri="{FF2B5EF4-FFF2-40B4-BE49-F238E27FC236}">
                <a16:creationId xmlns:a16="http://schemas.microsoft.com/office/drawing/2014/main" id="{DDFA29FE-415D-C604-683E-A61D7211CC88}"/>
              </a:ext>
            </a:extLst>
          </p:cNvPr>
          <p:cNvSpPr txBox="1"/>
          <p:nvPr/>
        </p:nvSpPr>
        <p:spPr bwMode="auto">
          <a:xfrm>
            <a:off x="17374383" y="1582328"/>
            <a:ext cx="2291493" cy="3565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 err="1">
                <a:latin typeface="Manrope" pitchFamily="2" charset="0"/>
              </a:rPr>
              <a:t>Results</a:t>
            </a: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sp>
        <p:nvSpPr>
          <p:cNvPr id="10" name="Google Shape;537;p35">
            <a:extLst>
              <a:ext uri="{FF2B5EF4-FFF2-40B4-BE49-F238E27FC236}">
                <a16:creationId xmlns:a16="http://schemas.microsoft.com/office/drawing/2014/main" id="{2078DB90-A240-A4E8-5AB3-7E5C654EC305}"/>
              </a:ext>
            </a:extLst>
          </p:cNvPr>
          <p:cNvSpPr txBox="1"/>
          <p:nvPr/>
        </p:nvSpPr>
        <p:spPr bwMode="auto">
          <a:xfrm>
            <a:off x="27809464" y="1551908"/>
            <a:ext cx="2502896" cy="3565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>
                <a:latin typeface="Manrope" pitchFamily="2" charset="0"/>
              </a:rPr>
              <a:t>Work logs</a:t>
            </a:r>
            <a:endParaRPr lang="fr-FR" sz="1600" dirty="0">
              <a:latin typeface="Manrope" pitchFamily="2" charset="0"/>
            </a:endParaRPr>
          </a:p>
        </p:txBody>
      </p:sp>
      <p:sp>
        <p:nvSpPr>
          <p:cNvPr id="12" name="Google Shape;537;p35">
            <a:extLst>
              <a:ext uri="{FF2B5EF4-FFF2-40B4-BE49-F238E27FC236}">
                <a16:creationId xmlns:a16="http://schemas.microsoft.com/office/drawing/2014/main" id="{3FA3EC2C-D260-8309-F9D8-F0043F8AD6BE}"/>
              </a:ext>
            </a:extLst>
          </p:cNvPr>
          <p:cNvSpPr txBox="1"/>
          <p:nvPr/>
        </p:nvSpPr>
        <p:spPr bwMode="auto">
          <a:xfrm>
            <a:off x="11732354" y="1581391"/>
            <a:ext cx="2358550" cy="3575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 err="1">
                <a:latin typeface="Manrope" pitchFamily="2" charset="0"/>
              </a:rPr>
              <a:t>Average</a:t>
            </a:r>
            <a:r>
              <a:rPr lang="fr-CH" sz="1600" b="1" dirty="0">
                <a:latin typeface="Manrope" pitchFamily="2" charset="0"/>
              </a:rPr>
              <a:t> rating</a:t>
            </a:r>
            <a:endParaRPr lang="fr-FR" sz="1600" dirty="0">
              <a:latin typeface="Manrope" pitchFamily="2" charset="0"/>
            </a:endParaRPr>
          </a:p>
        </p:txBody>
      </p:sp>
      <p:sp>
        <p:nvSpPr>
          <p:cNvPr id="13" name="Google Shape;537;p35">
            <a:extLst>
              <a:ext uri="{FF2B5EF4-FFF2-40B4-BE49-F238E27FC236}">
                <a16:creationId xmlns:a16="http://schemas.microsoft.com/office/drawing/2014/main" id="{91F872BC-4837-C945-0A4E-1B34627F7662}"/>
              </a:ext>
            </a:extLst>
          </p:cNvPr>
          <p:cNvSpPr txBox="1"/>
          <p:nvPr/>
        </p:nvSpPr>
        <p:spPr bwMode="auto">
          <a:xfrm>
            <a:off x="11732354" y="3317932"/>
            <a:ext cx="2358550" cy="7568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Did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I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calculate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correctly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?</a:t>
            </a: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sp>
        <p:nvSpPr>
          <p:cNvPr id="14" name="Google Shape;537;p35">
            <a:extLst>
              <a:ext uri="{FF2B5EF4-FFF2-40B4-BE49-F238E27FC236}">
                <a16:creationId xmlns:a16="http://schemas.microsoft.com/office/drawing/2014/main" id="{C5731BDA-4A1B-096F-4BD3-90D3CFCFB09B}"/>
              </a:ext>
            </a:extLst>
          </p:cNvPr>
          <p:cNvSpPr txBox="1"/>
          <p:nvPr/>
        </p:nvSpPr>
        <p:spPr bwMode="auto">
          <a:xfrm>
            <a:off x="11732354" y="2633312"/>
            <a:ext cx="2358550" cy="7568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How do I calculate my average ?</a:t>
            </a:r>
            <a:endParaRPr sz="1600" dirty="0"/>
          </a:p>
        </p:txBody>
      </p:sp>
      <p:sp>
        <p:nvSpPr>
          <p:cNvPr id="15" name="Google Shape;537;p35">
            <a:extLst>
              <a:ext uri="{FF2B5EF4-FFF2-40B4-BE49-F238E27FC236}">
                <a16:creationId xmlns:a16="http://schemas.microsoft.com/office/drawing/2014/main" id="{F128EC94-8C66-B00F-5553-BEF49E0A5005}"/>
              </a:ext>
            </a:extLst>
          </p:cNvPr>
          <p:cNvSpPr txBox="1"/>
          <p:nvPr/>
        </p:nvSpPr>
        <p:spPr bwMode="auto">
          <a:xfrm>
            <a:off x="11732354" y="1916455"/>
            <a:ext cx="2358550" cy="7568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What is my current average ?</a:t>
            </a:r>
            <a:endParaRPr sz="1600" dirty="0"/>
          </a:p>
        </p:txBody>
      </p:sp>
      <p:sp>
        <p:nvSpPr>
          <p:cNvPr id="16" name="Google Shape;537;p35">
            <a:extLst>
              <a:ext uri="{FF2B5EF4-FFF2-40B4-BE49-F238E27FC236}">
                <a16:creationId xmlns:a16="http://schemas.microsoft.com/office/drawing/2014/main" id="{7C75AAAA-DB2F-152C-AF44-9180BABCB027}"/>
              </a:ext>
            </a:extLst>
          </p:cNvPr>
          <p:cNvSpPr txBox="1"/>
          <p:nvPr/>
        </p:nvSpPr>
        <p:spPr bwMode="auto">
          <a:xfrm>
            <a:off x="17302574" y="2640978"/>
            <a:ext cx="2291493" cy="6290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Where should I record my results ?</a:t>
            </a: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</p:txBody>
      </p:sp>
      <p:sp>
        <p:nvSpPr>
          <p:cNvPr id="17" name="Google Shape;537;p35">
            <a:extLst>
              <a:ext uri="{FF2B5EF4-FFF2-40B4-BE49-F238E27FC236}">
                <a16:creationId xmlns:a16="http://schemas.microsoft.com/office/drawing/2014/main" id="{C117FB36-6CB2-928C-FB76-A0AE234B638C}"/>
              </a:ext>
            </a:extLst>
          </p:cNvPr>
          <p:cNvSpPr txBox="1"/>
          <p:nvPr/>
        </p:nvSpPr>
        <p:spPr bwMode="auto">
          <a:xfrm>
            <a:off x="17351342" y="1914758"/>
            <a:ext cx="2291493" cy="62902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Where did I put my proof ?</a:t>
            </a: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sp>
        <p:nvSpPr>
          <p:cNvPr id="18" name="Google Shape;537;p35">
            <a:extLst>
              <a:ext uri="{FF2B5EF4-FFF2-40B4-BE49-F238E27FC236}">
                <a16:creationId xmlns:a16="http://schemas.microsoft.com/office/drawing/2014/main" id="{F429955E-A58C-25A5-F9A5-DC3E2C4CDD41}"/>
              </a:ext>
            </a:extLst>
          </p:cNvPr>
          <p:cNvSpPr txBox="1"/>
          <p:nvPr/>
        </p:nvSpPr>
        <p:spPr bwMode="auto">
          <a:xfrm>
            <a:off x="27778811" y="1938909"/>
            <a:ext cx="2291493" cy="62902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Where should I keep my work journal ?</a:t>
            </a: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sp>
        <p:nvSpPr>
          <p:cNvPr id="19" name="Google Shape;537;p35">
            <a:extLst>
              <a:ext uri="{FF2B5EF4-FFF2-40B4-BE49-F238E27FC236}">
                <a16:creationId xmlns:a16="http://schemas.microsoft.com/office/drawing/2014/main" id="{9C175745-455B-355A-A179-43C28570905E}"/>
              </a:ext>
            </a:extLst>
          </p:cNvPr>
          <p:cNvSpPr txBox="1"/>
          <p:nvPr/>
        </p:nvSpPr>
        <p:spPr bwMode="auto">
          <a:xfrm>
            <a:off x="27733431" y="2640978"/>
            <a:ext cx="2291493" cy="62902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How much time did I spend on that task ?</a:t>
            </a: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24184265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546617CF-0580-8B10-C19D-E7543C34FF2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Google Shape;537;p35">
            <a:extLst>
              <a:ext uri="{FF2B5EF4-FFF2-40B4-BE49-F238E27FC236}">
                <a16:creationId xmlns:a16="http://schemas.microsoft.com/office/drawing/2014/main" id="{59774AF8-DAAC-91D4-3C4F-7D89429B9AB1}"/>
              </a:ext>
            </a:extLst>
          </p:cNvPr>
          <p:cNvSpPr txBox="1"/>
          <p:nvPr/>
        </p:nvSpPr>
        <p:spPr bwMode="auto">
          <a:xfrm>
            <a:off x="-5420075" y="938810"/>
            <a:ext cx="2345745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Solutions ? (Excel)</a:t>
            </a:r>
            <a:endParaRPr dirty="0"/>
          </a:p>
        </p:txBody>
      </p:sp>
      <p:sp>
        <p:nvSpPr>
          <p:cNvPr id="611398426" name="Google Shape;537;p35">
            <a:extLst>
              <a:ext uri="{FF2B5EF4-FFF2-40B4-BE49-F238E27FC236}">
                <a16:creationId xmlns:a16="http://schemas.microsoft.com/office/drawing/2014/main" id="{4E0A859F-40C3-8336-A3F6-E7F30185EB1B}"/>
              </a:ext>
            </a:extLst>
          </p:cNvPr>
          <p:cNvSpPr txBox="1"/>
          <p:nvPr/>
        </p:nvSpPr>
        <p:spPr bwMode="auto">
          <a:xfrm>
            <a:off x="1992661" y="938810"/>
            <a:ext cx="2919997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Solutions ? (Cloud app)</a:t>
            </a:r>
            <a:endParaRPr dirty="0"/>
          </a:p>
        </p:txBody>
      </p:sp>
      <p:sp>
        <p:nvSpPr>
          <p:cNvPr id="239403588" name="Google Shape;536;p35">
            <a:extLst>
              <a:ext uri="{FF2B5EF4-FFF2-40B4-BE49-F238E27FC236}">
                <a16:creationId xmlns:a16="http://schemas.microsoft.com/office/drawing/2014/main" id="{9F029931-38FB-7806-20FE-B33C00AE822E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1988852" y="529464"/>
            <a:ext cx="5254630" cy="62902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defRPr/>
            </a:pPr>
            <a:r>
              <a:rPr lang="fr-CH" dirty="0" err="1"/>
              <a:t>Problematics</a:t>
            </a:r>
            <a:endParaRPr lang="fr-CH" dirty="0">
              <a:latin typeface="Archivo"/>
              <a:ea typeface="Archivo"/>
              <a:cs typeface="Archivo"/>
            </a:endParaRPr>
          </a:p>
        </p:txBody>
      </p:sp>
      <p:sp>
        <p:nvSpPr>
          <p:cNvPr id="823150496" name="Google Shape;538;p35">
            <a:extLst>
              <a:ext uri="{FF2B5EF4-FFF2-40B4-BE49-F238E27FC236}">
                <a16:creationId xmlns:a16="http://schemas.microsoft.com/office/drawing/2014/main" id="{FC8E5544-0963-EE0E-8D27-D820DCCF347C}"/>
              </a:ext>
            </a:extLst>
          </p:cNvPr>
          <p:cNvSpPr txBox="1"/>
          <p:nvPr/>
        </p:nvSpPr>
        <p:spPr bwMode="auto">
          <a:xfrm>
            <a:off x="774794" y="508739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>
                <a:solidFill>
                  <a:schemeClr val="bg1"/>
                </a:solidFill>
                <a:latin typeface="Archivo Black"/>
                <a:cs typeface="Archivo Black"/>
              </a:rPr>
              <a:t>1</a:t>
            </a:r>
            <a:endParaRPr/>
          </a:p>
        </p:txBody>
      </p:sp>
      <p:sp>
        <p:nvSpPr>
          <p:cNvPr id="7" name="Google Shape;537;p35">
            <a:extLst>
              <a:ext uri="{FF2B5EF4-FFF2-40B4-BE49-F238E27FC236}">
                <a16:creationId xmlns:a16="http://schemas.microsoft.com/office/drawing/2014/main" id="{060BD134-E9E7-4DB1-9EAD-A60D734F93DA}"/>
              </a:ext>
            </a:extLst>
          </p:cNvPr>
          <p:cNvSpPr txBox="1"/>
          <p:nvPr/>
        </p:nvSpPr>
        <p:spPr bwMode="auto">
          <a:xfrm>
            <a:off x="774794" y="1725665"/>
            <a:ext cx="2712478" cy="8460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 err="1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Confidentiality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 :</a:t>
            </a:r>
            <a:endParaRPr lang="fr-FR" sz="1600" dirty="0">
              <a:solidFill>
                <a:schemeClr val="bg1">
                  <a:lumMod val="10000"/>
                </a:schemeClr>
              </a:solidFill>
              <a:latin typeface="Manrope" pitchFamily="2" charset="0"/>
            </a:endParaRPr>
          </a:p>
          <a:p>
            <a:pPr>
              <a:defRPr/>
            </a:pP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You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don’t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really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own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your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own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 data </a:t>
            </a:r>
            <a:b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5E7191B-560F-A13A-E383-6805EAEBB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7944" y="2571750"/>
            <a:ext cx="1106426" cy="148437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078" name="Picture 6" descr="6 Steps to Maintaining Confidentiality and Privacy for Family Offices">
            <a:extLst>
              <a:ext uri="{FF2B5EF4-FFF2-40B4-BE49-F238E27FC236}">
                <a16:creationId xmlns:a16="http://schemas.microsoft.com/office/drawing/2014/main" id="{56268E96-32C9-E696-0413-0A85AD8886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6167" y="1316320"/>
            <a:ext cx="2541223" cy="16965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Faster Icon Png 0 Copy - Time Consuming Icon Png, Transparent Png - kindpng">
            <a:extLst>
              <a:ext uri="{FF2B5EF4-FFF2-40B4-BE49-F238E27FC236}">
                <a16:creationId xmlns:a16="http://schemas.microsoft.com/office/drawing/2014/main" id="{36E5E405-8CFF-C075-B49E-53C58B208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9097" y="3362223"/>
            <a:ext cx="1893991" cy="168493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E4476B88-030A-FE4A-FFED-C52A8ECCAE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0" y="900270"/>
            <a:ext cx="774793" cy="416049"/>
          </a:xfrm>
          <a:prstGeom prst="rect">
            <a:avLst/>
          </a:prstGeom>
        </p:spPr>
      </p:pic>
      <p:pic>
        <p:nvPicPr>
          <p:cNvPr id="4" name="Picture 6">
            <a:extLst>
              <a:ext uri="{FF2B5EF4-FFF2-40B4-BE49-F238E27FC236}">
                <a16:creationId xmlns:a16="http://schemas.microsoft.com/office/drawing/2014/main" id="{F7C97370-3348-0B7A-827E-823286BAAC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859903">
            <a:off x="-1432415" y="7561188"/>
            <a:ext cx="1099528" cy="102311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Use Excel Data Validation for Entering Dates">
            <a:extLst>
              <a:ext uri="{FF2B5EF4-FFF2-40B4-BE49-F238E27FC236}">
                <a16:creationId xmlns:a16="http://schemas.microsoft.com/office/drawing/2014/main" id="{D9344821-0BD0-DFE5-8584-67E7C3E854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553"/>
          <a:stretch>
            <a:fillRect/>
          </a:stretch>
        </p:blipFill>
        <p:spPr bwMode="auto">
          <a:xfrm rot="3429344">
            <a:off x="10786955" y="5263634"/>
            <a:ext cx="3038475" cy="130113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Excel Will Not Open Macro Enabled Workbooks - Software &amp; Applications -  Spiceworks Community">
            <a:extLst>
              <a:ext uri="{FF2B5EF4-FFF2-40B4-BE49-F238E27FC236}">
                <a16:creationId xmlns:a16="http://schemas.microsoft.com/office/drawing/2014/main" id="{5AD253CB-12F6-F193-8526-BFFC1E46E5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358580">
            <a:off x="11538649" y="-911979"/>
            <a:ext cx="2422431" cy="811156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2342C1A-D511-9DD2-1397-766C9FE50FB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 bwMode="auto">
          <a:xfrm rot="20825762">
            <a:off x="2398055" y="7550440"/>
            <a:ext cx="2355047" cy="169527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4" descr="Macro Errors in Excel - Step by Step Tutorial">
            <a:extLst>
              <a:ext uri="{FF2B5EF4-FFF2-40B4-BE49-F238E27FC236}">
                <a16:creationId xmlns:a16="http://schemas.microsoft.com/office/drawing/2014/main" id="{2B7CAB5A-DCF5-A661-F2A6-46551497A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28684">
            <a:off x="11840408" y="1588632"/>
            <a:ext cx="2301234" cy="151711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60B6C58F-09F5-D2C9-889A-A158AD13E48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 bwMode="auto">
          <a:xfrm rot="2349250">
            <a:off x="7369777" y="7582388"/>
            <a:ext cx="2479296" cy="163138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Google Shape;537;p35">
            <a:extLst>
              <a:ext uri="{FF2B5EF4-FFF2-40B4-BE49-F238E27FC236}">
                <a16:creationId xmlns:a16="http://schemas.microsoft.com/office/drawing/2014/main" id="{C21B4E2D-6E8C-5382-08C1-3018E88C8893}"/>
              </a:ext>
            </a:extLst>
          </p:cNvPr>
          <p:cNvSpPr txBox="1"/>
          <p:nvPr/>
        </p:nvSpPr>
        <p:spPr bwMode="auto">
          <a:xfrm>
            <a:off x="774794" y="2689859"/>
            <a:ext cx="2712478" cy="88818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Internet </a:t>
            </a:r>
            <a:r>
              <a:rPr lang="fr-CH" sz="1600" b="1" dirty="0" err="1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only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 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/>
              </a:rPr>
              <a:t>:</a:t>
            </a:r>
          </a:p>
          <a:p>
            <a:pPr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No access to your results or scans when offline</a:t>
            </a:r>
            <a:b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sp>
        <p:nvSpPr>
          <p:cNvPr id="14" name="Google Shape;537;p35">
            <a:extLst>
              <a:ext uri="{FF2B5EF4-FFF2-40B4-BE49-F238E27FC236}">
                <a16:creationId xmlns:a16="http://schemas.microsoft.com/office/drawing/2014/main" id="{553DF2D3-8598-2BA9-4D05-FD6E1F45FD0D}"/>
              </a:ext>
            </a:extLst>
          </p:cNvPr>
          <p:cNvSpPr txBox="1"/>
          <p:nvPr/>
        </p:nvSpPr>
        <p:spPr bwMode="auto">
          <a:xfrm>
            <a:off x="774794" y="3701220"/>
            <a:ext cx="2712478" cy="9731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/>
              </a:rPr>
              <a:t>time </a:t>
            </a:r>
            <a:r>
              <a:rPr lang="fr-CH" sz="1600" b="1" dirty="0" err="1">
                <a:solidFill>
                  <a:schemeClr val="bg1">
                    <a:lumMod val="10000"/>
                  </a:schemeClr>
                </a:solidFill>
                <a:latin typeface="Manrope"/>
              </a:rPr>
              <a:t>consuming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/>
              </a:rPr>
              <a:t> :</a:t>
            </a:r>
          </a:p>
          <a:p>
            <a:pPr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You build your own databases from scratch</a:t>
            </a:r>
            <a:b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sp>
        <p:nvSpPr>
          <p:cNvPr id="15" name="Google Shape;536;p35">
            <a:extLst>
              <a:ext uri="{FF2B5EF4-FFF2-40B4-BE49-F238E27FC236}">
                <a16:creationId xmlns:a16="http://schemas.microsoft.com/office/drawing/2014/main" id="{7D0F416A-2728-7B7A-548A-F414025568B0}"/>
              </a:ext>
            </a:extLst>
          </p:cNvPr>
          <p:cNvSpPr txBox="1">
            <a:spLocks/>
          </p:cNvSpPr>
          <p:nvPr/>
        </p:nvSpPr>
        <p:spPr bwMode="auto">
          <a:xfrm>
            <a:off x="-3752195" y="529464"/>
            <a:ext cx="4410900" cy="629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9pPr>
          </a:lstStyle>
          <a:p>
            <a:pPr>
              <a:defRPr/>
            </a:pPr>
            <a:r>
              <a:rPr lang="fr-CH"/>
              <a:t>Needs</a:t>
            </a:r>
            <a:endParaRPr lang="fr-CH" dirty="0">
              <a:latin typeface="Archivo"/>
              <a:ea typeface="Archivo"/>
              <a:cs typeface="Archivo"/>
            </a:endParaRPr>
          </a:p>
        </p:txBody>
      </p:sp>
      <p:sp>
        <p:nvSpPr>
          <p:cNvPr id="16" name="Google Shape;538;p35">
            <a:extLst>
              <a:ext uri="{FF2B5EF4-FFF2-40B4-BE49-F238E27FC236}">
                <a16:creationId xmlns:a16="http://schemas.microsoft.com/office/drawing/2014/main" id="{B33A8191-042E-376D-065C-32B67D577E63}"/>
              </a:ext>
            </a:extLst>
          </p:cNvPr>
          <p:cNvSpPr txBox="1"/>
          <p:nvPr/>
        </p:nvSpPr>
        <p:spPr bwMode="auto">
          <a:xfrm>
            <a:off x="-4966253" y="508739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 dirty="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 dirty="0">
                <a:solidFill>
                  <a:schemeClr val="bg1"/>
                </a:solidFill>
                <a:latin typeface="Archivo Black"/>
                <a:cs typeface="Archivo Black"/>
              </a:rPr>
              <a:t>2</a:t>
            </a:r>
            <a:endParaRPr dirty="0"/>
          </a:p>
        </p:txBody>
      </p:sp>
      <p:sp>
        <p:nvSpPr>
          <p:cNvPr id="17" name="Google Shape;537;p35">
            <a:extLst>
              <a:ext uri="{FF2B5EF4-FFF2-40B4-BE49-F238E27FC236}">
                <a16:creationId xmlns:a16="http://schemas.microsoft.com/office/drawing/2014/main" id="{1870C394-1DF5-17C4-1BA7-41BA1264C887}"/>
              </a:ext>
            </a:extLst>
          </p:cNvPr>
          <p:cNvSpPr txBox="1"/>
          <p:nvPr/>
        </p:nvSpPr>
        <p:spPr bwMode="auto">
          <a:xfrm>
            <a:off x="-3748386" y="938810"/>
            <a:ext cx="3913463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What</a:t>
            </a: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a </a:t>
            </a:r>
            <a:r>
              <a:rPr lang="fr-CH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student</a:t>
            </a: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</a:t>
            </a:r>
            <a:r>
              <a:rPr lang="fr-CH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really</a:t>
            </a: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</a:t>
            </a:r>
            <a:r>
              <a:rPr lang="fr-CH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need</a:t>
            </a: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?</a:t>
            </a:r>
            <a:endParaRPr dirty="0"/>
          </a:p>
        </p:txBody>
      </p:sp>
      <p:sp>
        <p:nvSpPr>
          <p:cNvPr id="18" name="Google Shape;537;p35">
            <a:extLst>
              <a:ext uri="{FF2B5EF4-FFF2-40B4-BE49-F238E27FC236}">
                <a16:creationId xmlns:a16="http://schemas.microsoft.com/office/drawing/2014/main" id="{D5C8A3E4-7782-DC69-D543-A63E629645A6}"/>
              </a:ext>
            </a:extLst>
          </p:cNvPr>
          <p:cNvSpPr txBox="1"/>
          <p:nvPr/>
        </p:nvSpPr>
        <p:spPr bwMode="auto">
          <a:xfrm>
            <a:off x="17199284" y="1725666"/>
            <a:ext cx="2748335" cy="6290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Technical </a:t>
            </a:r>
            <a:r>
              <a:rPr lang="fr-CH" sz="1600" b="1" dirty="0" err="1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instability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 :</a:t>
            </a:r>
            <a:endParaRPr lang="fr-FR" sz="1600" dirty="0">
              <a:solidFill>
                <a:schemeClr val="bg1">
                  <a:lumMod val="10000"/>
                </a:schemeClr>
              </a:solidFill>
              <a:latin typeface="Manrope" pitchFamily="2" charset="0"/>
            </a:endParaRPr>
          </a:p>
          <a:p>
            <a:pPr>
              <a:defRPr/>
            </a:pP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Too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much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 macros</a:t>
            </a:r>
            <a:b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sp>
        <p:nvSpPr>
          <p:cNvPr id="19" name="Google Shape;537;p35">
            <a:extLst>
              <a:ext uri="{FF2B5EF4-FFF2-40B4-BE49-F238E27FC236}">
                <a16:creationId xmlns:a16="http://schemas.microsoft.com/office/drawing/2014/main" id="{AF546C73-2FFB-5B20-652F-1114E8D22C35}"/>
              </a:ext>
            </a:extLst>
          </p:cNvPr>
          <p:cNvSpPr txBox="1"/>
          <p:nvPr/>
        </p:nvSpPr>
        <p:spPr bwMode="auto">
          <a:xfrm>
            <a:off x="13066634" y="2571750"/>
            <a:ext cx="2748335" cy="6290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Heavy </a:t>
            </a:r>
            <a:r>
              <a:rPr lang="fr-CH" sz="1600" b="1" dirty="0" err="1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ergonomics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 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/>
              </a:rPr>
              <a:t>:</a:t>
            </a:r>
          </a:p>
          <a:p>
            <a:pPr>
              <a:defRPr/>
            </a:pP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UI 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is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not user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friendly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</a:t>
            </a:r>
            <a:b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sp>
        <p:nvSpPr>
          <p:cNvPr id="20" name="Google Shape;537;p35">
            <a:extLst>
              <a:ext uri="{FF2B5EF4-FFF2-40B4-BE49-F238E27FC236}">
                <a16:creationId xmlns:a16="http://schemas.microsoft.com/office/drawing/2014/main" id="{6CBF3956-0928-5A73-912D-1BEBDF65CA9F}"/>
              </a:ext>
            </a:extLst>
          </p:cNvPr>
          <p:cNvSpPr txBox="1"/>
          <p:nvPr/>
        </p:nvSpPr>
        <p:spPr bwMode="auto">
          <a:xfrm>
            <a:off x="9709972" y="3422370"/>
            <a:ext cx="2748335" cy="782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 err="1">
                <a:solidFill>
                  <a:schemeClr val="bg1">
                    <a:lumMod val="10000"/>
                  </a:schemeClr>
                </a:solidFill>
                <a:latin typeface="Manrope"/>
              </a:rPr>
              <a:t>Archiving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/>
              </a:rPr>
              <a:t> not possible :</a:t>
            </a:r>
          </a:p>
          <a:p>
            <a:pPr>
              <a:defRPr/>
            </a:pP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Not possible to put PDF</a:t>
            </a:r>
            <a:b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347011950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2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0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0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30C62713-5CF5-AB82-70FA-3DA8F2A5F6D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9403588" name="Google Shape;536;p35">
            <a:extLst>
              <a:ext uri="{FF2B5EF4-FFF2-40B4-BE49-F238E27FC236}">
                <a16:creationId xmlns:a16="http://schemas.microsoft.com/office/drawing/2014/main" id="{78AF69D3-7534-CAEE-B055-B3775D59C0C0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1988852" y="529464"/>
            <a:ext cx="4410900" cy="62902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defRPr/>
            </a:pPr>
            <a:r>
              <a:rPr lang="fr-CH" dirty="0"/>
              <a:t>Needs</a:t>
            </a:r>
            <a:endParaRPr dirty="0">
              <a:latin typeface="Archivo"/>
              <a:ea typeface="Archivo"/>
              <a:cs typeface="Archivo"/>
            </a:endParaRPr>
          </a:p>
        </p:txBody>
      </p:sp>
      <p:sp>
        <p:nvSpPr>
          <p:cNvPr id="823150496" name="Google Shape;538;p35">
            <a:extLst>
              <a:ext uri="{FF2B5EF4-FFF2-40B4-BE49-F238E27FC236}">
                <a16:creationId xmlns:a16="http://schemas.microsoft.com/office/drawing/2014/main" id="{8EF8F84A-E11C-4DB1-3BFF-68F7B50D57FC}"/>
              </a:ext>
            </a:extLst>
          </p:cNvPr>
          <p:cNvSpPr txBox="1"/>
          <p:nvPr/>
        </p:nvSpPr>
        <p:spPr bwMode="auto">
          <a:xfrm>
            <a:off x="774794" y="508739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 dirty="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 dirty="0">
                <a:solidFill>
                  <a:schemeClr val="bg1"/>
                </a:solidFill>
                <a:latin typeface="Archivo Black"/>
                <a:cs typeface="Archivo Black"/>
              </a:rPr>
              <a:t>2</a:t>
            </a:r>
            <a:endParaRPr dirty="0"/>
          </a:p>
        </p:txBody>
      </p:sp>
      <p:sp>
        <p:nvSpPr>
          <p:cNvPr id="611398426" name="Google Shape;537;p35">
            <a:extLst>
              <a:ext uri="{FF2B5EF4-FFF2-40B4-BE49-F238E27FC236}">
                <a16:creationId xmlns:a16="http://schemas.microsoft.com/office/drawing/2014/main" id="{E25A6023-07B9-E7D1-29E1-373214CA0976}"/>
              </a:ext>
            </a:extLst>
          </p:cNvPr>
          <p:cNvSpPr txBox="1"/>
          <p:nvPr/>
        </p:nvSpPr>
        <p:spPr bwMode="auto">
          <a:xfrm>
            <a:off x="1992661" y="938810"/>
            <a:ext cx="3913463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What</a:t>
            </a: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a </a:t>
            </a:r>
            <a:r>
              <a:rPr lang="fr-CH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student</a:t>
            </a: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</a:t>
            </a:r>
            <a:r>
              <a:rPr lang="fr-CH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really</a:t>
            </a: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</a:t>
            </a:r>
            <a:r>
              <a:rPr lang="fr-CH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need</a:t>
            </a: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?</a:t>
            </a:r>
            <a:endParaRPr dirty="0"/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D0A53098-643D-13D0-E8B0-73DE7DA867CE}"/>
              </a:ext>
            </a:extLst>
          </p:cNvPr>
          <p:cNvGrpSpPr/>
          <p:nvPr/>
        </p:nvGrpSpPr>
        <p:grpSpPr>
          <a:xfrm>
            <a:off x="2687933" y="1658485"/>
            <a:ext cx="1872346" cy="2342334"/>
            <a:chOff x="2687933" y="1658485"/>
            <a:chExt cx="1872346" cy="2342334"/>
          </a:xfrm>
        </p:grpSpPr>
        <p:sp>
          <p:nvSpPr>
            <p:cNvPr id="40" name="Rectangle : coins arrondis 39">
              <a:extLst>
                <a:ext uri="{FF2B5EF4-FFF2-40B4-BE49-F238E27FC236}">
                  <a16:creationId xmlns:a16="http://schemas.microsoft.com/office/drawing/2014/main" id="{C631EB2F-F319-7C19-C2A6-F778DBE50A46}"/>
                </a:ext>
              </a:extLst>
            </p:cNvPr>
            <p:cNvSpPr/>
            <p:nvPr/>
          </p:nvSpPr>
          <p:spPr bwMode="auto">
            <a:xfrm>
              <a:off x="2687933" y="1658485"/>
              <a:ext cx="1872346" cy="2342334"/>
            </a:xfrm>
            <a:prstGeom prst="roundRect">
              <a:avLst>
                <a:gd name="adj" fmla="val 4770"/>
              </a:avLst>
            </a:prstGeom>
            <a:solidFill>
              <a:srgbClr val="F8FEF8"/>
            </a:solidFill>
            <a:ln>
              <a:solidFill>
                <a:srgbClr val="92D05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41" name="Google Shape;537;p35">
              <a:extLst>
                <a:ext uri="{FF2B5EF4-FFF2-40B4-BE49-F238E27FC236}">
                  <a16:creationId xmlns:a16="http://schemas.microsoft.com/office/drawing/2014/main" id="{9B26D89F-591F-8552-E535-A874CAF6CEA4}"/>
                </a:ext>
              </a:extLst>
            </p:cNvPr>
            <p:cNvSpPr txBox="1"/>
            <p:nvPr/>
          </p:nvSpPr>
          <p:spPr bwMode="auto">
            <a:xfrm>
              <a:off x="2760983" y="2311848"/>
              <a:ext cx="1767817" cy="1633705"/>
            </a:xfrm>
            <a:prstGeom prst="rect">
              <a:avLst/>
            </a:prstGeom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>
                <a:defRPr/>
              </a:pPr>
              <a:r>
                <a:rPr lang="fr-CH" b="1" dirty="0">
                  <a:latin typeface="Manrope" pitchFamily="2" charset="0"/>
                </a:rPr>
                <a:t>All-in-One Hub</a:t>
              </a:r>
              <a:br>
                <a:rPr kumimoji="0" lang="fr-CH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</a:rPr>
              </a:br>
              <a:endParaRPr lang="en-US" sz="800" i="1" dirty="0">
                <a:solidFill>
                  <a:schemeClr val="bg1">
                    <a:lumMod val="25000"/>
                  </a:schemeClr>
                </a:solidFill>
                <a:latin typeface="Manrope"/>
              </a:endParaRPr>
            </a:p>
            <a:p>
              <a:pPr>
                <a:defRPr/>
              </a:pPr>
              <a:r>
                <a:rPr lang="en-US" sz="1200" i="1" dirty="0">
                  <a:solidFill>
                    <a:schemeClr val="bg1">
                      <a:lumMod val="25000"/>
                    </a:schemeClr>
                  </a:solidFill>
                  <a:latin typeface="Manrope"/>
                </a:rPr>
                <a:t>Grades, PDF scans, and work journals unified in a single, perfectly organized place.</a:t>
              </a:r>
              <a:endParaRPr lang="fr-FR" sz="1200" i="1" dirty="0">
                <a:solidFill>
                  <a:schemeClr val="bg1">
                    <a:lumMod val="25000"/>
                  </a:schemeClr>
                </a:solidFill>
                <a:latin typeface="Manrope"/>
              </a:endParaRPr>
            </a:p>
            <a:p>
              <a:pPr>
                <a:defRPr/>
              </a:pPr>
              <a:endParaRPr sz="1200" dirty="0"/>
            </a:p>
          </p:txBody>
        </p:sp>
        <p:pic>
          <p:nvPicPr>
            <p:cNvPr id="25" name="Graphique 24">
              <a:extLst>
                <a:ext uri="{FF2B5EF4-FFF2-40B4-BE49-F238E27FC236}">
                  <a16:creationId xmlns:a16="http://schemas.microsoft.com/office/drawing/2014/main" id="{7D0CAE80-CDA4-B8C7-5894-CB74ADA3ED0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796730" y="1779695"/>
              <a:ext cx="406131" cy="406131"/>
            </a:xfrm>
            <a:prstGeom prst="rect">
              <a:avLst/>
            </a:prstGeom>
          </p:spPr>
        </p:pic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573DF59B-152D-A1A6-BE63-B50914C285D1}"/>
              </a:ext>
            </a:extLst>
          </p:cNvPr>
          <p:cNvGrpSpPr/>
          <p:nvPr/>
        </p:nvGrpSpPr>
        <p:grpSpPr>
          <a:xfrm>
            <a:off x="639586" y="1658485"/>
            <a:ext cx="1867826" cy="2342334"/>
            <a:chOff x="639586" y="1658485"/>
            <a:chExt cx="1867826" cy="2342334"/>
          </a:xfrm>
        </p:grpSpPr>
        <p:sp>
          <p:nvSpPr>
            <p:cNvPr id="39" name="Rectangle : coins arrondis 38">
              <a:extLst>
                <a:ext uri="{FF2B5EF4-FFF2-40B4-BE49-F238E27FC236}">
                  <a16:creationId xmlns:a16="http://schemas.microsoft.com/office/drawing/2014/main" id="{75CC8CA8-CD32-473D-53BE-1BD2533F5029}"/>
                </a:ext>
              </a:extLst>
            </p:cNvPr>
            <p:cNvSpPr/>
            <p:nvPr/>
          </p:nvSpPr>
          <p:spPr>
            <a:xfrm>
              <a:off x="639586" y="1658485"/>
              <a:ext cx="1867826" cy="2342334"/>
            </a:xfrm>
            <a:prstGeom prst="roundRect">
              <a:avLst>
                <a:gd name="adj" fmla="val 4770"/>
              </a:avLst>
            </a:prstGeom>
            <a:solidFill>
              <a:srgbClr val="F8FAFE"/>
            </a:solidFill>
            <a:ln>
              <a:solidFill>
                <a:schemeClr val="tx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 dirty="0"/>
            </a:p>
          </p:txBody>
        </p:sp>
        <p:pic>
          <p:nvPicPr>
            <p:cNvPr id="29" name="Graphique 28">
              <a:extLst>
                <a:ext uri="{FF2B5EF4-FFF2-40B4-BE49-F238E27FC236}">
                  <a16:creationId xmlns:a16="http://schemas.microsoft.com/office/drawing/2014/main" id="{5465E2FD-10A9-9268-D16B-A08694892F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48383" y="1806521"/>
              <a:ext cx="406131" cy="406131"/>
            </a:xfrm>
            <a:prstGeom prst="rect">
              <a:avLst/>
            </a:prstGeom>
          </p:spPr>
        </p:pic>
        <p:sp>
          <p:nvSpPr>
            <p:cNvPr id="34" name="Google Shape;537;p35">
              <a:extLst>
                <a:ext uri="{FF2B5EF4-FFF2-40B4-BE49-F238E27FC236}">
                  <a16:creationId xmlns:a16="http://schemas.microsoft.com/office/drawing/2014/main" id="{55148866-A162-6F5B-CF15-44D84DC9E4F4}"/>
                </a:ext>
              </a:extLst>
            </p:cNvPr>
            <p:cNvSpPr txBox="1"/>
            <p:nvPr/>
          </p:nvSpPr>
          <p:spPr bwMode="auto">
            <a:xfrm>
              <a:off x="715886" y="2311848"/>
              <a:ext cx="1781366" cy="1638571"/>
            </a:xfrm>
            <a:prstGeom prst="rect">
              <a:avLst/>
            </a:prstGeom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fr-CH" sz="16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anrope" pitchFamily="2" charset="0"/>
                </a:rPr>
                <a:t>Automatic</a:t>
              </a:r>
              <a:r>
                <a:rPr kumimoji="0" lang="fr-CH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anrope" pitchFamily="2" charset="0"/>
                </a:rPr>
                <a:t> Math</a:t>
              </a:r>
              <a:br>
                <a:rPr kumimoji="0" lang="fr-CH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anrope" pitchFamily="2" charset="0"/>
                </a:rPr>
              </a:br>
              <a:endParaRPr lang="en-US" sz="8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endParaRPr>
            </a:p>
            <a:p>
              <a:pPr>
                <a:defRPr/>
              </a:pPr>
              <a:r>
                <a:rPr lang="en-US" sz="1200" i="1" dirty="0">
                  <a:solidFill>
                    <a:schemeClr val="bg1">
                      <a:lumMod val="25000"/>
                    </a:schemeClr>
                  </a:solidFill>
                  <a:latin typeface="Manrope"/>
                </a:rPr>
                <a:t>Instant, error-free weighted averages. </a:t>
              </a:r>
              <a:br>
                <a:rPr lang="en-US" sz="1200" i="1" dirty="0">
                  <a:solidFill>
                    <a:schemeClr val="bg1">
                      <a:lumMod val="25000"/>
                    </a:schemeClr>
                  </a:solidFill>
                  <a:latin typeface="Manrope"/>
                </a:rPr>
              </a:br>
              <a:br>
                <a:rPr lang="en-US" sz="1200" i="1" dirty="0">
                  <a:solidFill>
                    <a:schemeClr val="bg1">
                      <a:lumMod val="25000"/>
                    </a:schemeClr>
                  </a:solidFill>
                  <a:latin typeface="Manrope"/>
                </a:rPr>
              </a:br>
              <a:r>
                <a:rPr lang="en-US" sz="1200" i="1" dirty="0">
                  <a:solidFill>
                    <a:schemeClr val="bg1">
                      <a:lumMod val="25000"/>
                    </a:schemeClr>
                  </a:solidFill>
                  <a:latin typeface="Manrope"/>
                </a:rPr>
                <a:t>Stop wasting time calculating grades manually.</a:t>
              </a:r>
              <a:endParaRPr lang="fr-FR" sz="1200" i="1" dirty="0">
                <a:solidFill>
                  <a:schemeClr val="bg1">
                    <a:lumMod val="25000"/>
                  </a:schemeClr>
                </a:solidFill>
                <a:latin typeface="Manrope"/>
              </a:endParaRPr>
            </a:p>
            <a:p>
              <a:pPr>
                <a:defRPr/>
              </a:pPr>
              <a:endParaRPr lang="fr-FR" sz="1200" i="1" dirty="0">
                <a:solidFill>
                  <a:schemeClr val="bg1">
                    <a:lumMod val="25000"/>
                  </a:schemeClr>
                </a:solidFill>
                <a:latin typeface="Manrope"/>
              </a:endParaRPr>
            </a:p>
            <a:p>
              <a:pPr>
                <a:defRPr/>
              </a:pPr>
              <a:endParaRPr sz="1200" dirty="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F265B05D-376D-26E2-26CD-1380E545404B}"/>
              </a:ext>
            </a:extLst>
          </p:cNvPr>
          <p:cNvGrpSpPr/>
          <p:nvPr/>
        </p:nvGrpSpPr>
        <p:grpSpPr>
          <a:xfrm>
            <a:off x="4740800" y="1663351"/>
            <a:ext cx="1872346" cy="2342334"/>
            <a:chOff x="4740800" y="1663351"/>
            <a:chExt cx="1872346" cy="2342334"/>
          </a:xfrm>
        </p:grpSpPr>
        <p:sp>
          <p:nvSpPr>
            <p:cNvPr id="46" name="Rectangle : coins arrondis 45">
              <a:extLst>
                <a:ext uri="{FF2B5EF4-FFF2-40B4-BE49-F238E27FC236}">
                  <a16:creationId xmlns:a16="http://schemas.microsoft.com/office/drawing/2014/main" id="{EB67525F-953F-4279-6F4D-2DFF0CD19897}"/>
                </a:ext>
              </a:extLst>
            </p:cNvPr>
            <p:cNvSpPr/>
            <p:nvPr/>
          </p:nvSpPr>
          <p:spPr bwMode="auto">
            <a:xfrm>
              <a:off x="4740800" y="1663351"/>
              <a:ext cx="1872346" cy="2342334"/>
            </a:xfrm>
            <a:prstGeom prst="roundRect">
              <a:avLst>
                <a:gd name="adj" fmla="val 4770"/>
              </a:avLst>
            </a:prstGeom>
            <a:solidFill>
              <a:srgbClr val="FEF8F8"/>
            </a:solidFill>
            <a:ln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47" name="Google Shape;537;p35">
              <a:extLst>
                <a:ext uri="{FF2B5EF4-FFF2-40B4-BE49-F238E27FC236}">
                  <a16:creationId xmlns:a16="http://schemas.microsoft.com/office/drawing/2014/main" id="{E3942384-5365-1C87-D122-91238D7D05B9}"/>
                </a:ext>
              </a:extLst>
            </p:cNvPr>
            <p:cNvSpPr txBox="1"/>
            <p:nvPr/>
          </p:nvSpPr>
          <p:spPr bwMode="auto">
            <a:xfrm>
              <a:off x="4813850" y="2316714"/>
              <a:ext cx="1767817" cy="1633705"/>
            </a:xfrm>
            <a:prstGeom prst="rect">
              <a:avLst/>
            </a:prstGeom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>
                <a:defRPr/>
              </a:pPr>
              <a:r>
                <a:rPr lang="fr-CH" b="1" dirty="0">
                  <a:latin typeface="Manrope" pitchFamily="2" charset="0"/>
                </a:rPr>
                <a:t>PDF Support</a:t>
              </a:r>
              <a:br>
                <a:rPr kumimoji="0" lang="fr-CH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</a:rPr>
              </a:br>
              <a:endParaRPr lang="en-US" sz="800" i="1" dirty="0">
                <a:solidFill>
                  <a:schemeClr val="bg1">
                    <a:lumMod val="25000"/>
                  </a:schemeClr>
                </a:solidFill>
                <a:latin typeface="Manrope"/>
              </a:endParaRPr>
            </a:p>
            <a:p>
              <a:pPr>
                <a:defRPr/>
              </a:pPr>
              <a:r>
                <a:rPr lang="en-US" sz="1200" i="1" dirty="0">
                  <a:solidFill>
                    <a:schemeClr val="bg1">
                      <a:lumMod val="25000"/>
                    </a:schemeClr>
                  </a:solidFill>
                  <a:latin typeface="Manrope"/>
                </a:rPr>
                <a:t>Link optimized PDF scans directly to the grades and study anywhere without heavy binders.</a:t>
              </a:r>
              <a:endParaRPr lang="fr-FR" sz="1200" i="1" dirty="0">
                <a:solidFill>
                  <a:schemeClr val="bg1">
                    <a:lumMod val="25000"/>
                  </a:schemeClr>
                </a:solidFill>
                <a:latin typeface="Manrope"/>
              </a:endParaRPr>
            </a:p>
            <a:p>
              <a:pPr>
                <a:defRPr/>
              </a:pPr>
              <a:endParaRPr sz="1200" dirty="0"/>
            </a:p>
          </p:txBody>
        </p:sp>
        <p:pic>
          <p:nvPicPr>
            <p:cNvPr id="33" name="Graphique 32">
              <a:extLst>
                <a:ext uri="{FF2B5EF4-FFF2-40B4-BE49-F238E27FC236}">
                  <a16:creationId xmlns:a16="http://schemas.microsoft.com/office/drawing/2014/main" id="{D21E60C1-9161-93D6-8C70-AA32184D24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828250" y="1779695"/>
              <a:ext cx="492506" cy="492506"/>
            </a:xfrm>
            <a:prstGeom prst="rect">
              <a:avLst/>
            </a:prstGeom>
          </p:spPr>
        </p:pic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BE49C126-1552-B1F0-E18A-C7B1300B3E25}"/>
              </a:ext>
            </a:extLst>
          </p:cNvPr>
          <p:cNvGrpSpPr/>
          <p:nvPr/>
        </p:nvGrpSpPr>
        <p:grpSpPr>
          <a:xfrm>
            <a:off x="6793667" y="1658485"/>
            <a:ext cx="1872346" cy="2342334"/>
            <a:chOff x="6793667" y="1658485"/>
            <a:chExt cx="1872346" cy="2342334"/>
          </a:xfrm>
        </p:grpSpPr>
        <p:sp>
          <p:nvSpPr>
            <p:cNvPr id="48" name="Rectangle : coins arrondis 47">
              <a:extLst>
                <a:ext uri="{FF2B5EF4-FFF2-40B4-BE49-F238E27FC236}">
                  <a16:creationId xmlns:a16="http://schemas.microsoft.com/office/drawing/2014/main" id="{60407DA4-420D-C96B-FF56-9A58CC77CE4C}"/>
                </a:ext>
              </a:extLst>
            </p:cNvPr>
            <p:cNvSpPr/>
            <p:nvPr/>
          </p:nvSpPr>
          <p:spPr bwMode="auto">
            <a:xfrm>
              <a:off x="6793667" y="1658485"/>
              <a:ext cx="1872346" cy="2342334"/>
            </a:xfrm>
            <a:prstGeom prst="roundRect">
              <a:avLst>
                <a:gd name="adj" fmla="val 4770"/>
              </a:avLst>
            </a:prstGeom>
            <a:solidFill>
              <a:srgbClr val="FDF8FE"/>
            </a:solidFill>
            <a:ln>
              <a:solidFill>
                <a:srgbClr val="7030A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49" name="Google Shape;537;p35">
              <a:extLst>
                <a:ext uri="{FF2B5EF4-FFF2-40B4-BE49-F238E27FC236}">
                  <a16:creationId xmlns:a16="http://schemas.microsoft.com/office/drawing/2014/main" id="{D9FB4589-861E-ADFF-A37C-62F323F2FCEC}"/>
                </a:ext>
              </a:extLst>
            </p:cNvPr>
            <p:cNvSpPr txBox="1"/>
            <p:nvPr/>
          </p:nvSpPr>
          <p:spPr bwMode="auto">
            <a:xfrm>
              <a:off x="6866717" y="2311848"/>
              <a:ext cx="1767817" cy="1633705"/>
            </a:xfrm>
            <a:prstGeom prst="rect">
              <a:avLst/>
            </a:prstGeom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>
                <a:defRPr/>
              </a:pPr>
              <a:r>
                <a:rPr lang="fr-CH" b="1" dirty="0">
                  <a:latin typeface="Manrope" pitchFamily="2" charset="0"/>
                </a:rPr>
                <a:t>100% </a:t>
              </a:r>
              <a:r>
                <a:rPr lang="fr-CH" b="1" dirty="0" err="1">
                  <a:latin typeface="Manrope" pitchFamily="2" charset="0"/>
                </a:rPr>
                <a:t>Privacy</a:t>
              </a:r>
              <a:br>
                <a:rPr kumimoji="0" lang="fr-CH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</a:rPr>
              </a:br>
              <a:endParaRPr lang="en-US" sz="800" i="1" dirty="0">
                <a:solidFill>
                  <a:schemeClr val="bg1">
                    <a:lumMod val="25000"/>
                  </a:schemeClr>
                </a:solidFill>
                <a:latin typeface="Manrope"/>
              </a:endParaRPr>
            </a:p>
            <a:p>
              <a:pPr>
                <a:defRPr/>
              </a:pPr>
              <a:r>
                <a:rPr lang="en-US" sz="1200" i="1" dirty="0">
                  <a:solidFill>
                    <a:schemeClr val="bg1">
                      <a:lumMod val="25000"/>
                    </a:schemeClr>
                  </a:solidFill>
                  <a:latin typeface="Manrope"/>
                </a:rPr>
                <a:t>Zero cloud dependency. </a:t>
              </a:r>
            </a:p>
            <a:p>
              <a:pPr>
                <a:defRPr/>
              </a:pPr>
              <a:br>
                <a:rPr lang="en-US" sz="1200" i="1" dirty="0">
                  <a:solidFill>
                    <a:schemeClr val="bg1">
                      <a:lumMod val="25000"/>
                    </a:schemeClr>
                  </a:solidFill>
                  <a:latin typeface="Manrope"/>
                </a:rPr>
              </a:br>
              <a:r>
                <a:rPr lang="en-US" sz="1200" i="1" dirty="0">
                  <a:solidFill>
                    <a:schemeClr val="bg1">
                      <a:lumMod val="25000"/>
                    </a:schemeClr>
                  </a:solidFill>
                  <a:latin typeface="Manrope"/>
                </a:rPr>
                <a:t>Your academic data stays completely safe on your local machine.</a:t>
              </a:r>
              <a:endParaRPr sz="1200" dirty="0"/>
            </a:p>
          </p:txBody>
        </p:sp>
        <p:pic>
          <p:nvPicPr>
            <p:cNvPr id="31" name="Graphique 30">
              <a:extLst>
                <a:ext uri="{FF2B5EF4-FFF2-40B4-BE49-F238E27FC236}">
                  <a16:creationId xmlns:a16="http://schemas.microsoft.com/office/drawing/2014/main" id="{7A2FCB45-EE6A-7DF6-5974-FBE9E4254A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922583" y="1779695"/>
              <a:ext cx="474160" cy="474160"/>
            </a:xfrm>
            <a:prstGeom prst="rect">
              <a:avLst/>
            </a:prstGeom>
          </p:spPr>
        </p:pic>
      </p:grpSp>
      <p:pic>
        <p:nvPicPr>
          <p:cNvPr id="2" name="Image 1">
            <a:extLst>
              <a:ext uri="{FF2B5EF4-FFF2-40B4-BE49-F238E27FC236}">
                <a16:creationId xmlns:a16="http://schemas.microsoft.com/office/drawing/2014/main" id="{8FB1DE28-7CC7-32AB-4EF6-9349C6F5F1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 rot="3028607">
            <a:off x="12678743" y="2603507"/>
            <a:ext cx="1106426" cy="148437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6" descr="6 Steps to Maintaining Confidentiality and Privacy for Family Offices">
            <a:extLst>
              <a:ext uri="{FF2B5EF4-FFF2-40B4-BE49-F238E27FC236}">
                <a16:creationId xmlns:a16="http://schemas.microsoft.com/office/drawing/2014/main" id="{41FA25FA-A2E6-A350-E365-0D50AE7425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11227">
            <a:off x="3883585" y="-3527109"/>
            <a:ext cx="2541223" cy="16965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8" descr="Faster Icon Png 0 Copy - Time Consuming Icon Png, Transparent Png - kindpng">
            <a:extLst>
              <a:ext uri="{FF2B5EF4-FFF2-40B4-BE49-F238E27FC236}">
                <a16:creationId xmlns:a16="http://schemas.microsoft.com/office/drawing/2014/main" id="{6E54B6D9-F47E-B70D-E8F3-FF5C6193D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833328">
            <a:off x="4241212" y="6542302"/>
            <a:ext cx="1893991" cy="168493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Google Shape;537;p35">
            <a:extLst>
              <a:ext uri="{FF2B5EF4-FFF2-40B4-BE49-F238E27FC236}">
                <a16:creationId xmlns:a16="http://schemas.microsoft.com/office/drawing/2014/main" id="{816F95BF-337B-32A4-27A8-FE2DCF01DA96}"/>
              </a:ext>
            </a:extLst>
          </p:cNvPr>
          <p:cNvSpPr txBox="1"/>
          <p:nvPr/>
        </p:nvSpPr>
        <p:spPr bwMode="auto">
          <a:xfrm>
            <a:off x="1992661" y="-1005185"/>
            <a:ext cx="2919997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Solutions ? (Cloud app)</a:t>
            </a:r>
            <a:endParaRPr dirty="0"/>
          </a:p>
        </p:txBody>
      </p:sp>
      <p:sp>
        <p:nvSpPr>
          <p:cNvPr id="6" name="Google Shape;536;p35">
            <a:extLst>
              <a:ext uri="{FF2B5EF4-FFF2-40B4-BE49-F238E27FC236}">
                <a16:creationId xmlns:a16="http://schemas.microsoft.com/office/drawing/2014/main" id="{C709A3CB-230E-11E5-56D1-8948021ABB9C}"/>
              </a:ext>
            </a:extLst>
          </p:cNvPr>
          <p:cNvSpPr txBox="1">
            <a:spLocks/>
          </p:cNvSpPr>
          <p:nvPr/>
        </p:nvSpPr>
        <p:spPr bwMode="auto">
          <a:xfrm>
            <a:off x="1988852" y="-1414531"/>
            <a:ext cx="5254630" cy="629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9pPr>
          </a:lstStyle>
          <a:p>
            <a:pPr>
              <a:defRPr/>
            </a:pPr>
            <a:r>
              <a:rPr lang="fr-CH"/>
              <a:t>Problematics</a:t>
            </a:r>
            <a:endParaRPr lang="fr-CH" dirty="0">
              <a:latin typeface="Archivo"/>
              <a:ea typeface="Archivo"/>
              <a:cs typeface="Archivo"/>
            </a:endParaRPr>
          </a:p>
        </p:txBody>
      </p:sp>
      <p:sp>
        <p:nvSpPr>
          <p:cNvPr id="7" name="Google Shape;538;p35">
            <a:extLst>
              <a:ext uri="{FF2B5EF4-FFF2-40B4-BE49-F238E27FC236}">
                <a16:creationId xmlns:a16="http://schemas.microsoft.com/office/drawing/2014/main" id="{6E29DA8C-0EBC-0640-8C9C-8F33A1EF662F}"/>
              </a:ext>
            </a:extLst>
          </p:cNvPr>
          <p:cNvSpPr txBox="1"/>
          <p:nvPr/>
        </p:nvSpPr>
        <p:spPr bwMode="auto">
          <a:xfrm>
            <a:off x="774794" y="-1435256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>
                <a:solidFill>
                  <a:schemeClr val="bg1"/>
                </a:solidFill>
                <a:latin typeface="Archivo Black"/>
                <a:cs typeface="Archivo Black"/>
              </a:rPr>
              <a:t>1</a:t>
            </a:r>
            <a:endParaRPr/>
          </a:p>
        </p:txBody>
      </p:sp>
      <p:sp>
        <p:nvSpPr>
          <p:cNvPr id="9" name="Google Shape;537;p35">
            <a:extLst>
              <a:ext uri="{FF2B5EF4-FFF2-40B4-BE49-F238E27FC236}">
                <a16:creationId xmlns:a16="http://schemas.microsoft.com/office/drawing/2014/main" id="{DD2865F9-B7FD-4727-96CB-6C970FE7E72D}"/>
              </a:ext>
            </a:extLst>
          </p:cNvPr>
          <p:cNvSpPr txBox="1"/>
          <p:nvPr/>
        </p:nvSpPr>
        <p:spPr bwMode="auto">
          <a:xfrm>
            <a:off x="-3249498" y="1658485"/>
            <a:ext cx="3528985" cy="322371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>
                <a:latin typeface="Manrope" pitchFamily="2" charset="0"/>
                <a:cs typeface="Mangal" panose="020B0502040204020203" pitchFamily="18" charset="0"/>
              </a:rPr>
              <a:t>A Tailor-Made Tool</a:t>
            </a:r>
            <a:endParaRPr lang="fr-FR" sz="1600" dirty="0">
              <a:latin typeface="Manrope" pitchFamily="2" charset="0"/>
              <a:cs typeface="Mangal" panose="020B0502040204020203" pitchFamily="18" charset="0"/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  <a:latin typeface="Manrope"/>
              </a:rPr>
              <a:t>ScholarLog</a:t>
            </a:r>
            <a:r>
              <a:rPr lang="en-US" dirty="0">
                <a:solidFill>
                  <a:schemeClr val="tx1"/>
                </a:solidFill>
                <a:latin typeface="Manrope"/>
              </a:rPr>
              <a:t> is an offline, all-in-one desktop application built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  <a:latin typeface="Manrope"/>
              </a:rPr>
              <a:t>specifically for EST students.</a:t>
            </a:r>
            <a:endParaRPr lang="en-US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</p:txBody>
      </p:sp>
      <p:sp>
        <p:nvSpPr>
          <p:cNvPr id="10" name="Google Shape;536;p35">
            <a:extLst>
              <a:ext uri="{FF2B5EF4-FFF2-40B4-BE49-F238E27FC236}">
                <a16:creationId xmlns:a16="http://schemas.microsoft.com/office/drawing/2014/main" id="{AF331003-45E1-3E21-47CA-2EC2A84157F2}"/>
              </a:ext>
            </a:extLst>
          </p:cNvPr>
          <p:cNvSpPr txBox="1">
            <a:spLocks/>
          </p:cNvSpPr>
          <p:nvPr/>
        </p:nvSpPr>
        <p:spPr bwMode="auto">
          <a:xfrm>
            <a:off x="-3662517" y="508739"/>
            <a:ext cx="4410900" cy="629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9pPr>
          </a:lstStyle>
          <a:p>
            <a:pPr>
              <a:defRPr/>
            </a:pPr>
            <a:r>
              <a:rPr lang="fr-CH"/>
              <a:t>My solution</a:t>
            </a:r>
            <a:endParaRPr lang="fr-CH" dirty="0">
              <a:latin typeface="Archivo"/>
              <a:ea typeface="Archivo"/>
              <a:cs typeface="Archivo"/>
            </a:endParaRPr>
          </a:p>
        </p:txBody>
      </p:sp>
      <p:sp>
        <p:nvSpPr>
          <p:cNvPr id="11" name="Google Shape;538;p35">
            <a:extLst>
              <a:ext uri="{FF2B5EF4-FFF2-40B4-BE49-F238E27FC236}">
                <a16:creationId xmlns:a16="http://schemas.microsoft.com/office/drawing/2014/main" id="{D24DE87B-9595-CA2B-495F-5CBE96E9C45B}"/>
              </a:ext>
            </a:extLst>
          </p:cNvPr>
          <p:cNvSpPr txBox="1"/>
          <p:nvPr/>
        </p:nvSpPr>
        <p:spPr bwMode="auto">
          <a:xfrm>
            <a:off x="-4876575" y="488014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 dirty="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 dirty="0">
                <a:solidFill>
                  <a:schemeClr val="bg1"/>
                </a:solidFill>
                <a:latin typeface="Archivo Black"/>
                <a:cs typeface="Archivo Black"/>
              </a:rPr>
              <a:t>3</a:t>
            </a:r>
            <a:endParaRPr dirty="0"/>
          </a:p>
        </p:txBody>
      </p:sp>
      <p:sp>
        <p:nvSpPr>
          <p:cNvPr id="12" name="Google Shape;537;p35">
            <a:extLst>
              <a:ext uri="{FF2B5EF4-FFF2-40B4-BE49-F238E27FC236}">
                <a16:creationId xmlns:a16="http://schemas.microsoft.com/office/drawing/2014/main" id="{A425696F-24DD-1175-330C-715EC4AC3A86}"/>
              </a:ext>
            </a:extLst>
          </p:cNvPr>
          <p:cNvSpPr txBox="1"/>
          <p:nvPr/>
        </p:nvSpPr>
        <p:spPr bwMode="auto">
          <a:xfrm>
            <a:off x="-3658708" y="918085"/>
            <a:ext cx="3047689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dirty="0"/>
              <a:t>The </a:t>
            </a:r>
            <a:r>
              <a:rPr lang="fr-CH" dirty="0" err="1"/>
              <a:t>ScholarLog</a:t>
            </a:r>
            <a:r>
              <a:rPr lang="fr-CH" dirty="0"/>
              <a:t> Application</a:t>
            </a:r>
            <a:endParaRPr dirty="0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0283FB2A-E3E2-03F7-784E-649DEA39E8F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93" r="15630" b="23508"/>
          <a:stretch>
            <a:fillRect/>
          </a:stretch>
        </p:blipFill>
        <p:spPr bwMode="auto">
          <a:xfrm rot="20377775">
            <a:off x="3106425" y="5570896"/>
            <a:ext cx="6586654" cy="3098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Google Shape;537;p35">
            <a:extLst>
              <a:ext uri="{FF2B5EF4-FFF2-40B4-BE49-F238E27FC236}">
                <a16:creationId xmlns:a16="http://schemas.microsoft.com/office/drawing/2014/main" id="{C2007486-6D44-2A16-70E1-C848199A433F}"/>
              </a:ext>
            </a:extLst>
          </p:cNvPr>
          <p:cNvSpPr txBox="1"/>
          <p:nvPr/>
        </p:nvSpPr>
        <p:spPr bwMode="auto">
          <a:xfrm>
            <a:off x="-6418486" y="1725665"/>
            <a:ext cx="2712478" cy="8460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 err="1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Confidentiality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 :</a:t>
            </a:r>
            <a:endParaRPr lang="fr-FR" sz="1600" dirty="0">
              <a:solidFill>
                <a:schemeClr val="bg1">
                  <a:lumMod val="10000"/>
                </a:schemeClr>
              </a:solidFill>
              <a:latin typeface="Manrope" pitchFamily="2" charset="0"/>
            </a:endParaRPr>
          </a:p>
          <a:p>
            <a:pPr>
              <a:defRPr/>
            </a:pP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You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don’t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really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own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your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 </a:t>
            </a:r>
            <a:r>
              <a:rPr lang="fr-CH" sz="1600" i="1" dirty="0" err="1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own</a:t>
            </a:r>
            <a: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 data </a:t>
            </a:r>
            <a:b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sp>
        <p:nvSpPr>
          <p:cNvPr id="18" name="Google Shape;537;p35">
            <a:extLst>
              <a:ext uri="{FF2B5EF4-FFF2-40B4-BE49-F238E27FC236}">
                <a16:creationId xmlns:a16="http://schemas.microsoft.com/office/drawing/2014/main" id="{D5E6319D-5E24-8624-FF11-70A2C3FBED5C}"/>
              </a:ext>
            </a:extLst>
          </p:cNvPr>
          <p:cNvSpPr txBox="1"/>
          <p:nvPr/>
        </p:nvSpPr>
        <p:spPr bwMode="auto">
          <a:xfrm>
            <a:off x="-9740806" y="2689859"/>
            <a:ext cx="2712478" cy="88818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Internet </a:t>
            </a:r>
            <a:r>
              <a:rPr lang="fr-CH" sz="1600" b="1" dirty="0" err="1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only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 pitchFamily="2" charset="0"/>
              </a:rPr>
              <a:t> 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/>
              </a:rPr>
              <a:t>:</a:t>
            </a:r>
          </a:p>
          <a:p>
            <a:pPr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No access to your results or scans when offline</a:t>
            </a:r>
            <a:b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  <p:sp>
        <p:nvSpPr>
          <p:cNvPr id="19" name="Google Shape;537;p35">
            <a:extLst>
              <a:ext uri="{FF2B5EF4-FFF2-40B4-BE49-F238E27FC236}">
                <a16:creationId xmlns:a16="http://schemas.microsoft.com/office/drawing/2014/main" id="{15812E8D-8B3A-7859-FC45-FBDAB639758E}"/>
              </a:ext>
            </a:extLst>
          </p:cNvPr>
          <p:cNvSpPr txBox="1"/>
          <p:nvPr/>
        </p:nvSpPr>
        <p:spPr bwMode="auto">
          <a:xfrm>
            <a:off x="-12819286" y="3701220"/>
            <a:ext cx="2712478" cy="9731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/>
              </a:rPr>
              <a:t>time </a:t>
            </a:r>
            <a:r>
              <a:rPr lang="fr-CH" sz="1600" b="1" dirty="0" err="1">
                <a:solidFill>
                  <a:schemeClr val="bg1">
                    <a:lumMod val="10000"/>
                  </a:schemeClr>
                </a:solidFill>
                <a:latin typeface="Manrope"/>
              </a:rPr>
              <a:t>consuming</a:t>
            </a:r>
            <a:r>
              <a:rPr lang="fr-CH" sz="1600" b="1" dirty="0">
                <a:solidFill>
                  <a:schemeClr val="bg1">
                    <a:lumMod val="10000"/>
                  </a:schemeClr>
                </a:solidFill>
                <a:latin typeface="Manrope"/>
              </a:rPr>
              <a:t> :</a:t>
            </a:r>
          </a:p>
          <a:p>
            <a:pPr>
              <a:defRPr/>
            </a:pPr>
            <a:r>
              <a:rPr lang="en-US" sz="16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rPr>
              <a:t>You build your own databases from scratch</a:t>
            </a:r>
            <a:br>
              <a:rPr lang="fr-CH" sz="16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endParaRPr lang="fr-FR" sz="16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339976500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3191017D-E4E7-C70F-A9F6-0AA14028060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" name="Groupe 34">
            <a:extLst>
              <a:ext uri="{FF2B5EF4-FFF2-40B4-BE49-F238E27FC236}">
                <a16:creationId xmlns:a16="http://schemas.microsoft.com/office/drawing/2014/main" id="{E71151DD-0F31-08A0-3A52-175B03F3738F}"/>
              </a:ext>
            </a:extLst>
          </p:cNvPr>
          <p:cNvGrpSpPr/>
          <p:nvPr/>
        </p:nvGrpSpPr>
        <p:grpSpPr>
          <a:xfrm>
            <a:off x="16403938" y="1658485"/>
            <a:ext cx="1872346" cy="2342334"/>
            <a:chOff x="16403938" y="1658485"/>
            <a:chExt cx="1872346" cy="2342334"/>
          </a:xfrm>
        </p:grpSpPr>
        <p:sp>
          <p:nvSpPr>
            <p:cNvPr id="16" name="Rectangle : coins arrondis 15">
              <a:extLst>
                <a:ext uri="{FF2B5EF4-FFF2-40B4-BE49-F238E27FC236}">
                  <a16:creationId xmlns:a16="http://schemas.microsoft.com/office/drawing/2014/main" id="{F65804C2-AAD9-693B-15BC-8F186B53A3EE}"/>
                </a:ext>
              </a:extLst>
            </p:cNvPr>
            <p:cNvSpPr/>
            <p:nvPr/>
          </p:nvSpPr>
          <p:spPr bwMode="auto">
            <a:xfrm>
              <a:off x="16403938" y="1658485"/>
              <a:ext cx="1872346" cy="2342334"/>
            </a:xfrm>
            <a:prstGeom prst="roundRect">
              <a:avLst>
                <a:gd name="adj" fmla="val 4770"/>
              </a:avLst>
            </a:prstGeom>
            <a:solidFill>
              <a:srgbClr val="F8FEF8"/>
            </a:solidFill>
            <a:ln>
              <a:solidFill>
                <a:srgbClr val="92D05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17" name="Google Shape;537;p35">
              <a:extLst>
                <a:ext uri="{FF2B5EF4-FFF2-40B4-BE49-F238E27FC236}">
                  <a16:creationId xmlns:a16="http://schemas.microsoft.com/office/drawing/2014/main" id="{3CFFBAF6-5431-FBFD-6267-80B710A848E1}"/>
                </a:ext>
              </a:extLst>
            </p:cNvPr>
            <p:cNvSpPr txBox="1"/>
            <p:nvPr/>
          </p:nvSpPr>
          <p:spPr bwMode="auto">
            <a:xfrm>
              <a:off x="16476988" y="2311848"/>
              <a:ext cx="1767817" cy="1633705"/>
            </a:xfrm>
            <a:prstGeom prst="rect">
              <a:avLst/>
            </a:prstGeom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>
                <a:defRPr/>
              </a:pPr>
              <a:r>
                <a:rPr lang="fr-CH" b="1" dirty="0">
                  <a:latin typeface="Manrope" pitchFamily="2" charset="0"/>
                </a:rPr>
                <a:t>All-in-One Hub</a:t>
              </a:r>
              <a:br>
                <a:rPr kumimoji="0" lang="fr-CH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</a:rPr>
              </a:br>
              <a:endParaRPr lang="en-US" sz="800" i="1" dirty="0">
                <a:solidFill>
                  <a:schemeClr val="bg1">
                    <a:lumMod val="25000"/>
                  </a:schemeClr>
                </a:solidFill>
                <a:latin typeface="Manrope"/>
              </a:endParaRPr>
            </a:p>
            <a:p>
              <a:pPr>
                <a:defRPr/>
              </a:pPr>
              <a:r>
                <a:rPr lang="en-US" sz="1200" i="1" dirty="0">
                  <a:solidFill>
                    <a:schemeClr val="bg1">
                      <a:lumMod val="25000"/>
                    </a:schemeClr>
                  </a:solidFill>
                  <a:latin typeface="Manrope"/>
                </a:rPr>
                <a:t>Grades, PDF scans, and work journals unified in a single, perfectly organized place.</a:t>
              </a:r>
              <a:endParaRPr lang="fr-FR" sz="1200" i="1" dirty="0">
                <a:solidFill>
                  <a:schemeClr val="bg1">
                    <a:lumMod val="25000"/>
                  </a:schemeClr>
                </a:solidFill>
                <a:latin typeface="Manrope"/>
              </a:endParaRPr>
            </a:p>
            <a:p>
              <a:pPr>
                <a:defRPr/>
              </a:pPr>
              <a:endParaRPr sz="1200" dirty="0"/>
            </a:p>
          </p:txBody>
        </p:sp>
        <p:pic>
          <p:nvPicPr>
            <p:cNvPr id="19" name="Graphique 18">
              <a:extLst>
                <a:ext uri="{FF2B5EF4-FFF2-40B4-BE49-F238E27FC236}">
                  <a16:creationId xmlns:a16="http://schemas.microsoft.com/office/drawing/2014/main" id="{72ABCA65-4A05-1D1E-A585-45046E7554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 bwMode="auto">
            <a:xfrm>
              <a:off x="16512735" y="1779695"/>
              <a:ext cx="406131" cy="406131"/>
            </a:xfrm>
            <a:prstGeom prst="rect">
              <a:avLst/>
            </a:prstGeom>
          </p:spPr>
        </p:pic>
      </p:grp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32C25FF9-DF26-AAFF-C205-0D45F66F3FBC}"/>
              </a:ext>
            </a:extLst>
          </p:cNvPr>
          <p:cNvGrpSpPr/>
          <p:nvPr/>
        </p:nvGrpSpPr>
        <p:grpSpPr>
          <a:xfrm>
            <a:off x="12362669" y="1658485"/>
            <a:ext cx="1867826" cy="2342334"/>
            <a:chOff x="12362669" y="1658485"/>
            <a:chExt cx="1867826" cy="2342334"/>
          </a:xfrm>
        </p:grpSpPr>
        <p:sp>
          <p:nvSpPr>
            <p:cNvPr id="18" name="Rectangle : coins arrondis 17">
              <a:extLst>
                <a:ext uri="{FF2B5EF4-FFF2-40B4-BE49-F238E27FC236}">
                  <a16:creationId xmlns:a16="http://schemas.microsoft.com/office/drawing/2014/main" id="{3810A1E2-9B09-E925-7C95-CAFA2CB1A081}"/>
                </a:ext>
              </a:extLst>
            </p:cNvPr>
            <p:cNvSpPr/>
            <p:nvPr/>
          </p:nvSpPr>
          <p:spPr bwMode="auto">
            <a:xfrm>
              <a:off x="12362669" y="1658485"/>
              <a:ext cx="1867826" cy="2342334"/>
            </a:xfrm>
            <a:prstGeom prst="roundRect">
              <a:avLst>
                <a:gd name="adj" fmla="val 4770"/>
              </a:avLst>
            </a:prstGeom>
            <a:solidFill>
              <a:srgbClr val="F8FAFE"/>
            </a:solidFill>
            <a:ln>
              <a:solidFill>
                <a:schemeClr val="tx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 dirty="0"/>
            </a:p>
          </p:txBody>
        </p:sp>
        <p:pic>
          <p:nvPicPr>
            <p:cNvPr id="20" name="Graphique 19">
              <a:extLst>
                <a:ext uri="{FF2B5EF4-FFF2-40B4-BE49-F238E27FC236}">
                  <a16:creationId xmlns:a16="http://schemas.microsoft.com/office/drawing/2014/main" id="{666FC6C8-BCEA-1EE8-BA0B-6839CA46F46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 bwMode="auto">
            <a:xfrm>
              <a:off x="12471466" y="1806521"/>
              <a:ext cx="406131" cy="406131"/>
            </a:xfrm>
            <a:prstGeom prst="rect">
              <a:avLst/>
            </a:prstGeom>
          </p:spPr>
        </p:pic>
        <p:sp>
          <p:nvSpPr>
            <p:cNvPr id="21" name="Google Shape;537;p35">
              <a:extLst>
                <a:ext uri="{FF2B5EF4-FFF2-40B4-BE49-F238E27FC236}">
                  <a16:creationId xmlns:a16="http://schemas.microsoft.com/office/drawing/2014/main" id="{E09B2A8C-5DE0-9BAD-4479-F4D70F42541B}"/>
                </a:ext>
              </a:extLst>
            </p:cNvPr>
            <p:cNvSpPr txBox="1"/>
            <p:nvPr/>
          </p:nvSpPr>
          <p:spPr bwMode="auto">
            <a:xfrm>
              <a:off x="12438969" y="2311848"/>
              <a:ext cx="1781366" cy="1638571"/>
            </a:xfrm>
            <a:prstGeom prst="rect">
              <a:avLst/>
            </a:prstGeom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fr-CH" sz="16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anrope" pitchFamily="2" charset="0"/>
                </a:rPr>
                <a:t>Automatic</a:t>
              </a:r>
              <a:r>
                <a:rPr kumimoji="0" lang="fr-CH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anrope" pitchFamily="2" charset="0"/>
                </a:rPr>
                <a:t> Math</a:t>
              </a:r>
              <a:br>
                <a:rPr kumimoji="0" lang="fr-CH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Manrope" pitchFamily="2" charset="0"/>
                </a:rPr>
              </a:br>
              <a:endParaRPr lang="en-US" sz="800" i="1" dirty="0">
                <a:solidFill>
                  <a:schemeClr val="bg1">
                    <a:lumMod val="25000"/>
                  </a:schemeClr>
                </a:solidFill>
                <a:latin typeface="Manrope" pitchFamily="2" charset="0"/>
              </a:endParaRPr>
            </a:p>
            <a:p>
              <a:pPr>
                <a:defRPr/>
              </a:pPr>
              <a:r>
                <a:rPr lang="en-US" sz="1200" i="1" dirty="0">
                  <a:solidFill>
                    <a:schemeClr val="bg1">
                      <a:lumMod val="25000"/>
                    </a:schemeClr>
                  </a:solidFill>
                  <a:latin typeface="Manrope"/>
                </a:rPr>
                <a:t>Instant, error-free weighted averages. </a:t>
              </a:r>
              <a:br>
                <a:rPr lang="en-US" sz="1200" i="1" dirty="0">
                  <a:solidFill>
                    <a:schemeClr val="bg1">
                      <a:lumMod val="25000"/>
                    </a:schemeClr>
                  </a:solidFill>
                  <a:latin typeface="Manrope"/>
                </a:rPr>
              </a:br>
              <a:br>
                <a:rPr lang="en-US" sz="1200" i="1" dirty="0">
                  <a:solidFill>
                    <a:schemeClr val="bg1">
                      <a:lumMod val="25000"/>
                    </a:schemeClr>
                  </a:solidFill>
                  <a:latin typeface="Manrope"/>
                </a:rPr>
              </a:br>
              <a:r>
                <a:rPr lang="en-US" sz="1200" i="1" dirty="0">
                  <a:solidFill>
                    <a:schemeClr val="bg1">
                      <a:lumMod val="25000"/>
                    </a:schemeClr>
                  </a:solidFill>
                  <a:latin typeface="Manrope"/>
                </a:rPr>
                <a:t>Stop wasting time calculating grades manually.</a:t>
              </a:r>
              <a:endParaRPr lang="fr-FR" sz="1200" i="1" dirty="0">
                <a:solidFill>
                  <a:schemeClr val="bg1">
                    <a:lumMod val="25000"/>
                  </a:schemeClr>
                </a:solidFill>
                <a:latin typeface="Manrope"/>
              </a:endParaRPr>
            </a:p>
            <a:p>
              <a:pPr>
                <a:defRPr/>
              </a:pPr>
              <a:endParaRPr lang="fr-FR" sz="1200" i="1" dirty="0">
                <a:solidFill>
                  <a:schemeClr val="bg1">
                    <a:lumMod val="25000"/>
                  </a:schemeClr>
                </a:solidFill>
                <a:latin typeface="Manrope"/>
              </a:endParaRPr>
            </a:p>
            <a:p>
              <a:pPr>
                <a:defRPr/>
              </a:pPr>
              <a:endParaRPr sz="1200" dirty="0"/>
            </a:p>
          </p:txBody>
        </p:sp>
      </p:grp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B7F3DD74-5801-A23F-3C43-85B3233CE263}"/>
              </a:ext>
            </a:extLst>
          </p:cNvPr>
          <p:cNvGrpSpPr/>
          <p:nvPr/>
        </p:nvGrpSpPr>
        <p:grpSpPr>
          <a:xfrm>
            <a:off x="23521175" y="1663351"/>
            <a:ext cx="1872346" cy="2342334"/>
            <a:chOff x="23521175" y="1663351"/>
            <a:chExt cx="1872346" cy="2342334"/>
          </a:xfrm>
        </p:grpSpPr>
        <p:sp>
          <p:nvSpPr>
            <p:cNvPr id="22" name="Rectangle : coins arrondis 21">
              <a:extLst>
                <a:ext uri="{FF2B5EF4-FFF2-40B4-BE49-F238E27FC236}">
                  <a16:creationId xmlns:a16="http://schemas.microsoft.com/office/drawing/2014/main" id="{CE0D9B51-09E4-F819-5AD8-00A7FB8D75B5}"/>
                </a:ext>
              </a:extLst>
            </p:cNvPr>
            <p:cNvSpPr/>
            <p:nvPr/>
          </p:nvSpPr>
          <p:spPr bwMode="auto">
            <a:xfrm>
              <a:off x="23521175" y="1663351"/>
              <a:ext cx="1872346" cy="2342334"/>
            </a:xfrm>
            <a:prstGeom prst="roundRect">
              <a:avLst>
                <a:gd name="adj" fmla="val 4770"/>
              </a:avLst>
            </a:prstGeom>
            <a:solidFill>
              <a:srgbClr val="FEF8F8"/>
            </a:solidFill>
            <a:ln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23" name="Google Shape;537;p35">
              <a:extLst>
                <a:ext uri="{FF2B5EF4-FFF2-40B4-BE49-F238E27FC236}">
                  <a16:creationId xmlns:a16="http://schemas.microsoft.com/office/drawing/2014/main" id="{49DFB463-3E32-3493-127D-770E0DB3700C}"/>
                </a:ext>
              </a:extLst>
            </p:cNvPr>
            <p:cNvSpPr txBox="1"/>
            <p:nvPr/>
          </p:nvSpPr>
          <p:spPr bwMode="auto">
            <a:xfrm>
              <a:off x="23594225" y="2316714"/>
              <a:ext cx="1767817" cy="1633705"/>
            </a:xfrm>
            <a:prstGeom prst="rect">
              <a:avLst/>
            </a:prstGeom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>
                <a:defRPr/>
              </a:pPr>
              <a:r>
                <a:rPr lang="fr-CH" b="1" dirty="0">
                  <a:latin typeface="Manrope" pitchFamily="2" charset="0"/>
                </a:rPr>
                <a:t>PDF Support</a:t>
              </a:r>
              <a:br>
                <a:rPr kumimoji="0" lang="fr-CH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</a:rPr>
              </a:br>
              <a:endParaRPr lang="en-US" sz="800" i="1" dirty="0">
                <a:solidFill>
                  <a:schemeClr val="bg1">
                    <a:lumMod val="25000"/>
                  </a:schemeClr>
                </a:solidFill>
                <a:latin typeface="Manrope"/>
              </a:endParaRPr>
            </a:p>
            <a:p>
              <a:pPr>
                <a:defRPr/>
              </a:pPr>
              <a:r>
                <a:rPr lang="en-US" sz="1200" i="1" dirty="0">
                  <a:solidFill>
                    <a:schemeClr val="bg1">
                      <a:lumMod val="25000"/>
                    </a:schemeClr>
                  </a:solidFill>
                  <a:latin typeface="Manrope"/>
                </a:rPr>
                <a:t>Link optimized PDF scans directly to the grades and study anywhere without heavy binders.</a:t>
              </a:r>
              <a:endParaRPr lang="fr-FR" sz="1200" i="1" dirty="0">
                <a:solidFill>
                  <a:schemeClr val="bg1">
                    <a:lumMod val="25000"/>
                  </a:schemeClr>
                </a:solidFill>
                <a:latin typeface="Manrope"/>
              </a:endParaRPr>
            </a:p>
            <a:p>
              <a:pPr>
                <a:defRPr/>
              </a:pPr>
              <a:endParaRPr sz="1200" dirty="0"/>
            </a:p>
          </p:txBody>
        </p:sp>
        <p:pic>
          <p:nvPicPr>
            <p:cNvPr id="26" name="Graphique 25">
              <a:extLst>
                <a:ext uri="{FF2B5EF4-FFF2-40B4-BE49-F238E27FC236}">
                  <a16:creationId xmlns:a16="http://schemas.microsoft.com/office/drawing/2014/main" id="{F2D7372E-DF59-84C2-DD7D-B705A59A8A1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 bwMode="auto">
            <a:xfrm>
              <a:off x="23608625" y="1779695"/>
              <a:ext cx="492506" cy="492506"/>
            </a:xfrm>
            <a:prstGeom prst="rect">
              <a:avLst/>
            </a:prstGeom>
          </p:spPr>
        </p:pic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E5BE13C1-72F8-9A8A-9B87-9456981D7062}"/>
              </a:ext>
            </a:extLst>
          </p:cNvPr>
          <p:cNvGrpSpPr/>
          <p:nvPr/>
        </p:nvGrpSpPr>
        <p:grpSpPr>
          <a:xfrm>
            <a:off x="35984138" y="1658485"/>
            <a:ext cx="1872346" cy="2342334"/>
            <a:chOff x="35984138" y="1658485"/>
            <a:chExt cx="1872346" cy="2342334"/>
          </a:xfrm>
        </p:grpSpPr>
        <p:sp>
          <p:nvSpPr>
            <p:cNvPr id="24" name="Rectangle : coins arrondis 23">
              <a:extLst>
                <a:ext uri="{FF2B5EF4-FFF2-40B4-BE49-F238E27FC236}">
                  <a16:creationId xmlns:a16="http://schemas.microsoft.com/office/drawing/2014/main" id="{4D99D0D9-1C75-F38A-AE4C-945ED105024C}"/>
                </a:ext>
              </a:extLst>
            </p:cNvPr>
            <p:cNvSpPr/>
            <p:nvPr/>
          </p:nvSpPr>
          <p:spPr bwMode="auto">
            <a:xfrm>
              <a:off x="35984138" y="1658485"/>
              <a:ext cx="1872346" cy="2342334"/>
            </a:xfrm>
            <a:prstGeom prst="roundRect">
              <a:avLst>
                <a:gd name="adj" fmla="val 4770"/>
              </a:avLst>
            </a:prstGeom>
            <a:solidFill>
              <a:srgbClr val="FDF8FE"/>
            </a:solidFill>
            <a:ln>
              <a:solidFill>
                <a:srgbClr val="7030A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H"/>
            </a:p>
          </p:txBody>
        </p:sp>
        <p:sp>
          <p:nvSpPr>
            <p:cNvPr id="25" name="Google Shape;537;p35">
              <a:extLst>
                <a:ext uri="{FF2B5EF4-FFF2-40B4-BE49-F238E27FC236}">
                  <a16:creationId xmlns:a16="http://schemas.microsoft.com/office/drawing/2014/main" id="{ADE70044-23A8-20F4-4554-25FF5033CA29}"/>
                </a:ext>
              </a:extLst>
            </p:cNvPr>
            <p:cNvSpPr txBox="1"/>
            <p:nvPr/>
          </p:nvSpPr>
          <p:spPr bwMode="auto">
            <a:xfrm>
              <a:off x="36057188" y="2311848"/>
              <a:ext cx="1767817" cy="1633705"/>
            </a:xfrm>
            <a:prstGeom prst="rect">
              <a:avLst/>
            </a:prstGeom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>
                <a:defRPr/>
              </a:pPr>
              <a:r>
                <a:rPr lang="fr-CH" b="1" dirty="0">
                  <a:latin typeface="Manrope" pitchFamily="2" charset="0"/>
                </a:rPr>
                <a:t>100% </a:t>
              </a:r>
              <a:r>
                <a:rPr lang="fr-CH" b="1" dirty="0" err="1">
                  <a:latin typeface="Manrope" pitchFamily="2" charset="0"/>
                </a:rPr>
                <a:t>Privacy</a:t>
              </a:r>
              <a:br>
                <a:rPr kumimoji="0" lang="fr-CH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cs typeface="Arial"/>
                </a:rPr>
              </a:br>
              <a:endParaRPr lang="en-US" sz="800" i="1" dirty="0">
                <a:solidFill>
                  <a:schemeClr val="bg1">
                    <a:lumMod val="25000"/>
                  </a:schemeClr>
                </a:solidFill>
                <a:latin typeface="Manrope"/>
              </a:endParaRPr>
            </a:p>
            <a:p>
              <a:pPr>
                <a:defRPr/>
              </a:pPr>
              <a:r>
                <a:rPr lang="en-US" sz="1200" i="1" dirty="0">
                  <a:solidFill>
                    <a:schemeClr val="bg1">
                      <a:lumMod val="25000"/>
                    </a:schemeClr>
                  </a:solidFill>
                  <a:latin typeface="Manrope"/>
                </a:rPr>
                <a:t>Zero cloud dependency. </a:t>
              </a:r>
            </a:p>
            <a:p>
              <a:pPr>
                <a:defRPr/>
              </a:pPr>
              <a:br>
                <a:rPr lang="en-US" sz="1200" i="1" dirty="0">
                  <a:solidFill>
                    <a:schemeClr val="bg1">
                      <a:lumMod val="25000"/>
                    </a:schemeClr>
                  </a:solidFill>
                  <a:latin typeface="Manrope"/>
                </a:rPr>
              </a:br>
              <a:r>
                <a:rPr lang="en-US" sz="1200" i="1" dirty="0">
                  <a:solidFill>
                    <a:schemeClr val="bg1">
                      <a:lumMod val="25000"/>
                    </a:schemeClr>
                  </a:solidFill>
                  <a:latin typeface="Manrope"/>
                </a:rPr>
                <a:t>Your academic data stays completely safe on your local machine.</a:t>
              </a:r>
              <a:endParaRPr sz="1200" dirty="0"/>
            </a:p>
          </p:txBody>
        </p:sp>
        <p:pic>
          <p:nvPicPr>
            <p:cNvPr id="27" name="Graphique 26">
              <a:extLst>
                <a:ext uri="{FF2B5EF4-FFF2-40B4-BE49-F238E27FC236}">
                  <a16:creationId xmlns:a16="http://schemas.microsoft.com/office/drawing/2014/main" id="{77451F61-4F8C-AC4E-8300-5099886271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 bwMode="auto">
            <a:xfrm>
              <a:off x="36113054" y="1779695"/>
              <a:ext cx="474160" cy="474160"/>
            </a:xfrm>
            <a:prstGeom prst="rect">
              <a:avLst/>
            </a:prstGeom>
          </p:spPr>
        </p:pic>
      </p:grpSp>
      <p:sp>
        <p:nvSpPr>
          <p:cNvPr id="239403588" name="Google Shape;536;p35">
            <a:extLst>
              <a:ext uri="{FF2B5EF4-FFF2-40B4-BE49-F238E27FC236}">
                <a16:creationId xmlns:a16="http://schemas.microsoft.com/office/drawing/2014/main" id="{937B0D9E-5F26-0945-6BAA-18928CDBE98C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1988852" y="529464"/>
            <a:ext cx="4410900" cy="62902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defRPr/>
            </a:pPr>
            <a:r>
              <a:rPr lang="fr-CH" dirty="0" err="1"/>
              <a:t>My</a:t>
            </a:r>
            <a:r>
              <a:rPr lang="fr-CH" dirty="0"/>
              <a:t> solution</a:t>
            </a:r>
            <a:endParaRPr dirty="0">
              <a:latin typeface="Archivo"/>
              <a:ea typeface="Archivo"/>
              <a:cs typeface="Archivo"/>
            </a:endParaRPr>
          </a:p>
        </p:txBody>
      </p:sp>
      <p:sp>
        <p:nvSpPr>
          <p:cNvPr id="823150496" name="Google Shape;538;p35">
            <a:extLst>
              <a:ext uri="{FF2B5EF4-FFF2-40B4-BE49-F238E27FC236}">
                <a16:creationId xmlns:a16="http://schemas.microsoft.com/office/drawing/2014/main" id="{C1AE7ED4-2ED9-B72B-C490-D3EEDFA76211}"/>
              </a:ext>
            </a:extLst>
          </p:cNvPr>
          <p:cNvSpPr txBox="1"/>
          <p:nvPr/>
        </p:nvSpPr>
        <p:spPr bwMode="auto">
          <a:xfrm>
            <a:off x="774794" y="508739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 dirty="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 dirty="0">
                <a:solidFill>
                  <a:schemeClr val="bg1"/>
                </a:solidFill>
                <a:latin typeface="Archivo Black"/>
                <a:cs typeface="Archivo Black"/>
              </a:rPr>
              <a:t>3</a:t>
            </a:r>
            <a:endParaRPr dirty="0"/>
          </a:p>
        </p:txBody>
      </p:sp>
      <p:sp>
        <p:nvSpPr>
          <p:cNvPr id="1912932472" name="Google Shape;537;p35">
            <a:extLst>
              <a:ext uri="{FF2B5EF4-FFF2-40B4-BE49-F238E27FC236}">
                <a16:creationId xmlns:a16="http://schemas.microsoft.com/office/drawing/2014/main" id="{F33DDE11-AB3D-D415-A4EC-F4280434EFB5}"/>
              </a:ext>
            </a:extLst>
          </p:cNvPr>
          <p:cNvSpPr txBox="1"/>
          <p:nvPr/>
        </p:nvSpPr>
        <p:spPr bwMode="auto">
          <a:xfrm>
            <a:off x="1043015" y="1629685"/>
            <a:ext cx="3528985" cy="322371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>
                <a:latin typeface="Manrope" pitchFamily="2" charset="0"/>
                <a:cs typeface="Mangal" panose="020B0502040204020203" pitchFamily="18" charset="0"/>
              </a:rPr>
              <a:t>A Tailor-Made Tool</a:t>
            </a:r>
            <a:endParaRPr lang="fr-FR" sz="1600" dirty="0">
              <a:latin typeface="Manrope" pitchFamily="2" charset="0"/>
              <a:cs typeface="Mangal" panose="020B0502040204020203" pitchFamily="18" charset="0"/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  <a:latin typeface="Manrope"/>
              </a:rPr>
              <a:t>ScholarLog</a:t>
            </a:r>
            <a:r>
              <a:rPr lang="en-US" dirty="0">
                <a:solidFill>
                  <a:schemeClr val="tx1"/>
                </a:solidFill>
                <a:latin typeface="Manrope"/>
              </a:rPr>
              <a:t> is an offline, all-in-one desktop application built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  <a:latin typeface="Manrope"/>
              </a:rPr>
              <a:t>specifically for EST students.</a:t>
            </a:r>
            <a:endParaRPr lang="en-US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</p:txBody>
      </p:sp>
      <p:sp>
        <p:nvSpPr>
          <p:cNvPr id="611398426" name="Google Shape;537;p35">
            <a:extLst>
              <a:ext uri="{FF2B5EF4-FFF2-40B4-BE49-F238E27FC236}">
                <a16:creationId xmlns:a16="http://schemas.microsoft.com/office/drawing/2014/main" id="{904BBEFB-2D27-BD6E-0231-D896754CE6E7}"/>
              </a:ext>
            </a:extLst>
          </p:cNvPr>
          <p:cNvSpPr txBox="1"/>
          <p:nvPr/>
        </p:nvSpPr>
        <p:spPr bwMode="auto">
          <a:xfrm>
            <a:off x="1992661" y="938810"/>
            <a:ext cx="3047689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dirty="0"/>
              <a:t>The </a:t>
            </a:r>
            <a:r>
              <a:rPr lang="fr-CH" dirty="0" err="1"/>
              <a:t>ScholarLog</a:t>
            </a:r>
            <a:r>
              <a:rPr lang="fr-CH" dirty="0"/>
              <a:t> Application</a:t>
            </a:r>
            <a:endParaRPr dirty="0"/>
          </a:p>
        </p:txBody>
      </p:sp>
      <p:sp>
        <p:nvSpPr>
          <p:cNvPr id="2" name="Google Shape;536;p35">
            <a:extLst>
              <a:ext uri="{FF2B5EF4-FFF2-40B4-BE49-F238E27FC236}">
                <a16:creationId xmlns:a16="http://schemas.microsoft.com/office/drawing/2014/main" id="{1A9E3C2C-6137-A2AB-D94E-C516BA159D70}"/>
              </a:ext>
            </a:extLst>
          </p:cNvPr>
          <p:cNvSpPr txBox="1">
            <a:spLocks/>
          </p:cNvSpPr>
          <p:nvPr/>
        </p:nvSpPr>
        <p:spPr bwMode="auto">
          <a:xfrm>
            <a:off x="1988852" y="-1736216"/>
            <a:ext cx="4410900" cy="629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9pPr>
          </a:lstStyle>
          <a:p>
            <a:pPr>
              <a:defRPr/>
            </a:pPr>
            <a:r>
              <a:rPr lang="fr-CH"/>
              <a:t>Needs</a:t>
            </a:r>
            <a:endParaRPr lang="fr-CH" dirty="0">
              <a:latin typeface="Archivo"/>
              <a:ea typeface="Archivo"/>
              <a:cs typeface="Archivo"/>
            </a:endParaRPr>
          </a:p>
        </p:txBody>
      </p:sp>
      <p:sp>
        <p:nvSpPr>
          <p:cNvPr id="3" name="Google Shape;538;p35">
            <a:extLst>
              <a:ext uri="{FF2B5EF4-FFF2-40B4-BE49-F238E27FC236}">
                <a16:creationId xmlns:a16="http://schemas.microsoft.com/office/drawing/2014/main" id="{91A49F8F-4C37-33B0-6E59-DF35B3B231F1}"/>
              </a:ext>
            </a:extLst>
          </p:cNvPr>
          <p:cNvSpPr txBox="1"/>
          <p:nvPr/>
        </p:nvSpPr>
        <p:spPr bwMode="auto">
          <a:xfrm>
            <a:off x="774794" y="-1756941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 dirty="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 dirty="0">
                <a:solidFill>
                  <a:schemeClr val="bg1"/>
                </a:solidFill>
                <a:latin typeface="Archivo Black"/>
                <a:cs typeface="Archivo Black"/>
              </a:rPr>
              <a:t>2</a:t>
            </a:r>
            <a:endParaRPr dirty="0"/>
          </a:p>
        </p:txBody>
      </p:sp>
      <p:sp>
        <p:nvSpPr>
          <p:cNvPr id="4" name="Google Shape;537;p35">
            <a:extLst>
              <a:ext uri="{FF2B5EF4-FFF2-40B4-BE49-F238E27FC236}">
                <a16:creationId xmlns:a16="http://schemas.microsoft.com/office/drawing/2014/main" id="{86B387FA-2A2F-C6F4-7429-D26DFB96691F}"/>
              </a:ext>
            </a:extLst>
          </p:cNvPr>
          <p:cNvSpPr txBox="1"/>
          <p:nvPr/>
        </p:nvSpPr>
        <p:spPr bwMode="auto">
          <a:xfrm>
            <a:off x="1992661" y="-1326870"/>
            <a:ext cx="3913463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What</a:t>
            </a: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a </a:t>
            </a:r>
            <a:r>
              <a:rPr lang="fr-CH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student</a:t>
            </a: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</a:t>
            </a:r>
            <a:r>
              <a:rPr lang="fr-CH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really</a:t>
            </a: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</a:t>
            </a:r>
            <a:r>
              <a:rPr lang="fr-CH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need</a:t>
            </a: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?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38F6D67-324E-8216-5BAD-3395F24CD4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93" r="15630" b="23508"/>
          <a:stretch>
            <a:fillRect/>
          </a:stretch>
        </p:blipFill>
        <p:spPr bwMode="auto">
          <a:xfrm>
            <a:off x="2810107" y="2096176"/>
            <a:ext cx="6586654" cy="3098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Google Shape;536;p35">
            <a:extLst>
              <a:ext uri="{FF2B5EF4-FFF2-40B4-BE49-F238E27FC236}">
                <a16:creationId xmlns:a16="http://schemas.microsoft.com/office/drawing/2014/main" id="{4CBFE538-375F-0D28-6E40-2F6A4E373720}"/>
              </a:ext>
            </a:extLst>
          </p:cNvPr>
          <p:cNvSpPr txBox="1">
            <a:spLocks/>
          </p:cNvSpPr>
          <p:nvPr/>
        </p:nvSpPr>
        <p:spPr bwMode="auto">
          <a:xfrm>
            <a:off x="-4618361" y="496669"/>
            <a:ext cx="4410900" cy="629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9pPr>
          </a:lstStyle>
          <a:p>
            <a:pPr>
              <a:defRPr/>
            </a:pPr>
            <a:r>
              <a:rPr lang="fr-CH"/>
              <a:t>Demonstration</a:t>
            </a:r>
            <a:endParaRPr lang="fr-CH" dirty="0">
              <a:latin typeface="Archivo"/>
              <a:ea typeface="Archivo"/>
              <a:cs typeface="Archivo"/>
            </a:endParaRPr>
          </a:p>
        </p:txBody>
      </p:sp>
      <p:sp>
        <p:nvSpPr>
          <p:cNvPr id="29" name="Google Shape;538;p35">
            <a:extLst>
              <a:ext uri="{FF2B5EF4-FFF2-40B4-BE49-F238E27FC236}">
                <a16:creationId xmlns:a16="http://schemas.microsoft.com/office/drawing/2014/main" id="{D5D5B5C5-7484-4ADC-CE91-870F839D01A7}"/>
              </a:ext>
            </a:extLst>
          </p:cNvPr>
          <p:cNvSpPr txBox="1"/>
          <p:nvPr/>
        </p:nvSpPr>
        <p:spPr bwMode="auto">
          <a:xfrm>
            <a:off x="-5832419" y="475944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 dirty="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 dirty="0">
                <a:solidFill>
                  <a:schemeClr val="bg1"/>
                </a:solidFill>
                <a:latin typeface="Archivo Black"/>
                <a:cs typeface="Archivo Black"/>
              </a:rPr>
              <a:t>4</a:t>
            </a:r>
            <a:endParaRPr dirty="0"/>
          </a:p>
        </p:txBody>
      </p:sp>
      <p:sp>
        <p:nvSpPr>
          <p:cNvPr id="30" name="Google Shape;537;p35">
            <a:extLst>
              <a:ext uri="{FF2B5EF4-FFF2-40B4-BE49-F238E27FC236}">
                <a16:creationId xmlns:a16="http://schemas.microsoft.com/office/drawing/2014/main" id="{54A1CF17-64C2-0DFD-41A5-091E6E19E5AE}"/>
              </a:ext>
            </a:extLst>
          </p:cNvPr>
          <p:cNvSpPr txBox="1"/>
          <p:nvPr/>
        </p:nvSpPr>
        <p:spPr bwMode="auto">
          <a:xfrm>
            <a:off x="701045" y="5796519"/>
            <a:ext cx="6621589" cy="7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b="1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Link to the installation files : </a:t>
            </a:r>
            <a:r>
              <a:rPr lang="fr-CH" b="1" i="1" dirty="0">
                <a:solidFill>
                  <a:schemeClr val="tx1">
                    <a:lumMod val="50000"/>
                    <a:lumOff val="50000"/>
                  </a:schemeClr>
                </a:solidFill>
                <a:latin typeface="Manrope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https://github.com/Hoferlukaslh/ScholarLog/releases/tag/v1.0 </a:t>
            </a:r>
            <a:endParaRPr lang="fr-FR" i="1" dirty="0">
              <a:solidFill>
                <a:schemeClr val="tx1">
                  <a:lumMod val="50000"/>
                  <a:lumOff val="50000"/>
                </a:schemeClr>
              </a:solidFill>
              <a:latin typeface="Manrope"/>
            </a:endParaRPr>
          </a:p>
          <a:p>
            <a:pPr>
              <a:defRPr/>
            </a:pPr>
            <a:endParaRPr lang="fr-FR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dirty="0"/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A7332580-3119-F2A7-36C6-4A4A3920FFE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 bwMode="auto">
          <a:xfrm>
            <a:off x="-9244218" y="1658485"/>
            <a:ext cx="7447186" cy="2687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4365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1BBCD0C7-4132-FD11-984D-EC0AA414881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9403588" name="Google Shape;536;p35">
            <a:extLst>
              <a:ext uri="{FF2B5EF4-FFF2-40B4-BE49-F238E27FC236}">
                <a16:creationId xmlns:a16="http://schemas.microsoft.com/office/drawing/2014/main" id="{C2A95F73-228A-FA64-2EA6-B178498E3F02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1988852" y="529464"/>
            <a:ext cx="4410900" cy="62902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defRPr/>
            </a:pPr>
            <a:r>
              <a:rPr lang="fr-CH" dirty="0" err="1"/>
              <a:t>Demonstration</a:t>
            </a:r>
            <a:endParaRPr dirty="0">
              <a:latin typeface="Archivo"/>
              <a:ea typeface="Archivo"/>
              <a:cs typeface="Archivo"/>
            </a:endParaRPr>
          </a:p>
        </p:txBody>
      </p:sp>
      <p:sp>
        <p:nvSpPr>
          <p:cNvPr id="823150496" name="Google Shape;538;p35">
            <a:extLst>
              <a:ext uri="{FF2B5EF4-FFF2-40B4-BE49-F238E27FC236}">
                <a16:creationId xmlns:a16="http://schemas.microsoft.com/office/drawing/2014/main" id="{335F12DC-4C7A-9647-3A5F-9D387B86AB76}"/>
              </a:ext>
            </a:extLst>
          </p:cNvPr>
          <p:cNvSpPr txBox="1"/>
          <p:nvPr/>
        </p:nvSpPr>
        <p:spPr bwMode="auto">
          <a:xfrm>
            <a:off x="774794" y="508739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 dirty="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 dirty="0">
                <a:solidFill>
                  <a:schemeClr val="bg1"/>
                </a:solidFill>
                <a:latin typeface="Archivo Black"/>
                <a:cs typeface="Archivo Black"/>
              </a:rPr>
              <a:t>4</a:t>
            </a:r>
            <a:endParaRPr dirty="0"/>
          </a:p>
        </p:txBody>
      </p:sp>
      <p:sp>
        <p:nvSpPr>
          <p:cNvPr id="1912932472" name="Google Shape;537;p35">
            <a:extLst>
              <a:ext uri="{FF2B5EF4-FFF2-40B4-BE49-F238E27FC236}">
                <a16:creationId xmlns:a16="http://schemas.microsoft.com/office/drawing/2014/main" id="{9ED848E1-5C71-08D8-D74B-104235DA0889}"/>
              </a:ext>
            </a:extLst>
          </p:cNvPr>
          <p:cNvSpPr txBox="1"/>
          <p:nvPr/>
        </p:nvSpPr>
        <p:spPr bwMode="auto">
          <a:xfrm>
            <a:off x="701045" y="4222364"/>
            <a:ext cx="6621589" cy="7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b="1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Link to the installation files : </a:t>
            </a:r>
            <a:r>
              <a:rPr lang="fr-CH" b="1" i="1" dirty="0">
                <a:solidFill>
                  <a:schemeClr val="tx1">
                    <a:lumMod val="50000"/>
                    <a:lumOff val="50000"/>
                  </a:schemeClr>
                </a:solidFill>
                <a:latin typeface="Manrope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https://github.com/Hoferlukaslh/ScholarLog/releases/tag/v1.0 </a:t>
            </a:r>
            <a:endParaRPr lang="fr-FR" i="1" dirty="0">
              <a:solidFill>
                <a:schemeClr val="tx1">
                  <a:lumMod val="50000"/>
                  <a:lumOff val="50000"/>
                </a:schemeClr>
              </a:solidFill>
              <a:latin typeface="Manrope"/>
            </a:endParaRPr>
          </a:p>
          <a:p>
            <a:pPr>
              <a:defRPr/>
            </a:pPr>
            <a:endParaRPr lang="fr-FR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D14D5318-A73E-3E36-AAB2-B99A53D2CE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794" y="1408510"/>
            <a:ext cx="7447186" cy="2687532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5D716E84-DDE6-E630-4B3C-49826839106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93" r="15630" b="23508"/>
          <a:stretch>
            <a:fillRect/>
          </a:stretch>
        </p:blipFill>
        <p:spPr bwMode="auto">
          <a:xfrm rot="20366180">
            <a:off x="2708506" y="5154110"/>
            <a:ext cx="6586654" cy="3098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536;p35">
            <a:extLst>
              <a:ext uri="{FF2B5EF4-FFF2-40B4-BE49-F238E27FC236}">
                <a16:creationId xmlns:a16="http://schemas.microsoft.com/office/drawing/2014/main" id="{12D2ED8D-FC71-0DE6-167B-1B747CF9442D}"/>
              </a:ext>
            </a:extLst>
          </p:cNvPr>
          <p:cNvSpPr txBox="1">
            <a:spLocks/>
          </p:cNvSpPr>
          <p:nvPr/>
        </p:nvSpPr>
        <p:spPr bwMode="auto">
          <a:xfrm>
            <a:off x="16526671" y="529464"/>
            <a:ext cx="4410900" cy="629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9pPr>
          </a:lstStyle>
          <a:p>
            <a:pPr>
              <a:defRPr/>
            </a:pPr>
            <a:r>
              <a:rPr lang="fr-CH"/>
              <a:t>My solution</a:t>
            </a:r>
            <a:endParaRPr lang="fr-CH" dirty="0">
              <a:latin typeface="Archivo"/>
              <a:ea typeface="Archivo"/>
              <a:cs typeface="Archivo"/>
            </a:endParaRPr>
          </a:p>
        </p:txBody>
      </p:sp>
      <p:sp>
        <p:nvSpPr>
          <p:cNvPr id="4" name="Google Shape;538;p35">
            <a:extLst>
              <a:ext uri="{FF2B5EF4-FFF2-40B4-BE49-F238E27FC236}">
                <a16:creationId xmlns:a16="http://schemas.microsoft.com/office/drawing/2014/main" id="{7D6E9ACD-63AB-F2DD-4C77-685DFBBF9712}"/>
              </a:ext>
            </a:extLst>
          </p:cNvPr>
          <p:cNvSpPr txBox="1"/>
          <p:nvPr/>
        </p:nvSpPr>
        <p:spPr bwMode="auto">
          <a:xfrm>
            <a:off x="15312613" y="508739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 dirty="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 dirty="0">
                <a:solidFill>
                  <a:schemeClr val="bg1"/>
                </a:solidFill>
                <a:latin typeface="Archivo Black"/>
                <a:cs typeface="Archivo Black"/>
              </a:rPr>
              <a:t>3</a:t>
            </a:r>
            <a:endParaRPr dirty="0"/>
          </a:p>
        </p:txBody>
      </p:sp>
      <p:sp>
        <p:nvSpPr>
          <p:cNvPr id="5" name="Google Shape;537;p35">
            <a:extLst>
              <a:ext uri="{FF2B5EF4-FFF2-40B4-BE49-F238E27FC236}">
                <a16:creationId xmlns:a16="http://schemas.microsoft.com/office/drawing/2014/main" id="{ACC7A11E-BD1D-7C2D-EB05-A7F39F84DB45}"/>
              </a:ext>
            </a:extLst>
          </p:cNvPr>
          <p:cNvSpPr txBox="1"/>
          <p:nvPr/>
        </p:nvSpPr>
        <p:spPr bwMode="auto">
          <a:xfrm>
            <a:off x="16530480" y="938810"/>
            <a:ext cx="3047689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dirty="0"/>
              <a:t>The </a:t>
            </a:r>
            <a:r>
              <a:rPr lang="fr-CH" dirty="0" err="1"/>
              <a:t>ScholarLog</a:t>
            </a:r>
            <a:r>
              <a:rPr lang="fr-CH" dirty="0"/>
              <a:t> Application</a:t>
            </a:r>
            <a:endParaRPr dirty="0"/>
          </a:p>
        </p:txBody>
      </p:sp>
      <p:sp>
        <p:nvSpPr>
          <p:cNvPr id="6" name="Google Shape;537;p35">
            <a:extLst>
              <a:ext uri="{FF2B5EF4-FFF2-40B4-BE49-F238E27FC236}">
                <a16:creationId xmlns:a16="http://schemas.microsoft.com/office/drawing/2014/main" id="{0986E62D-7D56-C14A-BD8C-96ADFF73FBF5}"/>
              </a:ext>
            </a:extLst>
          </p:cNvPr>
          <p:cNvSpPr txBox="1"/>
          <p:nvPr/>
        </p:nvSpPr>
        <p:spPr bwMode="auto">
          <a:xfrm rot="667655">
            <a:off x="6946103" y="8778482"/>
            <a:ext cx="3528985" cy="322371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sz="1600" b="1" dirty="0">
                <a:latin typeface="Manrope" pitchFamily="2" charset="0"/>
                <a:cs typeface="Mangal" panose="020B0502040204020203" pitchFamily="18" charset="0"/>
              </a:rPr>
              <a:t>A Tailor-Made Tool</a:t>
            </a:r>
            <a:endParaRPr lang="fr-FR" sz="1600" dirty="0">
              <a:latin typeface="Manrope" pitchFamily="2" charset="0"/>
              <a:cs typeface="Mangal" panose="020B0502040204020203" pitchFamily="18" charset="0"/>
            </a:endParaRPr>
          </a:p>
          <a:p>
            <a:pPr>
              <a:defRPr/>
            </a:pPr>
            <a:r>
              <a:rPr lang="en-US" dirty="0" err="1">
                <a:solidFill>
                  <a:schemeClr val="tx1"/>
                </a:solidFill>
                <a:latin typeface="Manrope"/>
              </a:rPr>
              <a:t>ScholarLog</a:t>
            </a:r>
            <a:r>
              <a:rPr lang="en-US" dirty="0">
                <a:solidFill>
                  <a:schemeClr val="tx1"/>
                </a:solidFill>
                <a:latin typeface="Manrope"/>
              </a:rPr>
              <a:t> is an offline, all-in-one desktop application built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  <a:latin typeface="Manrope"/>
              </a:rPr>
              <a:t>specifically for EST students.</a:t>
            </a:r>
            <a:endParaRPr lang="en-US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</p:txBody>
      </p:sp>
      <p:sp>
        <p:nvSpPr>
          <p:cNvPr id="7" name="Google Shape;536;p35">
            <a:extLst>
              <a:ext uri="{FF2B5EF4-FFF2-40B4-BE49-F238E27FC236}">
                <a16:creationId xmlns:a16="http://schemas.microsoft.com/office/drawing/2014/main" id="{CFBFBACA-6F87-2151-7BC0-2D7A69DA40C8}"/>
              </a:ext>
            </a:extLst>
          </p:cNvPr>
          <p:cNvSpPr txBox="1">
            <a:spLocks/>
          </p:cNvSpPr>
          <p:nvPr/>
        </p:nvSpPr>
        <p:spPr bwMode="auto">
          <a:xfrm>
            <a:off x="1911888" y="-1710577"/>
            <a:ext cx="4410900" cy="629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9pPr>
          </a:lstStyle>
          <a:p>
            <a:pPr>
              <a:defRPr/>
            </a:pPr>
            <a:r>
              <a:rPr lang="fr-CH" dirty="0"/>
              <a:t>Conclusion</a:t>
            </a:r>
            <a:endParaRPr lang="fr-CH" dirty="0">
              <a:latin typeface="Archivo"/>
              <a:ea typeface="Archivo"/>
              <a:cs typeface="Archivo"/>
            </a:endParaRPr>
          </a:p>
        </p:txBody>
      </p:sp>
      <p:sp>
        <p:nvSpPr>
          <p:cNvPr id="8" name="Google Shape;538;p35">
            <a:extLst>
              <a:ext uri="{FF2B5EF4-FFF2-40B4-BE49-F238E27FC236}">
                <a16:creationId xmlns:a16="http://schemas.microsoft.com/office/drawing/2014/main" id="{EBA3D704-6F6B-3B82-7AF5-EE316EA6EE90}"/>
              </a:ext>
            </a:extLst>
          </p:cNvPr>
          <p:cNvSpPr txBox="1"/>
          <p:nvPr/>
        </p:nvSpPr>
        <p:spPr bwMode="auto">
          <a:xfrm>
            <a:off x="697830" y="-1731302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 dirty="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 dirty="0">
                <a:solidFill>
                  <a:schemeClr val="bg1"/>
                </a:solidFill>
                <a:latin typeface="Archivo Black"/>
                <a:cs typeface="Archivo Black"/>
              </a:rPr>
              <a:t>5</a:t>
            </a:r>
            <a:endParaRPr dirty="0"/>
          </a:p>
        </p:txBody>
      </p:sp>
      <p:sp>
        <p:nvSpPr>
          <p:cNvPr id="9" name="Google Shape;537;p35">
            <a:extLst>
              <a:ext uri="{FF2B5EF4-FFF2-40B4-BE49-F238E27FC236}">
                <a16:creationId xmlns:a16="http://schemas.microsoft.com/office/drawing/2014/main" id="{EE19F44A-D065-F540-77B5-9DEC51A502D2}"/>
              </a:ext>
            </a:extLst>
          </p:cNvPr>
          <p:cNvSpPr txBox="1"/>
          <p:nvPr/>
        </p:nvSpPr>
        <p:spPr bwMode="auto">
          <a:xfrm>
            <a:off x="1915698" y="-1301231"/>
            <a:ext cx="1979898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Why </a:t>
            </a:r>
            <a:r>
              <a:rPr lang="fr-CH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ScholarLog</a:t>
            </a: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?</a:t>
            </a:r>
            <a:endParaRPr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1BD95652-CC3D-C383-68D3-9982C5E2B8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 rot="4899767">
            <a:off x="9404177" y="-2149981"/>
            <a:ext cx="2697635" cy="150783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  <a:reflection stA="3000" endPos="65000" dist="50800" dir="5400000" sy="-100000" algn="bl" rotWithShape="0"/>
          </a:effectLst>
          <a:scene3d>
            <a:camera prst="perspectiveContrastingLeftFacing">
              <a:rot lat="20949963" lon="1645717" rev="21232854"/>
            </a:camera>
            <a:lightRig rig="threePt" dir="t"/>
          </a:scene3d>
        </p:spPr>
      </p:pic>
      <p:pic>
        <p:nvPicPr>
          <p:cNvPr id="12" name="Graphique 11">
            <a:extLst>
              <a:ext uri="{FF2B5EF4-FFF2-40B4-BE49-F238E27FC236}">
                <a16:creationId xmlns:a16="http://schemas.microsoft.com/office/drawing/2014/main" id="{B8FD5ED4-D9F8-20B1-E57B-416E3B1ED6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 bwMode="auto">
          <a:xfrm>
            <a:off x="-13639383" y="2513839"/>
            <a:ext cx="446014" cy="446014"/>
          </a:xfrm>
          <a:prstGeom prst="rect">
            <a:avLst/>
          </a:prstGeom>
        </p:spPr>
      </p:pic>
      <p:pic>
        <p:nvPicPr>
          <p:cNvPr id="13" name="Graphique 12">
            <a:extLst>
              <a:ext uri="{FF2B5EF4-FFF2-40B4-BE49-F238E27FC236}">
                <a16:creationId xmlns:a16="http://schemas.microsoft.com/office/drawing/2014/main" id="{6F538775-F9A2-A007-E89C-AAE2C43C38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 bwMode="auto">
          <a:xfrm>
            <a:off x="-5848319" y="2513839"/>
            <a:ext cx="504638" cy="504638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63CF6F9B-AA18-7543-4475-F45104AB3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 bwMode="auto">
          <a:xfrm>
            <a:off x="-1012049" y="2513839"/>
            <a:ext cx="504638" cy="504638"/>
          </a:xfrm>
          <a:prstGeom prst="rect">
            <a:avLst/>
          </a:prstGeom>
        </p:spPr>
      </p:pic>
      <p:sp>
        <p:nvSpPr>
          <p:cNvPr id="15" name="Google Shape;537;p35">
            <a:extLst>
              <a:ext uri="{FF2B5EF4-FFF2-40B4-BE49-F238E27FC236}">
                <a16:creationId xmlns:a16="http://schemas.microsoft.com/office/drawing/2014/main" id="{04F12F4F-A218-D5BD-1834-360F47E96EBB}"/>
              </a:ext>
            </a:extLst>
          </p:cNvPr>
          <p:cNvSpPr txBox="1"/>
          <p:nvPr/>
        </p:nvSpPr>
        <p:spPr bwMode="auto">
          <a:xfrm>
            <a:off x="-14871480" y="3455693"/>
            <a:ext cx="2464194" cy="388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fr-CH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nrope" pitchFamily="2" charset="0"/>
              </a:rPr>
              <a:t>Time </a:t>
            </a:r>
            <a:r>
              <a:rPr kumimoji="0" lang="fr-CH" sz="16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nrope" pitchFamily="2" charset="0"/>
              </a:rPr>
              <a:t>saved</a:t>
            </a:r>
            <a:endParaRPr sz="1200" dirty="0"/>
          </a:p>
        </p:txBody>
      </p:sp>
      <p:sp>
        <p:nvSpPr>
          <p:cNvPr id="16" name="Google Shape;537;p35">
            <a:extLst>
              <a:ext uri="{FF2B5EF4-FFF2-40B4-BE49-F238E27FC236}">
                <a16:creationId xmlns:a16="http://schemas.microsoft.com/office/drawing/2014/main" id="{A667DF87-CDB2-F27A-D292-7E2E62E1FD0B}"/>
              </a:ext>
            </a:extLst>
          </p:cNvPr>
          <p:cNvSpPr txBox="1"/>
          <p:nvPr/>
        </p:nvSpPr>
        <p:spPr bwMode="auto">
          <a:xfrm>
            <a:off x="-7080416" y="3455694"/>
            <a:ext cx="2464194" cy="388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fr-CH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nrope" pitchFamily="2" charset="0"/>
              </a:rPr>
              <a:t>GPLv3 Open Source</a:t>
            </a:r>
            <a:endParaRPr sz="1200" dirty="0"/>
          </a:p>
        </p:txBody>
      </p:sp>
      <p:sp>
        <p:nvSpPr>
          <p:cNvPr id="18" name="Google Shape;537;p35">
            <a:extLst>
              <a:ext uri="{FF2B5EF4-FFF2-40B4-BE49-F238E27FC236}">
                <a16:creationId xmlns:a16="http://schemas.microsoft.com/office/drawing/2014/main" id="{45CF351A-01FD-B9C6-0D00-9C5C796C4BFE}"/>
              </a:ext>
            </a:extLst>
          </p:cNvPr>
          <p:cNvSpPr txBox="1"/>
          <p:nvPr/>
        </p:nvSpPr>
        <p:spPr bwMode="auto">
          <a:xfrm>
            <a:off x="-2330502" y="3455693"/>
            <a:ext cx="2464194" cy="3582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fr-CH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nrope" pitchFamily="2" charset="0"/>
              </a:rPr>
              <a:t>Cross-Platform</a:t>
            </a:r>
            <a:endParaRPr sz="1200" dirty="0"/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182052B0-E424-D041-15DA-06E5F6DEFF84}"/>
              </a:ext>
            </a:extLst>
          </p:cNvPr>
          <p:cNvCxnSpPr>
            <a:cxnSpLocks/>
          </p:cNvCxnSpPr>
          <p:nvPr/>
        </p:nvCxnSpPr>
        <p:spPr bwMode="auto">
          <a:xfrm>
            <a:off x="13092898" y="3312160"/>
            <a:ext cx="221415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7994FA22-CC7C-2EBC-B929-8603FA85A86D}"/>
              </a:ext>
            </a:extLst>
          </p:cNvPr>
          <p:cNvCxnSpPr>
            <a:cxnSpLocks/>
          </p:cNvCxnSpPr>
          <p:nvPr/>
        </p:nvCxnSpPr>
        <p:spPr bwMode="auto">
          <a:xfrm>
            <a:off x="20879852" y="3312160"/>
            <a:ext cx="221415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77DA5140-E213-63FC-BECD-6238CB076DEA}"/>
              </a:ext>
            </a:extLst>
          </p:cNvPr>
          <p:cNvCxnSpPr>
            <a:cxnSpLocks/>
          </p:cNvCxnSpPr>
          <p:nvPr/>
        </p:nvCxnSpPr>
        <p:spPr bwMode="auto">
          <a:xfrm>
            <a:off x="25476236" y="3312160"/>
            <a:ext cx="221415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02983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6FE6DE50-B272-47A7-F490-26063890AF1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9403588" name="Google Shape;536;p35">
            <a:extLst>
              <a:ext uri="{FF2B5EF4-FFF2-40B4-BE49-F238E27FC236}">
                <a16:creationId xmlns:a16="http://schemas.microsoft.com/office/drawing/2014/main" id="{CC525EFA-CFEE-37B4-5AB8-A6BD0406B57B}"/>
              </a:ext>
            </a:extLst>
          </p:cNvPr>
          <p:cNvSpPr txBox="1">
            <a:spLocks noGrp="1"/>
          </p:cNvSpPr>
          <p:nvPr>
            <p:ph type="title"/>
          </p:nvPr>
        </p:nvSpPr>
        <p:spPr bwMode="auto">
          <a:xfrm>
            <a:off x="1988852" y="529464"/>
            <a:ext cx="4410900" cy="62902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>
              <a:defRPr/>
            </a:pPr>
            <a:r>
              <a:rPr lang="fr-CH" dirty="0"/>
              <a:t>Conclusion</a:t>
            </a:r>
            <a:endParaRPr dirty="0">
              <a:latin typeface="Archivo"/>
              <a:ea typeface="Archivo"/>
              <a:cs typeface="Archivo"/>
            </a:endParaRPr>
          </a:p>
        </p:txBody>
      </p:sp>
      <p:sp>
        <p:nvSpPr>
          <p:cNvPr id="823150496" name="Google Shape;538;p35">
            <a:extLst>
              <a:ext uri="{FF2B5EF4-FFF2-40B4-BE49-F238E27FC236}">
                <a16:creationId xmlns:a16="http://schemas.microsoft.com/office/drawing/2014/main" id="{26A1BDB4-00BE-E277-E661-431CE7AB5759}"/>
              </a:ext>
            </a:extLst>
          </p:cNvPr>
          <p:cNvSpPr txBox="1"/>
          <p:nvPr/>
        </p:nvSpPr>
        <p:spPr bwMode="auto">
          <a:xfrm>
            <a:off x="774794" y="508739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 dirty="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 dirty="0">
                <a:solidFill>
                  <a:schemeClr val="bg1"/>
                </a:solidFill>
                <a:latin typeface="Archivo Black"/>
                <a:cs typeface="Archivo Black"/>
              </a:rPr>
              <a:t>5</a:t>
            </a:r>
            <a:endParaRPr dirty="0"/>
          </a:p>
        </p:txBody>
      </p:sp>
      <p:sp>
        <p:nvSpPr>
          <p:cNvPr id="611398426" name="Google Shape;537;p35">
            <a:extLst>
              <a:ext uri="{FF2B5EF4-FFF2-40B4-BE49-F238E27FC236}">
                <a16:creationId xmlns:a16="http://schemas.microsoft.com/office/drawing/2014/main" id="{A557F1BC-5D1A-A9D8-60A9-FA03787B0BF8}"/>
              </a:ext>
            </a:extLst>
          </p:cNvPr>
          <p:cNvSpPr txBox="1"/>
          <p:nvPr/>
        </p:nvSpPr>
        <p:spPr bwMode="auto">
          <a:xfrm>
            <a:off x="1992662" y="938810"/>
            <a:ext cx="1979898" cy="377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Why </a:t>
            </a:r>
            <a:r>
              <a:rPr lang="fr-CH" dirty="0" err="1">
                <a:solidFill>
                  <a:schemeClr val="bg1">
                    <a:lumMod val="25000"/>
                  </a:schemeClr>
                </a:solidFill>
                <a:latin typeface="Manrope"/>
              </a:rPr>
              <a:t>ScholarLog</a:t>
            </a:r>
            <a:r>
              <a:rPr lang="fr-CH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 ?</a:t>
            </a:r>
            <a:endParaRPr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D0128C9-55EC-9BED-E7CB-89197EB470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71570" y="889018"/>
            <a:ext cx="2697635" cy="150783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  <a:reflection stA="3000" endPos="65000" dist="50800" dir="5400000" sy="-100000" algn="bl" rotWithShape="0"/>
          </a:effectLst>
          <a:scene3d>
            <a:camera prst="perspectiveContrastingLeftFacing">
              <a:rot lat="20949963" lon="1645717" rev="21232854"/>
            </a:camera>
            <a:lightRig rig="threePt" dir="t"/>
          </a:scene3d>
        </p:spPr>
      </p:pic>
      <p:sp>
        <p:nvSpPr>
          <p:cNvPr id="4" name="Google Shape;537;p35">
            <a:extLst>
              <a:ext uri="{FF2B5EF4-FFF2-40B4-BE49-F238E27FC236}">
                <a16:creationId xmlns:a16="http://schemas.microsoft.com/office/drawing/2014/main" id="{3F4A21D6-ECB6-C7C1-47F8-F99641E8394D}"/>
              </a:ext>
            </a:extLst>
          </p:cNvPr>
          <p:cNvSpPr txBox="1"/>
          <p:nvPr/>
        </p:nvSpPr>
        <p:spPr bwMode="auto">
          <a:xfrm>
            <a:off x="774794" y="3306278"/>
            <a:ext cx="2464194" cy="99140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en-US" sz="12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Eliminates manual calculations and chaotic excel sheets, </a:t>
            </a:r>
            <a:br>
              <a:rPr lang="en-US" sz="12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</a:br>
            <a:endParaRPr lang="en-US" sz="12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r>
              <a:rPr lang="en-US" sz="12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saving hours of administrative work every module.</a:t>
            </a:r>
            <a:endParaRPr lang="fr-FR" sz="12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sz="1200" dirty="0"/>
          </a:p>
        </p:txBody>
      </p:sp>
      <p:sp>
        <p:nvSpPr>
          <p:cNvPr id="8" name="Google Shape;537;p35">
            <a:extLst>
              <a:ext uri="{FF2B5EF4-FFF2-40B4-BE49-F238E27FC236}">
                <a16:creationId xmlns:a16="http://schemas.microsoft.com/office/drawing/2014/main" id="{5245B9E1-1C62-CC6E-5E7C-09C6C486F2AA}"/>
              </a:ext>
            </a:extLst>
          </p:cNvPr>
          <p:cNvSpPr txBox="1"/>
          <p:nvPr/>
        </p:nvSpPr>
        <p:spPr bwMode="auto">
          <a:xfrm>
            <a:off x="3538316" y="3312158"/>
            <a:ext cx="2464194" cy="11836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en-US" sz="12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A collaborative, transparent tool. </a:t>
            </a:r>
          </a:p>
          <a:p>
            <a:pPr>
              <a:defRPr/>
            </a:pPr>
            <a:endParaRPr lang="en-US" sz="1200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r>
              <a:rPr lang="en-US" sz="12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Free forever, guaranteeing that the code can evolve with future student needs.</a:t>
            </a:r>
            <a:endParaRPr sz="1200" dirty="0"/>
          </a:p>
        </p:txBody>
      </p:sp>
      <p:sp>
        <p:nvSpPr>
          <p:cNvPr id="9" name="Google Shape;537;p35">
            <a:extLst>
              <a:ext uri="{FF2B5EF4-FFF2-40B4-BE49-F238E27FC236}">
                <a16:creationId xmlns:a16="http://schemas.microsoft.com/office/drawing/2014/main" id="{05E13F97-27E6-0F0E-C492-6D5EAC086151}"/>
              </a:ext>
            </a:extLst>
          </p:cNvPr>
          <p:cNvSpPr txBox="1"/>
          <p:nvPr/>
        </p:nvSpPr>
        <p:spPr bwMode="auto">
          <a:xfrm>
            <a:off x="6301838" y="3312158"/>
            <a:ext cx="2464194" cy="98552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en-US" sz="1200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Fully automated deployment scripts provide native, optimized installers for Windows, macOS, and Linux.</a:t>
            </a:r>
            <a:endParaRPr sz="1200" dirty="0"/>
          </a:p>
        </p:txBody>
      </p:sp>
      <p:pic>
        <p:nvPicPr>
          <p:cNvPr id="13" name="Graphique 12">
            <a:extLst>
              <a:ext uri="{FF2B5EF4-FFF2-40B4-BE49-F238E27FC236}">
                <a16:creationId xmlns:a16="http://schemas.microsoft.com/office/drawing/2014/main" id="{11EF3BE6-AEDF-DE06-E318-D354154806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2130" y="2513839"/>
            <a:ext cx="446014" cy="446014"/>
          </a:xfrm>
          <a:prstGeom prst="rect">
            <a:avLst/>
          </a:prstGeom>
        </p:spPr>
      </p:pic>
      <p:pic>
        <p:nvPicPr>
          <p:cNvPr id="15" name="Graphique 14">
            <a:extLst>
              <a:ext uri="{FF2B5EF4-FFF2-40B4-BE49-F238E27FC236}">
                <a16:creationId xmlns:a16="http://schemas.microsoft.com/office/drawing/2014/main" id="{4A0CC1C3-53D0-8E98-8C20-227AAC0C83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96629" y="2513839"/>
            <a:ext cx="504638" cy="504638"/>
          </a:xfrm>
          <a:prstGeom prst="rect">
            <a:avLst/>
          </a:prstGeom>
        </p:spPr>
      </p:pic>
      <p:pic>
        <p:nvPicPr>
          <p:cNvPr id="17" name="Graphique 16">
            <a:extLst>
              <a:ext uri="{FF2B5EF4-FFF2-40B4-BE49-F238E27FC236}">
                <a16:creationId xmlns:a16="http://schemas.microsoft.com/office/drawing/2014/main" id="{1D0D0BEE-D210-437C-2774-90F55EDD74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95756" y="2513839"/>
            <a:ext cx="504638" cy="504638"/>
          </a:xfrm>
          <a:prstGeom prst="rect">
            <a:avLst/>
          </a:prstGeom>
        </p:spPr>
      </p:pic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CC6F6309-F88A-361C-2917-E8E177DF633A}"/>
              </a:ext>
            </a:extLst>
          </p:cNvPr>
          <p:cNvCxnSpPr>
            <a:cxnSpLocks/>
          </p:cNvCxnSpPr>
          <p:nvPr/>
        </p:nvCxnSpPr>
        <p:spPr>
          <a:xfrm>
            <a:off x="870418" y="3312160"/>
            <a:ext cx="221415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438DD1C9-C699-1118-8F33-539113C2A2C5}"/>
              </a:ext>
            </a:extLst>
          </p:cNvPr>
          <p:cNvCxnSpPr>
            <a:cxnSpLocks/>
          </p:cNvCxnSpPr>
          <p:nvPr/>
        </p:nvCxnSpPr>
        <p:spPr bwMode="auto">
          <a:xfrm>
            <a:off x="3628172" y="3312160"/>
            <a:ext cx="221415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9F061A08-EA79-5A49-4055-0B83300EEEE1}"/>
              </a:ext>
            </a:extLst>
          </p:cNvPr>
          <p:cNvCxnSpPr>
            <a:cxnSpLocks/>
          </p:cNvCxnSpPr>
          <p:nvPr/>
        </p:nvCxnSpPr>
        <p:spPr bwMode="auto">
          <a:xfrm>
            <a:off x="6395756" y="3312160"/>
            <a:ext cx="221415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Google Shape;536;p35">
            <a:extLst>
              <a:ext uri="{FF2B5EF4-FFF2-40B4-BE49-F238E27FC236}">
                <a16:creationId xmlns:a16="http://schemas.microsoft.com/office/drawing/2014/main" id="{0FD22489-9A07-2115-34D4-D5A77BA561AF}"/>
              </a:ext>
            </a:extLst>
          </p:cNvPr>
          <p:cNvSpPr txBox="1">
            <a:spLocks/>
          </p:cNvSpPr>
          <p:nvPr/>
        </p:nvSpPr>
        <p:spPr bwMode="auto">
          <a:xfrm>
            <a:off x="1988852" y="-3128136"/>
            <a:ext cx="4410900" cy="629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chivo Black"/>
              <a:buNone/>
              <a:defRPr sz="3200" b="0" i="0" u="none" strike="noStrike" cap="none">
                <a:solidFill>
                  <a:schemeClr val="dk1"/>
                </a:solidFill>
                <a:latin typeface="Archivo Black"/>
                <a:ea typeface="Archivo Black"/>
                <a:cs typeface="Archivo Black"/>
              </a:defRPr>
            </a:lvl9pPr>
          </a:lstStyle>
          <a:p>
            <a:pPr>
              <a:defRPr/>
            </a:pPr>
            <a:r>
              <a:rPr lang="fr-CH"/>
              <a:t>Demonstration</a:t>
            </a:r>
            <a:endParaRPr lang="fr-CH" dirty="0">
              <a:latin typeface="Archivo"/>
              <a:ea typeface="Archivo"/>
              <a:cs typeface="Archivo"/>
            </a:endParaRPr>
          </a:p>
        </p:txBody>
      </p:sp>
      <p:sp>
        <p:nvSpPr>
          <p:cNvPr id="5" name="Google Shape;538;p35">
            <a:extLst>
              <a:ext uri="{FF2B5EF4-FFF2-40B4-BE49-F238E27FC236}">
                <a16:creationId xmlns:a16="http://schemas.microsoft.com/office/drawing/2014/main" id="{1274DE5C-B730-CA85-3F0B-21168438A922}"/>
              </a:ext>
            </a:extLst>
          </p:cNvPr>
          <p:cNvSpPr txBox="1"/>
          <p:nvPr/>
        </p:nvSpPr>
        <p:spPr bwMode="auto">
          <a:xfrm>
            <a:off x="774794" y="-3148861"/>
            <a:ext cx="1046700" cy="711600"/>
          </a:xfrm>
          <a:prstGeom prst="rect">
            <a:avLst/>
          </a:prstGeom>
          <a:solidFill>
            <a:schemeClr val="tx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 dirty="0">
                <a:solidFill>
                  <a:schemeClr val="bg1"/>
                </a:solidFill>
                <a:latin typeface="Archivo Black"/>
                <a:cs typeface="Archivo Black"/>
              </a:rPr>
              <a:t>0</a:t>
            </a:r>
            <a:r>
              <a:rPr lang="fr-CH" sz="4500" dirty="0">
                <a:solidFill>
                  <a:schemeClr val="bg1"/>
                </a:solidFill>
                <a:latin typeface="Archivo Black"/>
                <a:cs typeface="Archivo Black"/>
              </a:rPr>
              <a:t>4</a:t>
            </a:r>
            <a:endParaRPr dirty="0"/>
          </a:p>
        </p:txBody>
      </p:sp>
      <p:sp>
        <p:nvSpPr>
          <p:cNvPr id="6" name="Google Shape;537;p35">
            <a:extLst>
              <a:ext uri="{FF2B5EF4-FFF2-40B4-BE49-F238E27FC236}">
                <a16:creationId xmlns:a16="http://schemas.microsoft.com/office/drawing/2014/main" id="{A0179624-B4BA-76BE-FBD2-2F3B9F6C6BF2}"/>
              </a:ext>
            </a:extLst>
          </p:cNvPr>
          <p:cNvSpPr txBox="1"/>
          <p:nvPr/>
        </p:nvSpPr>
        <p:spPr bwMode="auto">
          <a:xfrm>
            <a:off x="774794" y="6383618"/>
            <a:ext cx="6621589" cy="7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/>
            </a:pPr>
            <a:r>
              <a:rPr lang="fr-CH" b="1" i="1" dirty="0">
                <a:solidFill>
                  <a:schemeClr val="bg1">
                    <a:lumMod val="25000"/>
                  </a:schemeClr>
                </a:solidFill>
                <a:latin typeface="Manrope"/>
              </a:rPr>
              <a:t>Link to the installation files : </a:t>
            </a:r>
            <a:r>
              <a:rPr lang="fr-CH" b="1" i="1" dirty="0">
                <a:solidFill>
                  <a:schemeClr val="tx1">
                    <a:lumMod val="50000"/>
                    <a:lumOff val="50000"/>
                  </a:schemeClr>
                </a:solidFill>
                <a:latin typeface="Manrope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https://github.com/Hoferlukaslh/ScholarLog/releases/tag/v1.0 </a:t>
            </a:r>
            <a:endParaRPr lang="fr-FR" i="1" dirty="0">
              <a:solidFill>
                <a:schemeClr val="tx1">
                  <a:lumMod val="50000"/>
                  <a:lumOff val="50000"/>
                </a:schemeClr>
              </a:solidFill>
              <a:latin typeface="Manrope"/>
            </a:endParaRPr>
          </a:p>
          <a:p>
            <a:pPr>
              <a:defRPr/>
            </a:pPr>
            <a:endParaRPr lang="fr-FR" i="1" dirty="0">
              <a:solidFill>
                <a:schemeClr val="bg1">
                  <a:lumMod val="25000"/>
                </a:schemeClr>
              </a:solidFill>
              <a:latin typeface="Manrope"/>
            </a:endParaRPr>
          </a:p>
          <a:p>
            <a:pPr>
              <a:defRPr/>
            </a:pPr>
            <a:endParaRPr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690601D-E249-E401-5BE1-25AA5914F48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 bwMode="auto">
          <a:xfrm>
            <a:off x="11564714" y="1408510"/>
            <a:ext cx="7447186" cy="2687532"/>
          </a:xfrm>
          <a:prstGeom prst="rect">
            <a:avLst/>
          </a:prstGeom>
        </p:spPr>
      </p:pic>
      <p:sp>
        <p:nvSpPr>
          <p:cNvPr id="10" name="Google Shape;538;p35">
            <a:extLst>
              <a:ext uri="{FF2B5EF4-FFF2-40B4-BE49-F238E27FC236}">
                <a16:creationId xmlns:a16="http://schemas.microsoft.com/office/drawing/2014/main" id="{DA47EA0D-4D0D-9928-E8BF-B0614D671E8C}"/>
              </a:ext>
            </a:extLst>
          </p:cNvPr>
          <p:cNvSpPr txBox="1"/>
          <p:nvPr/>
        </p:nvSpPr>
        <p:spPr bwMode="auto">
          <a:xfrm>
            <a:off x="3599276" y="-8748202"/>
            <a:ext cx="1046700" cy="625450"/>
          </a:xfrm>
          <a:prstGeom prst="rect">
            <a:avLst/>
          </a:prstGeom>
          <a:solidFill>
            <a:srgbClr val="6194E6">
              <a:alpha val="7000"/>
            </a:srgbClr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 dirty="0">
                <a:solidFill>
                  <a:schemeClr val="bg1">
                    <a:alpha val="9000"/>
                  </a:schemeClr>
                </a:solidFill>
                <a:latin typeface="Archivo Black" panose="020B0A03020202020B04" pitchFamily="34" charset="0"/>
                <a:cs typeface="Archivo"/>
              </a:rPr>
              <a:t>0</a:t>
            </a:r>
            <a:r>
              <a:rPr lang="fr-CH" sz="4500" dirty="0">
                <a:solidFill>
                  <a:schemeClr val="bg1">
                    <a:alpha val="9000"/>
                  </a:schemeClr>
                </a:solidFill>
                <a:latin typeface="Archivo Black" panose="020B0A03020202020B04" pitchFamily="34" charset="0"/>
                <a:cs typeface="Archivo"/>
              </a:rPr>
              <a:t>7</a:t>
            </a:r>
            <a:endParaRPr dirty="0">
              <a:latin typeface="Archivo Black" panose="020B0A03020202020B04" pitchFamily="34" charset="0"/>
            </a:endParaRPr>
          </a:p>
        </p:txBody>
      </p:sp>
      <p:sp>
        <p:nvSpPr>
          <p:cNvPr id="11" name="Google Shape;454;p30">
            <a:extLst>
              <a:ext uri="{FF2B5EF4-FFF2-40B4-BE49-F238E27FC236}">
                <a16:creationId xmlns:a16="http://schemas.microsoft.com/office/drawing/2014/main" id="{92282536-355E-9406-BB10-2601E20F1555}"/>
              </a:ext>
            </a:extLst>
          </p:cNvPr>
          <p:cNvSpPr txBox="1"/>
          <p:nvPr/>
        </p:nvSpPr>
        <p:spPr bwMode="auto">
          <a:xfrm rot="990881">
            <a:off x="1033312" y="10021644"/>
            <a:ext cx="5878495" cy="159075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fr-CH" sz="3800" dirty="0">
                <a:solidFill>
                  <a:schemeClr val="bg1"/>
                </a:solidFill>
                <a:latin typeface="Archivo Black"/>
                <a:ea typeface="Archivo Black"/>
                <a:cs typeface="Archivo Black"/>
              </a:rPr>
              <a:t>Questions ?</a:t>
            </a:r>
            <a:endParaRPr lang="fr-CH" sz="3800" dirty="0">
              <a:solidFill>
                <a:schemeClr val="bg1"/>
              </a:solidFill>
              <a:latin typeface="Archivo"/>
              <a:ea typeface="Archivo"/>
              <a:cs typeface="Archivo"/>
            </a:endParaRPr>
          </a:p>
        </p:txBody>
      </p:sp>
      <p:sp>
        <p:nvSpPr>
          <p:cNvPr id="12" name="Google Shape;537;p35">
            <a:extLst>
              <a:ext uri="{FF2B5EF4-FFF2-40B4-BE49-F238E27FC236}">
                <a16:creationId xmlns:a16="http://schemas.microsoft.com/office/drawing/2014/main" id="{6722AFDE-2095-6DF8-41A5-5ABF6383DDE7}"/>
              </a:ext>
            </a:extLst>
          </p:cNvPr>
          <p:cNvSpPr txBox="1"/>
          <p:nvPr/>
        </p:nvSpPr>
        <p:spPr bwMode="auto">
          <a:xfrm>
            <a:off x="766778" y="2923988"/>
            <a:ext cx="1393492" cy="388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fr-CH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nrope" pitchFamily="2" charset="0"/>
              </a:rPr>
              <a:t>Time </a:t>
            </a:r>
            <a:r>
              <a:rPr kumimoji="0" lang="fr-CH" sz="16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nrope" pitchFamily="2" charset="0"/>
              </a:rPr>
              <a:t>saved</a:t>
            </a:r>
            <a:endParaRPr sz="1200" dirty="0"/>
          </a:p>
        </p:txBody>
      </p:sp>
      <p:sp>
        <p:nvSpPr>
          <p:cNvPr id="14" name="Google Shape;537;p35">
            <a:extLst>
              <a:ext uri="{FF2B5EF4-FFF2-40B4-BE49-F238E27FC236}">
                <a16:creationId xmlns:a16="http://schemas.microsoft.com/office/drawing/2014/main" id="{8FDD9B2C-F6FC-1A55-92D6-3DC280D7A24D}"/>
              </a:ext>
            </a:extLst>
          </p:cNvPr>
          <p:cNvSpPr txBox="1"/>
          <p:nvPr/>
        </p:nvSpPr>
        <p:spPr bwMode="auto">
          <a:xfrm>
            <a:off x="3538316" y="2923988"/>
            <a:ext cx="2133254" cy="388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fr-CH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nrope" pitchFamily="2" charset="0"/>
              </a:rPr>
              <a:t>GPLv3 Open Source</a:t>
            </a:r>
            <a:endParaRPr sz="1200" dirty="0"/>
          </a:p>
        </p:txBody>
      </p:sp>
      <p:sp>
        <p:nvSpPr>
          <p:cNvPr id="16" name="Google Shape;537;p35">
            <a:extLst>
              <a:ext uri="{FF2B5EF4-FFF2-40B4-BE49-F238E27FC236}">
                <a16:creationId xmlns:a16="http://schemas.microsoft.com/office/drawing/2014/main" id="{E7877905-1AFA-60B7-354A-B51B8FAE3EBA}"/>
              </a:ext>
            </a:extLst>
          </p:cNvPr>
          <p:cNvSpPr txBox="1"/>
          <p:nvPr/>
        </p:nvSpPr>
        <p:spPr bwMode="auto">
          <a:xfrm>
            <a:off x="6301838" y="2923988"/>
            <a:ext cx="1714402" cy="3582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fr-CH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anrope" pitchFamily="2" charset="0"/>
              </a:rPr>
              <a:t>Cross-Platform</a:t>
            </a:r>
            <a:endParaRPr sz="1200" dirty="0"/>
          </a:p>
        </p:txBody>
      </p:sp>
    </p:spTree>
    <p:extLst>
      <p:ext uri="{BB962C8B-B14F-4D97-AF65-F5344CB8AC3E}">
        <p14:creationId xmlns:p14="http://schemas.microsoft.com/office/powerpoint/2010/main" val="235496340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216704" name="Google Shape;454;p30"/>
          <p:cNvSpPr txBox="1"/>
          <p:nvPr/>
        </p:nvSpPr>
        <p:spPr bwMode="auto">
          <a:xfrm>
            <a:off x="1632752" y="1776373"/>
            <a:ext cx="5878495" cy="159075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fr-CH" sz="3800" dirty="0">
                <a:solidFill>
                  <a:schemeClr val="bg1"/>
                </a:solidFill>
                <a:latin typeface="Archivo Black"/>
                <a:ea typeface="Archivo Black"/>
                <a:cs typeface="Archivo Black"/>
              </a:rPr>
              <a:t>Questions ?</a:t>
            </a:r>
            <a:endParaRPr lang="fr-CH" sz="3800" dirty="0">
              <a:solidFill>
                <a:schemeClr val="bg1"/>
              </a:solidFill>
              <a:latin typeface="Archivo"/>
              <a:ea typeface="Archivo"/>
              <a:cs typeface="Archivo"/>
            </a:endParaRPr>
          </a:p>
        </p:txBody>
      </p:sp>
      <p:sp>
        <p:nvSpPr>
          <p:cNvPr id="326193362" name="Google Shape;538;p35"/>
          <p:cNvSpPr txBox="1"/>
          <p:nvPr/>
        </p:nvSpPr>
        <p:spPr bwMode="auto">
          <a:xfrm>
            <a:off x="3877658" y="1873909"/>
            <a:ext cx="1046700" cy="625450"/>
          </a:xfrm>
          <a:prstGeom prst="rect">
            <a:avLst/>
          </a:prstGeom>
          <a:solidFill>
            <a:srgbClr val="6194E6">
              <a:alpha val="7000"/>
            </a:srgbClr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 dirty="0">
                <a:solidFill>
                  <a:schemeClr val="bg1">
                    <a:alpha val="9000"/>
                  </a:schemeClr>
                </a:solidFill>
                <a:latin typeface="Archivo Black" panose="020B0A03020202020B04" pitchFamily="34" charset="0"/>
                <a:cs typeface="Archivo"/>
              </a:rPr>
              <a:t>0</a:t>
            </a:r>
            <a:r>
              <a:rPr lang="fr-CH" sz="4500" dirty="0">
                <a:solidFill>
                  <a:schemeClr val="bg1">
                    <a:alpha val="9000"/>
                  </a:schemeClr>
                </a:solidFill>
                <a:latin typeface="Archivo Black" panose="020B0A03020202020B04" pitchFamily="34" charset="0"/>
                <a:cs typeface="Archivo"/>
              </a:rPr>
              <a:t>7</a:t>
            </a:r>
            <a:endParaRPr dirty="0">
              <a:latin typeface="Archivo Black" panose="020B0A03020202020B04" pitchFamily="34" charset="0"/>
            </a:endParaRPr>
          </a:p>
        </p:txBody>
      </p:sp>
      <p:sp>
        <p:nvSpPr>
          <p:cNvPr id="2" name="Google Shape;454;p30">
            <a:extLst>
              <a:ext uri="{FF2B5EF4-FFF2-40B4-BE49-F238E27FC236}">
                <a16:creationId xmlns:a16="http://schemas.microsoft.com/office/drawing/2014/main" id="{D2872409-86E6-3BAA-DF5A-13C4FAE53F15}"/>
              </a:ext>
            </a:extLst>
          </p:cNvPr>
          <p:cNvSpPr txBox="1"/>
          <p:nvPr/>
        </p:nvSpPr>
        <p:spPr bwMode="auto">
          <a:xfrm rot="20676648">
            <a:off x="-8821888" y="2140303"/>
            <a:ext cx="5878495" cy="159075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fr-CH" sz="3800" dirty="0">
                <a:solidFill>
                  <a:schemeClr val="bg1"/>
                </a:solidFill>
                <a:latin typeface="Archivo Black"/>
                <a:ea typeface="Archivo Black"/>
                <a:cs typeface="Archivo Black"/>
              </a:rPr>
              <a:t>Thanks for </a:t>
            </a:r>
            <a:r>
              <a:rPr lang="fr-CH" sz="3800" dirty="0" err="1">
                <a:solidFill>
                  <a:schemeClr val="bg1"/>
                </a:solidFill>
                <a:latin typeface="Archivo Black"/>
                <a:ea typeface="Archivo Black"/>
                <a:cs typeface="Archivo Black"/>
              </a:rPr>
              <a:t>your</a:t>
            </a:r>
            <a:r>
              <a:rPr lang="fr-CH" sz="3800" dirty="0">
                <a:solidFill>
                  <a:schemeClr val="bg1"/>
                </a:solidFill>
                <a:latin typeface="Archivo Black"/>
                <a:ea typeface="Archivo Black"/>
                <a:cs typeface="Archivo Black"/>
              </a:rPr>
              <a:t> attention !</a:t>
            </a:r>
            <a:endParaRPr lang="fr-CH" sz="3800" dirty="0">
              <a:solidFill>
                <a:schemeClr val="bg1"/>
              </a:solidFill>
              <a:latin typeface="Archivo"/>
              <a:ea typeface="Archivo"/>
              <a:cs typeface="Archiv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9485630" name="Google Shape;454;p30"/>
          <p:cNvSpPr txBox="1"/>
          <p:nvPr/>
        </p:nvSpPr>
        <p:spPr bwMode="auto">
          <a:xfrm>
            <a:off x="1632752" y="1776373"/>
            <a:ext cx="5878495" cy="159075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fr-CH" sz="3800" dirty="0">
                <a:solidFill>
                  <a:schemeClr val="bg1"/>
                </a:solidFill>
                <a:latin typeface="Archivo Black"/>
                <a:ea typeface="Archivo Black"/>
                <a:cs typeface="Archivo Black"/>
              </a:rPr>
              <a:t>Thanks for </a:t>
            </a:r>
            <a:r>
              <a:rPr lang="fr-CH" sz="3800" dirty="0" err="1">
                <a:solidFill>
                  <a:schemeClr val="bg1"/>
                </a:solidFill>
                <a:latin typeface="Archivo Black"/>
                <a:ea typeface="Archivo Black"/>
                <a:cs typeface="Archivo Black"/>
              </a:rPr>
              <a:t>your</a:t>
            </a:r>
            <a:r>
              <a:rPr lang="fr-CH" sz="3800" dirty="0">
                <a:solidFill>
                  <a:schemeClr val="bg1"/>
                </a:solidFill>
                <a:latin typeface="Archivo Black"/>
                <a:ea typeface="Archivo Black"/>
                <a:cs typeface="Archivo Black"/>
              </a:rPr>
              <a:t> attention !</a:t>
            </a:r>
            <a:endParaRPr lang="fr-CH" sz="3800" dirty="0">
              <a:solidFill>
                <a:schemeClr val="bg1"/>
              </a:solidFill>
              <a:latin typeface="Archivo"/>
              <a:ea typeface="Archivo"/>
              <a:cs typeface="Archivo"/>
            </a:endParaRPr>
          </a:p>
        </p:txBody>
      </p:sp>
      <p:sp>
        <p:nvSpPr>
          <p:cNvPr id="2" name="Google Shape;454;p30">
            <a:extLst>
              <a:ext uri="{FF2B5EF4-FFF2-40B4-BE49-F238E27FC236}">
                <a16:creationId xmlns:a16="http://schemas.microsoft.com/office/drawing/2014/main" id="{B3E08B79-FED0-DD16-963E-52153781DB64}"/>
              </a:ext>
            </a:extLst>
          </p:cNvPr>
          <p:cNvSpPr txBox="1"/>
          <p:nvPr/>
        </p:nvSpPr>
        <p:spPr bwMode="auto">
          <a:xfrm rot="939368">
            <a:off x="11538752" y="1723946"/>
            <a:ext cx="5878495" cy="159075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fr-CH" sz="3800" dirty="0">
                <a:solidFill>
                  <a:schemeClr val="bg1"/>
                </a:solidFill>
                <a:latin typeface="Archivo Black"/>
                <a:ea typeface="Archivo Black"/>
                <a:cs typeface="Archivo Black"/>
              </a:rPr>
              <a:t>Questions ?</a:t>
            </a:r>
            <a:endParaRPr lang="fr-CH" sz="3800" dirty="0">
              <a:solidFill>
                <a:schemeClr val="bg1"/>
              </a:solidFill>
              <a:latin typeface="Archivo"/>
              <a:ea typeface="Archivo"/>
              <a:cs typeface="Archivo"/>
            </a:endParaRPr>
          </a:p>
        </p:txBody>
      </p:sp>
      <p:sp>
        <p:nvSpPr>
          <p:cNvPr id="3" name="Google Shape;538;p35">
            <a:extLst>
              <a:ext uri="{FF2B5EF4-FFF2-40B4-BE49-F238E27FC236}">
                <a16:creationId xmlns:a16="http://schemas.microsoft.com/office/drawing/2014/main" id="{A38340DD-E03A-36E7-9E04-8E22DB2E725E}"/>
              </a:ext>
            </a:extLst>
          </p:cNvPr>
          <p:cNvSpPr txBox="1"/>
          <p:nvPr/>
        </p:nvSpPr>
        <p:spPr bwMode="auto">
          <a:xfrm rot="939368">
            <a:off x="13783658" y="1821482"/>
            <a:ext cx="1046700" cy="625450"/>
          </a:xfrm>
          <a:prstGeom prst="rect">
            <a:avLst/>
          </a:prstGeom>
          <a:solidFill>
            <a:srgbClr val="6194E6">
              <a:alpha val="7000"/>
            </a:srgbClr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en" sz="4500" dirty="0">
                <a:solidFill>
                  <a:schemeClr val="bg1">
                    <a:alpha val="9000"/>
                  </a:schemeClr>
                </a:solidFill>
                <a:latin typeface="Archivo Black" panose="020B0A03020202020B04" pitchFamily="34" charset="0"/>
                <a:cs typeface="Archivo"/>
              </a:rPr>
              <a:t>0</a:t>
            </a:r>
            <a:r>
              <a:rPr lang="fr-CH" sz="4500" dirty="0">
                <a:solidFill>
                  <a:schemeClr val="bg1">
                    <a:alpha val="9000"/>
                  </a:schemeClr>
                </a:solidFill>
                <a:latin typeface="Archivo Black" panose="020B0A03020202020B04" pitchFamily="34" charset="0"/>
                <a:cs typeface="Archivo"/>
              </a:rPr>
              <a:t>7</a:t>
            </a:r>
            <a:endParaRPr dirty="0">
              <a:latin typeface="Archivo Black" panose="020B0A03020202020B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Google Shape;454;p30">
            <a:extLst>
              <a:ext uri="{FF2B5EF4-FFF2-40B4-BE49-F238E27FC236}">
                <a16:creationId xmlns:a16="http://schemas.microsoft.com/office/drawing/2014/main" id="{B1EECEE6-59B1-C725-D88D-3D4A4EF6EC36}"/>
              </a:ext>
            </a:extLst>
          </p:cNvPr>
          <p:cNvSpPr txBox="1"/>
          <p:nvPr/>
        </p:nvSpPr>
        <p:spPr bwMode="auto">
          <a:xfrm rot="985264">
            <a:off x="12971312" y="1044853"/>
            <a:ext cx="5878495" cy="159075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/>
            </a:pPr>
            <a:r>
              <a:rPr lang="fr-CH" sz="3800" dirty="0">
                <a:solidFill>
                  <a:schemeClr val="bg1"/>
                </a:solidFill>
                <a:latin typeface="Archivo Black"/>
                <a:ea typeface="Archivo Black"/>
                <a:cs typeface="Archivo Black"/>
              </a:rPr>
              <a:t>Thanks for </a:t>
            </a:r>
            <a:r>
              <a:rPr lang="fr-CH" sz="3800" dirty="0" err="1">
                <a:solidFill>
                  <a:schemeClr val="bg1"/>
                </a:solidFill>
                <a:latin typeface="Archivo Black"/>
                <a:ea typeface="Archivo Black"/>
                <a:cs typeface="Archivo Black"/>
              </a:rPr>
              <a:t>your</a:t>
            </a:r>
            <a:r>
              <a:rPr lang="fr-CH" sz="3800" dirty="0">
                <a:solidFill>
                  <a:schemeClr val="bg1"/>
                </a:solidFill>
                <a:latin typeface="Archivo Black"/>
                <a:ea typeface="Archivo Black"/>
                <a:cs typeface="Archivo Black"/>
              </a:rPr>
              <a:t> attention !</a:t>
            </a:r>
            <a:endParaRPr lang="fr-CH" sz="3800" dirty="0">
              <a:solidFill>
                <a:schemeClr val="bg1"/>
              </a:solidFill>
              <a:latin typeface="Archivo"/>
              <a:ea typeface="Archivo"/>
              <a:cs typeface="Archiv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Business Administration School Center by Slidesgo">
  <a:themeElements>
    <a:clrScheme name="Simple Light">
      <a:dk1>
        <a:srgbClr val="092241"/>
      </a:dk1>
      <a:lt1>
        <a:srgbClr val="F8F8F8"/>
      </a:lt1>
      <a:dk2>
        <a:srgbClr val="B7B7B7"/>
      </a:dk2>
      <a:lt2>
        <a:srgbClr val="6194E6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92241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804</Words>
  <Application>Microsoft Office PowerPoint</Application>
  <PresentationFormat>Affichage à l'écran (16:9)</PresentationFormat>
  <Paragraphs>189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12</vt:i4>
      </vt:variant>
    </vt:vector>
  </HeadingPairs>
  <TitlesOfParts>
    <vt:vector size="21" baseType="lpstr">
      <vt:lpstr>DM Sans</vt:lpstr>
      <vt:lpstr>Manrope</vt:lpstr>
      <vt:lpstr>Arial</vt:lpstr>
      <vt:lpstr>Proxima Nova Semibold</vt:lpstr>
      <vt:lpstr>Archivo Black</vt:lpstr>
      <vt:lpstr>Proxima Nova</vt:lpstr>
      <vt:lpstr>Archivo</vt:lpstr>
      <vt:lpstr>Business Administration School Center by Slidesgo</vt:lpstr>
      <vt:lpstr>Slidesgo Final Pages</vt:lpstr>
      <vt:lpstr>Presentation M5 - ScholarLog</vt:lpstr>
      <vt:lpstr>Content</vt:lpstr>
      <vt:lpstr>Problematics</vt:lpstr>
      <vt:lpstr>Problematics</vt:lpstr>
      <vt:lpstr>Problematics</vt:lpstr>
      <vt:lpstr>Needs</vt:lpstr>
      <vt:lpstr>My solution</vt:lpstr>
      <vt:lpstr>Demonstration</vt:lpstr>
      <vt:lpstr>Conclusion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Présenation M4</dc:title>
  <dc:creator/>
  <cp:keywords>Réseau, Lukas, TINF2, 2026</cp:keywords>
  <cp:lastModifiedBy>Hofer Lukas</cp:lastModifiedBy>
  <cp:revision>99</cp:revision>
  <dcterms:modified xsi:type="dcterms:W3CDTF">2026-06-11T01:30:02Z</dcterms:modified>
</cp:coreProperties>
</file>