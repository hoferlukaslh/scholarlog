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6" r:id="rId2"/>
  </p:sldMasterIdLst>
  <p:notesMasterIdLst>
    <p:notesMasterId r:id="rId15"/>
  </p:notesMasterIdLst>
  <p:sldIdLst>
    <p:sldId id="256" r:id="rId3"/>
    <p:sldId id="257" r:id="rId4"/>
    <p:sldId id="258" r:id="rId5"/>
    <p:sldId id="270" r:id="rId6"/>
    <p:sldId id="271" r:id="rId7"/>
    <p:sldId id="264" r:id="rId8"/>
    <p:sldId id="267" r:id="rId9"/>
    <p:sldId id="268" r:id="rId10"/>
    <p:sldId id="269" r:id="rId11"/>
    <p:sldId id="261" r:id="rId12"/>
    <p:sldId id="262" r:id="rId13"/>
    <p:sldId id="263" r:id="rId14"/>
  </p:sldIdLst>
  <p:sldSz cx="9144000" cy="5143500" type="screen16x9"/>
  <p:notesSz cx="6858000" cy="9144000"/>
  <p:embeddedFontLst>
    <p:embeddedFont>
      <p:font typeface="Archivo" pitchFamily="2" charset="0"/>
      <p:regular r:id="rId16"/>
      <p:bold r:id="rId17"/>
      <p:italic r:id="rId18"/>
      <p:boldItalic r:id="rId19"/>
    </p:embeddedFont>
    <p:embeddedFont>
      <p:font typeface="Archivo Black" panose="020B0A03020202020B04" pitchFamily="34" charset="0"/>
      <p:regular r:id="rId20"/>
      <p:bold r:id="rId21"/>
      <p:boldItalic r:id="rId22"/>
    </p:embeddedFont>
    <p:embeddedFont>
      <p:font typeface="DM Sans" pitchFamily="2" charset="0"/>
      <p:regular r:id="rId23"/>
      <p:bold r:id="rId24"/>
      <p:italic r:id="rId25"/>
      <p:boldItalic r:id="rId26"/>
    </p:embeddedFont>
    <p:embeddedFont>
      <p:font typeface="Manrope" pitchFamily="2" charset="0"/>
      <p:regular r:id="rId27"/>
      <p:bold r:id="rId28"/>
    </p:embeddedFont>
    <p:embeddedFont>
      <p:font typeface="Proxima Nova" panose="02000506030000020004" pitchFamily="50" charset="0"/>
      <p:regular r:id="rId29"/>
      <p:bold r:id="rId30"/>
      <p:italic r:id="rId31"/>
      <p:boldItalic r:id="rId32"/>
    </p:embeddedFont>
    <p:embeddedFont>
      <p:font typeface="Proxima Nova Semibold" panose="02000506030000020004" pitchFamily="50" charset="0"/>
      <p:bold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FDF8FE"/>
    <a:srgbClr val="FEF8F8"/>
    <a:srgbClr val="F8FEF8"/>
    <a:srgbClr val="F8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92" y="931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866473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9348995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282042" name="Google Shape;451;gd431007ba2_0_208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953038" name="Google Shape;452;gd431007ba2_0_20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CH"/>
              <a:t>Date : format international standard ISO 8601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42349" name="Google Shape;488;gd431007ba2_0_215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319534" name="Google Shape;489;gd431007ba2_0_21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64355" name="Google Shape;544;gec9722e163_0_121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779603" name="Google Shape;545;gec9722e163_0_12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6B2248F-48EC-20A4-1E09-0B28CFCBE07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64355" name="Google Shape;544;gec9722e163_0_121:notes">
            <a:extLst>
              <a:ext uri="{FF2B5EF4-FFF2-40B4-BE49-F238E27FC236}">
                <a16:creationId xmlns:a16="http://schemas.microsoft.com/office/drawing/2014/main" id="{5326D128-D05F-F0F2-3573-942EC1F370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779603" name="Google Shape;545;gec9722e163_0_121:notes">
            <a:extLst>
              <a:ext uri="{FF2B5EF4-FFF2-40B4-BE49-F238E27FC236}">
                <a16:creationId xmlns:a16="http://schemas.microsoft.com/office/drawing/2014/main" id="{DC178D8F-AA83-EED0-C55E-CC84C0C490A7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8091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0DEA9D3-687A-90BD-9FAC-270DF87F732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64355" name="Google Shape;544;gec9722e163_0_121:notes">
            <a:extLst>
              <a:ext uri="{FF2B5EF4-FFF2-40B4-BE49-F238E27FC236}">
                <a16:creationId xmlns:a16="http://schemas.microsoft.com/office/drawing/2014/main" id="{5F4EAED7-F6E9-7938-27E5-48C920BCF3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779603" name="Google Shape;545;gec9722e163_0_121:notes">
            <a:extLst>
              <a:ext uri="{FF2B5EF4-FFF2-40B4-BE49-F238E27FC236}">
                <a16:creationId xmlns:a16="http://schemas.microsoft.com/office/drawing/2014/main" id="{10441D1F-7A85-49CF-7F43-21CE472CE43C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3399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48B9E95-FE13-B6F7-0A22-E97AD1BA0A5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64355" name="Google Shape;544;gec9722e163_0_121:notes">
            <a:extLst>
              <a:ext uri="{FF2B5EF4-FFF2-40B4-BE49-F238E27FC236}">
                <a16:creationId xmlns:a16="http://schemas.microsoft.com/office/drawing/2014/main" id="{2B35F579-91A7-C19F-231B-8A06937DB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779603" name="Google Shape;545;gec9722e163_0_121:notes">
            <a:extLst>
              <a:ext uri="{FF2B5EF4-FFF2-40B4-BE49-F238E27FC236}">
                <a16:creationId xmlns:a16="http://schemas.microsoft.com/office/drawing/2014/main" id="{264FD02D-2EB2-14C4-B296-7AB7AF554B5B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589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BF5F638-5D1C-E19E-1492-B0388241224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64355" name="Google Shape;544;gec9722e163_0_121:notes">
            <a:extLst>
              <a:ext uri="{FF2B5EF4-FFF2-40B4-BE49-F238E27FC236}">
                <a16:creationId xmlns:a16="http://schemas.microsoft.com/office/drawing/2014/main" id="{E7E04683-3F73-E41E-449F-E488EC1782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779603" name="Google Shape;545;gec9722e163_0_121:notes">
            <a:extLst>
              <a:ext uri="{FF2B5EF4-FFF2-40B4-BE49-F238E27FC236}">
                <a16:creationId xmlns:a16="http://schemas.microsoft.com/office/drawing/2014/main" id="{9CC6F62A-1D84-3B2E-A586-057B8D039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940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01073D3-A867-05BD-C84D-DEEC961DBF0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64355" name="Google Shape;544;gec9722e163_0_121:notes">
            <a:extLst>
              <a:ext uri="{FF2B5EF4-FFF2-40B4-BE49-F238E27FC236}">
                <a16:creationId xmlns:a16="http://schemas.microsoft.com/office/drawing/2014/main" id="{B2F1941E-B8FE-1309-92FC-8C32C15C6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779603" name="Google Shape;545;gec9722e163_0_121:notes">
            <a:extLst>
              <a:ext uri="{FF2B5EF4-FFF2-40B4-BE49-F238E27FC236}">
                <a16:creationId xmlns:a16="http://schemas.microsoft.com/office/drawing/2014/main" id="{26D8795E-547C-4EF9-0FA4-A712CB1DF62E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534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75B1BE5-F3E3-A871-6830-61B46A55520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64355" name="Google Shape;544;gec9722e163_0_121:notes">
            <a:extLst>
              <a:ext uri="{FF2B5EF4-FFF2-40B4-BE49-F238E27FC236}">
                <a16:creationId xmlns:a16="http://schemas.microsoft.com/office/drawing/2014/main" id="{7E4E782F-0A56-BCA0-69B2-45E6CFCC1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779603" name="Google Shape;545;gec9722e163_0_121:notes">
            <a:extLst>
              <a:ext uri="{FF2B5EF4-FFF2-40B4-BE49-F238E27FC236}">
                <a16:creationId xmlns:a16="http://schemas.microsoft.com/office/drawing/2014/main" id="{014ECF22-7543-4F5F-00AF-C212909743BC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0911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585649" name="Google Shape;8183;g277303276c8_0_17475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933232" name="Google Shape;8184;g277303276c8_0_1747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862267" name="Google Shape;8183;g277303276c8_0_17475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152666" name="Google Shape;8184;g277303276c8_0_1747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051222" name="Google Shape;8183;g277303276c8_0_17475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8160686" name="Google Shape;8184;g277303276c8_0_1747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971518" name="Google Shape;9;p2"/>
          <p:cNvSpPr txBox="1">
            <a:spLocks noGrp="1"/>
          </p:cNvSpPr>
          <p:nvPr>
            <p:ph type="ctrTitle"/>
          </p:nvPr>
        </p:nvSpPr>
        <p:spPr bwMode="auto">
          <a:xfrm>
            <a:off x="713225" y="539500"/>
            <a:ext cx="48075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endParaRPr/>
          </a:p>
        </p:txBody>
      </p:sp>
      <p:sp>
        <p:nvSpPr>
          <p:cNvPr id="336767377" name="Google Shape;10;p2"/>
          <p:cNvSpPr txBox="1">
            <a:spLocks noGrp="1"/>
          </p:cNvSpPr>
          <p:nvPr>
            <p:ph type="subTitle" idx="1"/>
          </p:nvPr>
        </p:nvSpPr>
        <p:spPr bwMode="auto">
          <a:xfrm>
            <a:off x="713225" y="2733950"/>
            <a:ext cx="2237400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Manrope"/>
                <a:ea typeface="Manrope"/>
                <a:cs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pPr>
              <a:defRPr/>
            </a:pPr>
            <a:endParaRPr/>
          </a:p>
        </p:txBody>
      </p:sp>
      <p:sp>
        <p:nvSpPr>
          <p:cNvPr id="1199629537" name="Google Shape;11;p2"/>
          <p:cNvSpPr>
            <a:spLocks noGrp="1"/>
          </p:cNvSpPr>
          <p:nvPr>
            <p:ph type="pic" idx="2"/>
          </p:nvPr>
        </p:nvSpPr>
        <p:spPr bwMode="auto">
          <a:xfrm>
            <a:off x="5654925" y="1312525"/>
            <a:ext cx="2852100" cy="2852100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fr-C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498203" name="Google Shape;64;p6"/>
          <p:cNvSpPr txBox="1">
            <a:spLocks noGrp="1"/>
          </p:cNvSpPr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498787914" name="Google Shape;65;p6"/>
          <p:cNvGrpSpPr/>
          <p:nvPr/>
        </p:nvGrpSpPr>
        <p:grpSpPr bwMode="auto">
          <a:xfrm>
            <a:off x="7267300" y="387524"/>
            <a:ext cx="2456449" cy="5138686"/>
            <a:chOff x="7267300" y="387524"/>
            <a:chExt cx="2456449" cy="5138686"/>
          </a:xfrm>
        </p:grpSpPr>
        <p:grpSp>
          <p:nvGrpSpPr>
            <p:cNvPr id="66" name="Google Shape;66;p6"/>
            <p:cNvGrpSpPr/>
            <p:nvPr/>
          </p:nvGrpSpPr>
          <p:grpSpPr bwMode="auto">
            <a:xfrm rot="10800000" flipH="1">
              <a:off x="7432803" y="387524"/>
              <a:ext cx="1309796" cy="257750"/>
              <a:chOff x="-6337521" y="4362225"/>
              <a:chExt cx="1309796" cy="257750"/>
            </a:xfrm>
          </p:grpSpPr>
          <p:sp>
            <p:nvSpPr>
              <p:cNvPr id="67" name="Google Shape;67;p6"/>
              <p:cNvSpPr/>
              <p:nvPr/>
            </p:nvSpPr>
            <p:spPr bwMode="auto"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8" name="Google Shape;68;p6"/>
              <p:cNvSpPr/>
              <p:nvPr/>
            </p:nvSpPr>
            <p:spPr bwMode="auto"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9" name="Google Shape;69;p6"/>
              <p:cNvSpPr/>
              <p:nvPr/>
            </p:nvSpPr>
            <p:spPr bwMode="auto"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0" name="Google Shape;70;p6"/>
              <p:cNvSpPr/>
              <p:nvPr/>
            </p:nvSpPr>
            <p:spPr bwMode="auto"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1" name="Google Shape;71;p6"/>
              <p:cNvSpPr/>
              <p:nvPr/>
            </p:nvSpPr>
            <p:spPr bwMode="auto"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2" name="Google Shape;72;p6"/>
              <p:cNvSpPr/>
              <p:nvPr/>
            </p:nvSpPr>
            <p:spPr bwMode="auto"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3" name="Google Shape;73;p6"/>
              <p:cNvSpPr/>
              <p:nvPr/>
            </p:nvSpPr>
            <p:spPr bwMode="auto"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4" name="Google Shape;74;p6"/>
              <p:cNvSpPr/>
              <p:nvPr/>
            </p:nvSpPr>
            <p:spPr bwMode="auto"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5" name="Google Shape;75;p6"/>
              <p:cNvSpPr/>
              <p:nvPr/>
            </p:nvSpPr>
            <p:spPr bwMode="auto"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6" name="Google Shape;76;p6"/>
              <p:cNvSpPr/>
              <p:nvPr/>
            </p:nvSpPr>
            <p:spPr bwMode="auto"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77" name="Google Shape;77;p6"/>
            <p:cNvGrpSpPr/>
            <p:nvPr/>
          </p:nvGrpSpPr>
          <p:grpSpPr bwMode="auto"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78" name="Google Shape;78;p6"/>
              <p:cNvSpPr/>
              <p:nvPr/>
            </p:nvSpPr>
            <p:spPr bwMode="auto">
              <a:xfrm rot="-5400000" flipH="1">
                <a:off x="7653475" y="-500"/>
                <a:ext cx="1554599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9" name="Google Shape;79;p6"/>
              <p:cNvSpPr/>
              <p:nvPr/>
            </p:nvSpPr>
            <p:spPr bwMode="auto">
              <a:xfrm rot="2699364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80" name="Google Shape;80;p6"/>
              <p:cNvSpPr/>
              <p:nvPr/>
            </p:nvSpPr>
            <p:spPr bwMode="auto"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81" name="Google Shape;81;p6"/>
              <p:cNvSpPr/>
              <p:nvPr/>
            </p:nvSpPr>
            <p:spPr bwMode="auto"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bg>
      <p:bgPr>
        <a:noFill/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able of contents" userDrawn="1">
  <p:cSld name="BLANK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550198" name="Google Shape;159;p13"/>
          <p:cNvSpPr txBox="1">
            <a:spLocks noGrp="1"/>
          </p:cNvSpPr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0296922" name="Google Shape;160;p13"/>
          <p:cNvSpPr txBox="1">
            <a:spLocks noGrp="1"/>
          </p:cNvSpPr>
          <p:nvPr>
            <p:ph type="subTitle" idx="1"/>
          </p:nvPr>
        </p:nvSpPr>
        <p:spPr bwMode="auto">
          <a:xfrm>
            <a:off x="1578601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99770460" name="Google Shape;161;p13"/>
          <p:cNvSpPr txBox="1">
            <a:spLocks noGrp="1"/>
          </p:cNvSpPr>
          <p:nvPr>
            <p:ph type="subTitle" idx="2"/>
          </p:nvPr>
        </p:nvSpPr>
        <p:spPr bwMode="auto">
          <a:xfrm>
            <a:off x="1578601" y="395423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2408677" name="Google Shape;162;p13"/>
          <p:cNvSpPr txBox="1">
            <a:spLocks noGrp="1"/>
          </p:cNvSpPr>
          <p:nvPr>
            <p:ph type="subTitle" idx="3"/>
          </p:nvPr>
        </p:nvSpPr>
        <p:spPr bwMode="auto">
          <a:xfrm>
            <a:off x="5534500" y="39542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6469417" name="Google Shape;163;p13"/>
          <p:cNvSpPr txBox="1">
            <a:spLocks noGrp="1"/>
          </p:cNvSpPr>
          <p:nvPr>
            <p:ph type="subTitle" idx="4"/>
          </p:nvPr>
        </p:nvSpPr>
        <p:spPr bwMode="auto">
          <a:xfrm>
            <a:off x="5534500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4704885" name="Google Shape;164;p13"/>
          <p:cNvSpPr txBox="1">
            <a:spLocks noGrp="1"/>
          </p:cNvSpPr>
          <p:nvPr>
            <p:ph type="title" idx="5" hasCustomPrompt="1"/>
          </p:nvPr>
        </p:nvSpPr>
        <p:spPr bwMode="auto">
          <a:xfrm>
            <a:off x="796200" y="16336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840208096" name="Google Shape;165;p13"/>
          <p:cNvSpPr txBox="1">
            <a:spLocks noGrp="1"/>
          </p:cNvSpPr>
          <p:nvPr>
            <p:ph type="title" idx="6" hasCustomPrompt="1"/>
          </p:nvPr>
        </p:nvSpPr>
        <p:spPr bwMode="auto">
          <a:xfrm>
            <a:off x="4750950" y="32907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1334950164" name="Google Shape;166;p13"/>
          <p:cNvSpPr txBox="1">
            <a:spLocks noGrp="1"/>
          </p:cNvSpPr>
          <p:nvPr>
            <p:ph type="title" idx="7" hasCustomPrompt="1"/>
          </p:nvPr>
        </p:nvSpPr>
        <p:spPr bwMode="auto">
          <a:xfrm>
            <a:off x="796200" y="3290900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1996097669" name="Google Shape;167;p13"/>
          <p:cNvSpPr txBox="1">
            <a:spLocks noGrp="1"/>
          </p:cNvSpPr>
          <p:nvPr>
            <p:ph type="title" idx="8" hasCustomPrompt="1"/>
          </p:nvPr>
        </p:nvSpPr>
        <p:spPr bwMode="auto">
          <a:xfrm>
            <a:off x="4750950" y="16335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1831753529" name="Google Shape;168;p13"/>
          <p:cNvSpPr txBox="1">
            <a:spLocks noGrp="1"/>
          </p:cNvSpPr>
          <p:nvPr>
            <p:ph type="subTitle" idx="9"/>
          </p:nvPr>
        </p:nvSpPr>
        <p:spPr bwMode="auto">
          <a:xfrm>
            <a:off x="15786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14722001" name="Google Shape;169;p13"/>
          <p:cNvSpPr txBox="1">
            <a:spLocks noGrp="1"/>
          </p:cNvSpPr>
          <p:nvPr>
            <p:ph type="subTitle" idx="13"/>
          </p:nvPr>
        </p:nvSpPr>
        <p:spPr bwMode="auto">
          <a:xfrm>
            <a:off x="1578600" y="3290939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15630510" name="Google Shape;170;p13"/>
          <p:cNvSpPr txBox="1">
            <a:spLocks noGrp="1"/>
          </p:cNvSpPr>
          <p:nvPr>
            <p:ph type="subTitle" idx="14"/>
          </p:nvPr>
        </p:nvSpPr>
        <p:spPr bwMode="auto">
          <a:xfrm>
            <a:off x="5534500" y="3290901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143071855" name="Google Shape;171;p13"/>
          <p:cNvSpPr txBox="1">
            <a:spLocks noGrp="1"/>
          </p:cNvSpPr>
          <p:nvPr>
            <p:ph type="subTitle" idx="15"/>
          </p:nvPr>
        </p:nvSpPr>
        <p:spPr bwMode="auto">
          <a:xfrm>
            <a:off x="55345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1472468309" name="Google Shape;172;p13"/>
          <p:cNvGrpSpPr/>
          <p:nvPr/>
        </p:nvGrpSpPr>
        <p:grpSpPr bwMode="auto">
          <a:xfrm>
            <a:off x="7527475" y="-437123"/>
            <a:ext cx="2304049" cy="2076084"/>
            <a:chOff x="7527475" y="-437123"/>
            <a:chExt cx="2304049" cy="2076084"/>
          </a:xfrm>
        </p:grpSpPr>
        <p:sp>
          <p:nvSpPr>
            <p:cNvPr id="173" name="Google Shape;173;p13"/>
            <p:cNvSpPr/>
            <p:nvPr/>
          </p:nvSpPr>
          <p:spPr bwMode="auto">
            <a:xfrm rot="-5400000" flipH="1">
              <a:off x="7653475" y="-58150"/>
              <a:ext cx="1554599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74" name="Google Shape;174;p13"/>
            <p:cNvGrpSpPr/>
            <p:nvPr/>
          </p:nvGrpSpPr>
          <p:grpSpPr bwMode="auto">
            <a:xfrm>
              <a:off x="7527475" y="-190576"/>
              <a:ext cx="2304049" cy="1829537"/>
              <a:chOff x="7267300" y="-366311"/>
              <a:chExt cx="2304049" cy="1829537"/>
            </a:xfrm>
          </p:grpSpPr>
          <p:sp>
            <p:nvSpPr>
              <p:cNvPr id="175" name="Google Shape;175;p13"/>
              <p:cNvSpPr/>
              <p:nvPr/>
            </p:nvSpPr>
            <p:spPr bwMode="auto">
              <a:xfrm rot="2699364" flipH="1">
                <a:off x="8496503" y="4900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 bwMode="auto"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 bwMode="auto"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178" name="Google Shape;178;p13"/>
            <p:cNvSpPr/>
            <p:nvPr/>
          </p:nvSpPr>
          <p:spPr bwMode="auto">
            <a:xfrm rot="2700000">
              <a:off x="7775558" y="-183425"/>
              <a:ext cx="770464" cy="12770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ackground" userDrawn="1">
  <p:cSld name="CUSTOM_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81492176" name="Google Shape;409;p25"/>
          <p:cNvGrpSpPr/>
          <p:nvPr/>
        </p:nvGrpSpPr>
        <p:grpSpPr bwMode="auto">
          <a:xfrm>
            <a:off x="7267300" y="-374475"/>
            <a:ext cx="2456449" cy="5138686"/>
            <a:chOff x="7267300" y="-374475"/>
            <a:chExt cx="2456449" cy="5138686"/>
          </a:xfrm>
        </p:grpSpPr>
        <p:grpSp>
          <p:nvGrpSpPr>
            <p:cNvPr id="410" name="Google Shape;410;p25"/>
            <p:cNvGrpSpPr/>
            <p:nvPr/>
          </p:nvGrpSpPr>
          <p:grpSpPr bwMode="auto">
            <a:xfrm>
              <a:off x="7432803" y="4506461"/>
              <a:ext cx="1309796" cy="257750"/>
              <a:chOff x="-6337521" y="4362225"/>
              <a:chExt cx="1309796" cy="257750"/>
            </a:xfrm>
          </p:grpSpPr>
          <p:sp>
            <p:nvSpPr>
              <p:cNvPr id="411" name="Google Shape;411;p25"/>
              <p:cNvSpPr/>
              <p:nvPr/>
            </p:nvSpPr>
            <p:spPr bwMode="auto"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2" name="Google Shape;412;p25"/>
              <p:cNvSpPr/>
              <p:nvPr/>
            </p:nvSpPr>
            <p:spPr bwMode="auto"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3" name="Google Shape;413;p25"/>
              <p:cNvSpPr/>
              <p:nvPr/>
            </p:nvSpPr>
            <p:spPr bwMode="auto"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4" name="Google Shape;414;p25"/>
              <p:cNvSpPr/>
              <p:nvPr/>
            </p:nvSpPr>
            <p:spPr bwMode="auto"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5" name="Google Shape;415;p25"/>
              <p:cNvSpPr/>
              <p:nvPr/>
            </p:nvSpPr>
            <p:spPr bwMode="auto"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6" name="Google Shape;416;p25"/>
              <p:cNvSpPr/>
              <p:nvPr/>
            </p:nvSpPr>
            <p:spPr bwMode="auto"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7" name="Google Shape;417;p25"/>
              <p:cNvSpPr/>
              <p:nvPr/>
            </p:nvSpPr>
            <p:spPr bwMode="auto"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8" name="Google Shape;418;p25"/>
              <p:cNvSpPr/>
              <p:nvPr/>
            </p:nvSpPr>
            <p:spPr bwMode="auto"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19" name="Google Shape;419;p25"/>
              <p:cNvSpPr/>
              <p:nvPr/>
            </p:nvSpPr>
            <p:spPr bwMode="auto"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20" name="Google Shape;420;p25"/>
              <p:cNvSpPr/>
              <p:nvPr/>
            </p:nvSpPr>
            <p:spPr bwMode="auto"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421" name="Google Shape;421;p25"/>
            <p:cNvGrpSpPr/>
            <p:nvPr/>
          </p:nvGrpSpPr>
          <p:grpSpPr bwMode="auto">
            <a:xfrm>
              <a:off x="7267300" y="-374475"/>
              <a:ext cx="2456449" cy="1917411"/>
              <a:chOff x="7267300" y="-366311"/>
              <a:chExt cx="2456449" cy="1917411"/>
            </a:xfrm>
          </p:grpSpPr>
          <p:sp>
            <p:nvSpPr>
              <p:cNvPr id="422" name="Google Shape;422;p25"/>
              <p:cNvSpPr/>
              <p:nvPr/>
            </p:nvSpPr>
            <p:spPr bwMode="auto">
              <a:xfrm rot="-5400000" flipH="1">
                <a:off x="7653475" y="-500"/>
                <a:ext cx="1554599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23" name="Google Shape;423;p25"/>
              <p:cNvSpPr/>
              <p:nvPr/>
            </p:nvSpPr>
            <p:spPr bwMode="auto">
              <a:xfrm rot="2699364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24" name="Google Shape;424;p25"/>
              <p:cNvSpPr/>
              <p:nvPr/>
            </p:nvSpPr>
            <p:spPr bwMode="auto"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25" name="Google Shape;425;p25"/>
              <p:cNvSpPr/>
              <p:nvPr/>
            </p:nvSpPr>
            <p:spPr bwMode="auto"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ackground 1" userDrawn="1">
  <p:cSld name="CUSTOM_9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987911" name="Google Shape;427;p26"/>
          <p:cNvGrpSpPr/>
          <p:nvPr/>
        </p:nvGrpSpPr>
        <p:grpSpPr bwMode="auto">
          <a:xfrm>
            <a:off x="7267300" y="387524"/>
            <a:ext cx="2456449" cy="5138686"/>
            <a:chOff x="7267300" y="387524"/>
            <a:chExt cx="2456449" cy="5138686"/>
          </a:xfrm>
        </p:grpSpPr>
        <p:grpSp>
          <p:nvGrpSpPr>
            <p:cNvPr id="428" name="Google Shape;428;p26"/>
            <p:cNvGrpSpPr/>
            <p:nvPr/>
          </p:nvGrpSpPr>
          <p:grpSpPr bwMode="auto">
            <a:xfrm rot="10800000" flipH="1">
              <a:off x="7432803" y="387524"/>
              <a:ext cx="1309796" cy="257750"/>
              <a:chOff x="-6337521" y="4362225"/>
              <a:chExt cx="1309796" cy="257750"/>
            </a:xfrm>
          </p:grpSpPr>
          <p:sp>
            <p:nvSpPr>
              <p:cNvPr id="429" name="Google Shape;429;p26"/>
              <p:cNvSpPr/>
              <p:nvPr/>
            </p:nvSpPr>
            <p:spPr bwMode="auto"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 bwMode="auto"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 bwMode="auto"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2" name="Google Shape;432;p26"/>
              <p:cNvSpPr/>
              <p:nvPr/>
            </p:nvSpPr>
            <p:spPr bwMode="auto"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 bwMode="auto"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 bwMode="auto"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 bwMode="auto"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 bwMode="auto"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 bwMode="auto"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 bwMode="auto"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439" name="Google Shape;439;p26"/>
            <p:cNvGrpSpPr/>
            <p:nvPr/>
          </p:nvGrpSpPr>
          <p:grpSpPr bwMode="auto"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440" name="Google Shape;440;p26"/>
              <p:cNvSpPr/>
              <p:nvPr/>
            </p:nvSpPr>
            <p:spPr bwMode="auto">
              <a:xfrm rot="-5400000" flipH="1">
                <a:off x="7653475" y="-500"/>
                <a:ext cx="1554599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41" name="Google Shape;441;p26"/>
              <p:cNvSpPr/>
              <p:nvPr/>
            </p:nvSpPr>
            <p:spPr bwMode="auto">
              <a:xfrm rot="2699364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 bwMode="auto"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 bwMode="auto"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 slide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927487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22048674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612486" name="Google Shape;445;p27"/>
          <p:cNvSpPr txBox="1">
            <a:spLocks noGrp="1"/>
          </p:cNvSpPr>
          <p:nvPr>
            <p:ph type="title"/>
          </p:nvPr>
        </p:nvSpPr>
        <p:spPr bwMode="auto"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27635329" name="Google Shape;446;p27"/>
          <p:cNvSpPr txBox="1">
            <a:spLocks noGrp="1"/>
          </p:cNvSpPr>
          <p:nvPr>
            <p:ph type="body" idx="1"/>
          </p:nvPr>
        </p:nvSpPr>
        <p:spPr bwMode="auto"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marL="914400" lvl="1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marL="1371600" lvl="2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marL="1828800" lvl="3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marL="2286000" lvl="4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marL="2743200" lvl="5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marL="3200400" lvl="6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marL="3657600" lvl="7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marL="4114800" lvl="8" indent="-29845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ferlukaslh/ScholarLog/releases/tag/v1.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882526" name="Google Shape;454;p30"/>
          <p:cNvSpPr txBox="1">
            <a:spLocks noGrp="1"/>
          </p:cNvSpPr>
          <p:nvPr>
            <p:ph type="ctrTitle"/>
          </p:nvPr>
        </p:nvSpPr>
        <p:spPr bwMode="auto">
          <a:xfrm>
            <a:off x="713225" y="539500"/>
            <a:ext cx="5099746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defRPr/>
            </a:pPr>
            <a:r>
              <a:rPr lang="fr-CH" dirty="0" err="1"/>
              <a:t>Presentation</a:t>
            </a:r>
            <a:r>
              <a:rPr lang="en" b="0" dirty="0">
                <a:latin typeface="Archivo Black"/>
                <a:ea typeface="Archivo Black"/>
                <a:cs typeface="Archivo Black"/>
              </a:rPr>
              <a:t> M</a:t>
            </a:r>
            <a:r>
              <a:rPr lang="fr-CH" b="0" dirty="0">
                <a:latin typeface="Archivo Black"/>
                <a:ea typeface="Archivo Black"/>
                <a:cs typeface="Archivo Black"/>
              </a:rPr>
              <a:t>5</a:t>
            </a:r>
            <a:r>
              <a:rPr lang="en" b="0" dirty="0">
                <a:latin typeface="Archivo Black"/>
                <a:ea typeface="Archivo Black"/>
                <a:cs typeface="Archivo Black"/>
              </a:rPr>
              <a:t> - </a:t>
            </a:r>
            <a:r>
              <a:rPr lang="fr-CH" dirty="0" err="1">
                <a:latin typeface="Archivo Black"/>
                <a:ea typeface="Archivo Black"/>
                <a:cs typeface="Archivo Black"/>
              </a:rPr>
              <a:t>ScholarLog</a:t>
            </a:r>
            <a:endParaRPr dirty="0">
              <a:latin typeface="Archivo"/>
              <a:ea typeface="Archivo"/>
              <a:cs typeface="Archivo"/>
            </a:endParaRPr>
          </a:p>
        </p:txBody>
      </p:sp>
      <p:sp>
        <p:nvSpPr>
          <p:cNvPr id="1014846900" name="Google Shape;455;p30"/>
          <p:cNvSpPr txBox="1">
            <a:spLocks noGrp="1"/>
          </p:cNvSpPr>
          <p:nvPr>
            <p:ph type="subTitle" idx="1"/>
          </p:nvPr>
        </p:nvSpPr>
        <p:spPr bwMode="auto">
          <a:xfrm>
            <a:off x="781972" y="2060180"/>
            <a:ext cx="3461865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defRPr/>
            </a:pPr>
            <a:r>
              <a:rPr lang="fr-CH" dirty="0"/>
              <a:t>26.06.11 - Hofer Lukas - TINF2</a:t>
            </a:r>
            <a:endParaRPr dirty="0"/>
          </a:p>
        </p:txBody>
      </p:sp>
      <p:grpSp>
        <p:nvGrpSpPr>
          <p:cNvPr id="1272996691" name="Google Shape;456;p30"/>
          <p:cNvGrpSpPr/>
          <p:nvPr/>
        </p:nvGrpSpPr>
        <p:grpSpPr bwMode="auto">
          <a:xfrm>
            <a:off x="5146551" y="1161090"/>
            <a:ext cx="4429800" cy="4367100"/>
            <a:chOff x="4926061" y="968050"/>
            <a:chExt cx="4429800" cy="4367100"/>
          </a:xfrm>
        </p:grpSpPr>
        <p:sp>
          <p:nvSpPr>
            <p:cNvPr id="457" name="Google Shape;457;p30"/>
            <p:cNvSpPr/>
            <p:nvPr/>
          </p:nvSpPr>
          <p:spPr bwMode="auto">
            <a:xfrm flipH="1">
              <a:off x="4926061" y="968050"/>
              <a:ext cx="4429800" cy="4367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 bwMode="auto">
            <a:xfrm rot="-2700000">
              <a:off x="7675121" y="1303413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 bwMode="auto">
            <a:xfrm rot="-2699590">
              <a:off x="4984509" y="3275203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 bwMode="auto">
            <a:xfrm rot="-2699590">
              <a:off x="7108289" y="20926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 bwMode="auto">
            <a:xfrm rot="-2699590">
              <a:off x="6792716" y="1243005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 bwMode="auto">
            <a:xfrm rot="-2699590">
              <a:off x="5127485" y="3849460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922289310" name="Google Shape;463;p30"/>
          <p:cNvGrpSpPr/>
          <p:nvPr/>
        </p:nvGrpSpPr>
        <p:grpSpPr bwMode="auto">
          <a:xfrm>
            <a:off x="2669704" y="4362225"/>
            <a:ext cx="1309796" cy="257750"/>
            <a:chOff x="-6337521" y="4362225"/>
            <a:chExt cx="1309796" cy="257750"/>
          </a:xfrm>
        </p:grpSpPr>
        <p:sp>
          <p:nvSpPr>
            <p:cNvPr id="464" name="Google Shape;464;p30"/>
            <p:cNvSpPr/>
            <p:nvPr/>
          </p:nvSpPr>
          <p:spPr bwMode="auto"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 bwMode="auto"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 bwMode="auto"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 bwMode="auto"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 bwMode="auto"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 bwMode="auto"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 bwMode="auto"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 bwMode="auto"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 bwMode="auto"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 bwMode="auto"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pic>
        <p:nvPicPr>
          <p:cNvPr id="740223674" name="Google Shape;474;p30"/>
          <p:cNvPicPr>
            <a:picLocks noGrp="1"/>
          </p:cNvPicPr>
          <p:nvPr>
            <p:ph type="pic" idx="2"/>
          </p:nvPr>
        </p:nvPicPr>
        <p:blipFill rotWithShape="1">
          <a:blip r:embed="rId3"/>
          <a:srcRect l="16925" t="4496" r="13676" b="-11269"/>
        </p:blipFill>
        <p:spPr bwMode="auto">
          <a:xfrm>
            <a:off x="5693942" y="1661616"/>
            <a:ext cx="2852100" cy="2852100"/>
          </a:xfrm>
          <a:prstGeom prst="ellipse">
            <a:avLst/>
          </a:prstGeom>
        </p:spPr>
      </p:pic>
      <p:grpSp>
        <p:nvGrpSpPr>
          <p:cNvPr id="1030979467" name="Google Shape;475;p30"/>
          <p:cNvGrpSpPr/>
          <p:nvPr/>
        </p:nvGrpSpPr>
        <p:grpSpPr bwMode="auto">
          <a:xfrm>
            <a:off x="4643689" y="2814981"/>
            <a:ext cx="2188531" cy="1862750"/>
            <a:chOff x="4643689" y="2814981"/>
            <a:chExt cx="2188531" cy="1862750"/>
          </a:xfrm>
        </p:grpSpPr>
        <p:sp>
          <p:nvSpPr>
            <p:cNvPr id="476" name="Google Shape;476;p30"/>
            <p:cNvSpPr/>
            <p:nvPr/>
          </p:nvSpPr>
          <p:spPr bwMode="auto">
            <a:xfrm rot="-2700000">
              <a:off x="5941284" y="4227394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 bwMode="auto">
            <a:xfrm>
              <a:off x="4643689" y="2814981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634711" name="Google Shape;491;p32"/>
          <p:cNvSpPr txBox="1">
            <a:spLocks noGrp="1"/>
          </p:cNvSpPr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" dirty="0"/>
              <a:t>Content</a:t>
            </a:r>
            <a:endParaRPr dirty="0"/>
          </a:p>
        </p:txBody>
      </p:sp>
      <p:sp>
        <p:nvSpPr>
          <p:cNvPr id="1248797066" name="Google Shape;485;p31"/>
          <p:cNvSpPr txBox="1"/>
          <p:nvPr/>
        </p:nvSpPr>
        <p:spPr bwMode="auto">
          <a:xfrm>
            <a:off x="805343" y="4615339"/>
            <a:ext cx="3511770" cy="31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000" b="1" i="0" u="none" strike="noStrike" cap="none" spc="0" dirty="0">
                <a:solidFill>
                  <a:schemeClr val="dk1"/>
                </a:solidFill>
                <a:latin typeface="Manrope"/>
                <a:ea typeface="Manrope"/>
                <a:cs typeface="Manrope"/>
              </a:rPr>
              <a:t>Duration of presentation: 15 min (5 min questions)</a:t>
            </a:r>
            <a:endParaRPr sz="1000" b="1" u="sng" dirty="0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  <p:grpSp>
        <p:nvGrpSpPr>
          <p:cNvPr id="1817306361" name="Groupe 17"/>
          <p:cNvGrpSpPr/>
          <p:nvPr/>
        </p:nvGrpSpPr>
        <p:grpSpPr bwMode="auto">
          <a:xfrm>
            <a:off x="4866364" y="2282765"/>
            <a:ext cx="3092100" cy="732000"/>
            <a:chOff x="4866364" y="2073965"/>
            <a:chExt cx="3092100" cy="732000"/>
          </a:xfrm>
        </p:grpSpPr>
        <p:sp>
          <p:nvSpPr>
            <p:cNvPr id="39" name="Google Shape;496;p32"/>
            <p:cNvSpPr txBox="1"/>
            <p:nvPr/>
          </p:nvSpPr>
          <p:spPr bwMode="auto">
            <a:xfrm>
              <a:off x="4866364" y="2108315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 dirty="0">
                  <a:solidFill>
                    <a:schemeClr val="bg1"/>
                  </a:solidFill>
                </a:rPr>
                <a:t>05</a:t>
              </a:r>
              <a:endParaRPr dirty="0"/>
            </a:p>
          </p:txBody>
        </p:sp>
        <p:sp>
          <p:nvSpPr>
            <p:cNvPr id="40" name="Google Shape;500;p32"/>
            <p:cNvSpPr txBox="1"/>
            <p:nvPr/>
          </p:nvSpPr>
          <p:spPr bwMode="auto">
            <a:xfrm>
              <a:off x="5648764" y="2073965"/>
              <a:ext cx="2309700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indent="0">
                <a:defRPr/>
              </a:pPr>
              <a:r>
                <a:rPr lang="fr-CH" dirty="0"/>
                <a:t>Conclusion</a:t>
              </a:r>
              <a:endParaRPr dirty="0"/>
            </a:p>
          </p:txBody>
        </p:sp>
      </p:grpSp>
      <p:grpSp>
        <p:nvGrpSpPr>
          <p:cNvPr id="98518182" name="Groupe 18"/>
          <p:cNvGrpSpPr/>
          <p:nvPr/>
        </p:nvGrpSpPr>
        <p:grpSpPr bwMode="auto">
          <a:xfrm>
            <a:off x="4866364" y="3131123"/>
            <a:ext cx="3092100" cy="732000"/>
            <a:chOff x="4866364" y="2922323"/>
            <a:chExt cx="3092100" cy="732000"/>
          </a:xfrm>
        </p:grpSpPr>
        <p:sp>
          <p:nvSpPr>
            <p:cNvPr id="41" name="Google Shape;496;p32"/>
            <p:cNvSpPr txBox="1"/>
            <p:nvPr/>
          </p:nvSpPr>
          <p:spPr bwMode="auto">
            <a:xfrm>
              <a:off x="4866364" y="2956673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 dirty="0">
                  <a:solidFill>
                    <a:schemeClr val="bg1"/>
                  </a:solidFill>
                </a:rPr>
                <a:t>06</a:t>
              </a:r>
              <a:endParaRPr dirty="0"/>
            </a:p>
          </p:txBody>
        </p:sp>
        <p:sp>
          <p:nvSpPr>
            <p:cNvPr id="42" name="Google Shape;500;p32"/>
            <p:cNvSpPr txBox="1"/>
            <p:nvPr/>
          </p:nvSpPr>
          <p:spPr bwMode="auto">
            <a:xfrm>
              <a:off x="5648764" y="2922323"/>
              <a:ext cx="2309700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indent="0">
                <a:defRPr/>
              </a:pPr>
              <a:r>
                <a:rPr lang="fr-CH" dirty="0"/>
                <a:t>Questions</a:t>
              </a:r>
              <a:endParaRPr dirty="0"/>
            </a:p>
          </p:txBody>
        </p:sp>
      </p:grpSp>
      <p:grpSp>
        <p:nvGrpSpPr>
          <p:cNvPr id="674765216" name="Groupe 12"/>
          <p:cNvGrpSpPr/>
          <p:nvPr/>
        </p:nvGrpSpPr>
        <p:grpSpPr bwMode="auto">
          <a:xfrm>
            <a:off x="891772" y="1430708"/>
            <a:ext cx="3092100" cy="732000"/>
            <a:chOff x="891772" y="1221908"/>
            <a:chExt cx="3092100" cy="732000"/>
          </a:xfrm>
        </p:grpSpPr>
        <p:sp>
          <p:nvSpPr>
            <p:cNvPr id="3" name="Google Shape;496;p32"/>
            <p:cNvSpPr txBox="1"/>
            <p:nvPr/>
          </p:nvSpPr>
          <p:spPr bwMode="auto">
            <a:xfrm>
              <a:off x="891772" y="1256258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>
                  <a:solidFill>
                    <a:schemeClr val="bg1"/>
                  </a:solidFill>
                </a:rPr>
                <a:t>01</a:t>
              </a:r>
              <a:endParaRPr/>
            </a:p>
          </p:txBody>
        </p:sp>
        <p:sp>
          <p:nvSpPr>
            <p:cNvPr id="4" name="Google Shape;500;p32"/>
            <p:cNvSpPr txBox="1"/>
            <p:nvPr/>
          </p:nvSpPr>
          <p:spPr bwMode="auto">
            <a:xfrm>
              <a:off x="1674172" y="1221908"/>
              <a:ext cx="2309700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lvl="0" indent="0">
                <a:defRPr/>
              </a:pPr>
              <a:r>
                <a:rPr lang="fr-CH" dirty="0" err="1"/>
                <a:t>Problematics</a:t>
              </a:r>
              <a:endParaRPr dirty="0"/>
            </a:p>
          </p:txBody>
        </p:sp>
      </p:grpSp>
      <p:grpSp>
        <p:nvGrpSpPr>
          <p:cNvPr id="391081952" name="Groupe 13"/>
          <p:cNvGrpSpPr/>
          <p:nvPr/>
        </p:nvGrpSpPr>
        <p:grpSpPr bwMode="auto">
          <a:xfrm>
            <a:off x="891772" y="2279065"/>
            <a:ext cx="3223028" cy="732000"/>
            <a:chOff x="891772" y="2070265"/>
            <a:chExt cx="3223028" cy="732000"/>
          </a:xfrm>
        </p:grpSpPr>
        <p:sp>
          <p:nvSpPr>
            <p:cNvPr id="5" name="Google Shape;496;p32"/>
            <p:cNvSpPr txBox="1"/>
            <p:nvPr/>
          </p:nvSpPr>
          <p:spPr bwMode="auto">
            <a:xfrm>
              <a:off x="891772" y="2104615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>
                  <a:solidFill>
                    <a:schemeClr val="bg1"/>
                  </a:solidFill>
                </a:rPr>
                <a:t>02</a:t>
              </a:r>
              <a:endParaRPr/>
            </a:p>
          </p:txBody>
        </p:sp>
        <p:sp>
          <p:nvSpPr>
            <p:cNvPr id="6" name="Google Shape;500;p32"/>
            <p:cNvSpPr txBox="1"/>
            <p:nvPr/>
          </p:nvSpPr>
          <p:spPr bwMode="auto">
            <a:xfrm>
              <a:off x="1674172" y="2070265"/>
              <a:ext cx="2440628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indent="0">
                <a:defRPr/>
              </a:pPr>
              <a:r>
                <a:rPr lang="fr-CH" dirty="0"/>
                <a:t>Needs</a:t>
              </a:r>
              <a:endParaRPr dirty="0"/>
            </a:p>
          </p:txBody>
        </p:sp>
      </p:grpSp>
      <p:grpSp>
        <p:nvGrpSpPr>
          <p:cNvPr id="3573316" name="Groupe 14"/>
          <p:cNvGrpSpPr/>
          <p:nvPr/>
        </p:nvGrpSpPr>
        <p:grpSpPr bwMode="auto">
          <a:xfrm>
            <a:off x="891772" y="3127423"/>
            <a:ext cx="3092100" cy="732000"/>
            <a:chOff x="891772" y="2918623"/>
            <a:chExt cx="3092100" cy="732000"/>
          </a:xfrm>
        </p:grpSpPr>
        <p:sp>
          <p:nvSpPr>
            <p:cNvPr id="7" name="Google Shape;496;p32"/>
            <p:cNvSpPr txBox="1"/>
            <p:nvPr/>
          </p:nvSpPr>
          <p:spPr bwMode="auto">
            <a:xfrm>
              <a:off x="891772" y="2952973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>
                  <a:solidFill>
                    <a:schemeClr val="bg1"/>
                  </a:solidFill>
                </a:rPr>
                <a:t>03</a:t>
              </a:r>
              <a:endParaRPr/>
            </a:p>
          </p:txBody>
        </p:sp>
        <p:sp>
          <p:nvSpPr>
            <p:cNvPr id="8" name="Google Shape;500;p32"/>
            <p:cNvSpPr txBox="1"/>
            <p:nvPr/>
          </p:nvSpPr>
          <p:spPr bwMode="auto">
            <a:xfrm>
              <a:off x="1674172" y="2918623"/>
              <a:ext cx="2309700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indent="0">
                <a:defRPr/>
              </a:pPr>
              <a:r>
                <a:rPr lang="fr-CH" dirty="0" err="1"/>
                <a:t>My</a:t>
              </a:r>
              <a:r>
                <a:rPr lang="fr-CH" dirty="0"/>
                <a:t> solution</a:t>
              </a:r>
              <a:endParaRPr dirty="0"/>
            </a:p>
          </p:txBody>
        </p:sp>
      </p:grpSp>
      <p:grpSp>
        <p:nvGrpSpPr>
          <p:cNvPr id="1878989132" name="Groupe 16"/>
          <p:cNvGrpSpPr/>
          <p:nvPr/>
        </p:nvGrpSpPr>
        <p:grpSpPr bwMode="auto">
          <a:xfrm>
            <a:off x="4866364" y="1444974"/>
            <a:ext cx="2776496" cy="732000"/>
            <a:chOff x="4866364" y="1236174"/>
            <a:chExt cx="2776496" cy="732000"/>
          </a:xfrm>
        </p:grpSpPr>
        <p:sp>
          <p:nvSpPr>
            <p:cNvPr id="11" name="Google Shape;496;p32"/>
            <p:cNvSpPr txBox="1"/>
            <p:nvPr/>
          </p:nvSpPr>
          <p:spPr bwMode="auto">
            <a:xfrm>
              <a:off x="4866364" y="1270524"/>
              <a:ext cx="707400" cy="663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dk1"/>
                  </a:solidFill>
                  <a:latin typeface="Archivo Black"/>
                  <a:ea typeface="Archivo Black"/>
                  <a:cs typeface="Archivo Black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chivo Black"/>
                <a:buNone/>
                <a:defRPr sz="3000" b="0" i="0" u="none" strike="noStrike" cap="none">
                  <a:solidFill>
                    <a:schemeClr val="lt1"/>
                  </a:solidFill>
                  <a:latin typeface="Archivo Black"/>
                  <a:ea typeface="Archivo Black"/>
                  <a:cs typeface="Archivo Black"/>
                </a:defRPr>
              </a:lvl9pPr>
            </a:lstStyle>
            <a:p>
              <a:pPr>
                <a:defRPr/>
              </a:pPr>
              <a:r>
                <a:rPr lang="en" dirty="0">
                  <a:solidFill>
                    <a:schemeClr val="bg1"/>
                  </a:solidFill>
                </a:rPr>
                <a:t>04</a:t>
              </a:r>
              <a:endParaRPr dirty="0"/>
            </a:p>
          </p:txBody>
        </p:sp>
        <p:sp>
          <p:nvSpPr>
            <p:cNvPr id="12" name="Google Shape;500;p32"/>
            <p:cNvSpPr txBox="1"/>
            <p:nvPr/>
          </p:nvSpPr>
          <p:spPr bwMode="auto">
            <a:xfrm>
              <a:off x="5648764" y="1236174"/>
              <a:ext cx="1994096" cy="73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000" b="1" i="0" u="none" strike="noStrike" cap="none">
                  <a:solidFill>
                    <a:schemeClr val="dk1"/>
                  </a:solidFill>
                  <a:latin typeface="Archivo"/>
                  <a:ea typeface="Archivo"/>
                  <a:cs typeface="Archivo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DM Sans"/>
                <a:buNone/>
                <a:defRPr sz="2400" b="1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</a:defRPr>
              </a:lvl9pPr>
            </a:lstStyle>
            <a:p>
              <a:pPr marL="0" lvl="0" indent="0">
                <a:defRPr/>
              </a:pPr>
              <a:r>
                <a:rPr lang="fr-CH" dirty="0" err="1"/>
                <a:t>Demonstration</a:t>
              </a: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403588" name="Google Shape;536;p35"/>
          <p:cNvSpPr txBox="1">
            <a:spLocks noGrp="1"/>
          </p:cNvSpPr>
          <p:nvPr>
            <p:ph type="title"/>
          </p:nvPr>
        </p:nvSpPr>
        <p:spPr bwMode="auto">
          <a:xfrm>
            <a:off x="1988852" y="529464"/>
            <a:ext cx="5254630" cy="6290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defRPr/>
            </a:pPr>
            <a:r>
              <a:rPr lang="fr-CH" dirty="0" err="1"/>
              <a:t>Problematics</a:t>
            </a:r>
            <a:endParaRPr lang="fr-CH" dirty="0">
              <a:latin typeface="Archivo"/>
              <a:ea typeface="Archivo"/>
              <a:cs typeface="Archivo"/>
            </a:endParaRPr>
          </a:p>
        </p:txBody>
      </p:sp>
      <p:sp>
        <p:nvSpPr>
          <p:cNvPr id="823150496" name="Google Shape;538;p35"/>
          <p:cNvSpPr txBox="1"/>
          <p:nvPr/>
        </p:nvSpPr>
        <p:spPr bwMode="auto">
          <a:xfrm>
            <a:off x="774794" y="508739"/>
            <a:ext cx="1046700" cy="711600"/>
          </a:xfrm>
          <a:prstGeom prst="rect">
            <a:avLst/>
          </a:prstGeom>
          <a:solidFill>
            <a:schemeClr val="tx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en" sz="4500">
                <a:solidFill>
                  <a:schemeClr val="bg1"/>
                </a:solidFill>
                <a:latin typeface="Archivo Black"/>
                <a:cs typeface="Archivo Black"/>
              </a:rPr>
              <a:t>0</a:t>
            </a:r>
            <a:r>
              <a:rPr lang="fr-CH" sz="4500">
                <a:solidFill>
                  <a:schemeClr val="bg1"/>
                </a:solidFill>
                <a:latin typeface="Archivo Black"/>
                <a:cs typeface="Archivo Black"/>
              </a:rPr>
              <a:t>1</a:t>
            </a:r>
            <a:endParaRPr/>
          </a:p>
        </p:txBody>
      </p:sp>
      <p:sp>
        <p:nvSpPr>
          <p:cNvPr id="1912932472" name="Google Shape;537;p35"/>
          <p:cNvSpPr txBox="1"/>
          <p:nvPr/>
        </p:nvSpPr>
        <p:spPr bwMode="auto">
          <a:xfrm>
            <a:off x="774794" y="1582328"/>
            <a:ext cx="2358550" cy="26223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sz="1600" b="1" dirty="0" err="1">
                <a:latin typeface="Manrope" pitchFamily="2" charset="0"/>
              </a:rPr>
              <a:t>Average</a:t>
            </a:r>
            <a:r>
              <a:rPr lang="fr-CH" sz="1600" b="1" dirty="0">
                <a:latin typeface="Manrope" pitchFamily="2" charset="0"/>
              </a:rPr>
              <a:t> rating</a:t>
            </a:r>
            <a:endParaRPr lang="fr-FR" sz="1600" dirty="0">
              <a:latin typeface="Manrope" pitchFamily="2" charset="0"/>
            </a:endParaRPr>
          </a:p>
          <a:p>
            <a:pPr>
              <a:defRPr/>
            </a:pPr>
            <a:r>
              <a:rPr lang="en-US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What is my current average ?</a:t>
            </a:r>
            <a:b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</a:br>
            <a:endParaRPr lang="fr-CH" sz="16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en-US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How do I calculate my average ? </a:t>
            </a:r>
            <a:b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</a:br>
            <a:endParaRPr lang="fr-CH" sz="16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fr-CH" sz="1600" i="1" dirty="0" err="1">
                <a:solidFill>
                  <a:schemeClr val="bg1">
                    <a:lumMod val="25000"/>
                  </a:schemeClr>
                </a:solidFill>
                <a:latin typeface="Manrope"/>
              </a:rPr>
              <a:t>Did</a:t>
            </a: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 I </a:t>
            </a:r>
            <a:r>
              <a:rPr lang="fr-CH" sz="1600" i="1" dirty="0" err="1">
                <a:solidFill>
                  <a:schemeClr val="bg1">
                    <a:lumMod val="25000"/>
                  </a:schemeClr>
                </a:solidFill>
                <a:latin typeface="Manrope"/>
              </a:rPr>
              <a:t>calculate</a:t>
            </a: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 </a:t>
            </a:r>
            <a:r>
              <a:rPr lang="fr-CH" sz="1600" i="1" dirty="0" err="1">
                <a:solidFill>
                  <a:schemeClr val="bg1">
                    <a:lumMod val="25000"/>
                  </a:schemeClr>
                </a:solidFill>
                <a:latin typeface="Manrope"/>
              </a:rPr>
              <a:t>correctly</a:t>
            </a: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 ?</a:t>
            </a:r>
            <a:endParaRPr lang="fr-FR" sz="16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sz="1600" dirty="0"/>
          </a:p>
        </p:txBody>
      </p:sp>
      <p:sp>
        <p:nvSpPr>
          <p:cNvPr id="611398426" name="Google Shape;537;p35"/>
          <p:cNvSpPr txBox="1"/>
          <p:nvPr/>
        </p:nvSpPr>
        <p:spPr bwMode="auto">
          <a:xfrm>
            <a:off x="1992662" y="938810"/>
            <a:ext cx="931038" cy="3775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dirty="0">
                <a:solidFill>
                  <a:schemeClr val="bg1"/>
                </a:solidFill>
                <a:latin typeface="Manrope"/>
              </a:rPr>
              <a:t>x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Google Shape;537;p35">
            <a:extLst>
              <a:ext uri="{FF2B5EF4-FFF2-40B4-BE49-F238E27FC236}">
                <a16:creationId xmlns:a16="http://schemas.microsoft.com/office/drawing/2014/main" id="{64A73D30-6B32-F51F-98AB-F1D860197054}"/>
              </a:ext>
            </a:extLst>
          </p:cNvPr>
          <p:cNvSpPr txBox="1"/>
          <p:nvPr/>
        </p:nvSpPr>
        <p:spPr bwMode="auto">
          <a:xfrm>
            <a:off x="3338343" y="1582328"/>
            <a:ext cx="2291493" cy="26223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sz="1600" b="1" dirty="0" err="1">
                <a:latin typeface="Manrope" pitchFamily="2" charset="0"/>
              </a:rPr>
              <a:t>Results</a:t>
            </a:r>
            <a:endParaRPr lang="fr-FR" sz="1600" dirty="0">
              <a:latin typeface="Manrope" pitchFamily="2" charset="0"/>
            </a:endParaRPr>
          </a:p>
          <a:p>
            <a:pPr>
              <a:defRPr/>
            </a:pPr>
            <a:r>
              <a:rPr lang="en-US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Where should I record my results ?</a:t>
            </a:r>
            <a:br>
              <a:rPr lang="fr-FR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</a:br>
            <a:endParaRPr lang="fr-FR" sz="16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en-US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Where did I put my proof ?</a:t>
            </a:r>
            <a:endParaRPr lang="fr-FR" sz="16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lang="fr-FR" sz="16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sz="1600" dirty="0"/>
          </a:p>
        </p:txBody>
      </p:sp>
      <p:sp>
        <p:nvSpPr>
          <p:cNvPr id="8" name="Google Shape;537;p35">
            <a:extLst>
              <a:ext uri="{FF2B5EF4-FFF2-40B4-BE49-F238E27FC236}">
                <a16:creationId xmlns:a16="http://schemas.microsoft.com/office/drawing/2014/main" id="{E4E1E1EB-34E2-D613-928A-80F2F6884462}"/>
              </a:ext>
            </a:extLst>
          </p:cNvPr>
          <p:cNvSpPr txBox="1"/>
          <p:nvPr/>
        </p:nvSpPr>
        <p:spPr bwMode="auto">
          <a:xfrm>
            <a:off x="6183904" y="1551908"/>
            <a:ext cx="2502896" cy="26223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sz="1600" b="1" dirty="0">
                <a:latin typeface="Manrope" pitchFamily="2" charset="0"/>
              </a:rPr>
              <a:t>Work logs</a:t>
            </a:r>
            <a:endParaRPr lang="fr-FR" sz="1600" dirty="0">
              <a:latin typeface="Manrope" pitchFamily="2" charset="0"/>
            </a:endParaRPr>
          </a:p>
          <a:p>
            <a:pPr>
              <a:defRPr/>
            </a:pPr>
            <a:r>
              <a:rPr lang="en-US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Where should I keep my work journal ?</a:t>
            </a:r>
            <a:br>
              <a:rPr lang="fr-FR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</a:br>
            <a:endParaRPr lang="fr-FR" sz="16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en-US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How much time did I spend on that task ?</a:t>
            </a:r>
            <a:endParaRPr lang="fr-FR" sz="16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4248B5A-A7AA-483F-2B87-0678A4204D3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403588" name="Google Shape;536;p35">
            <a:extLst>
              <a:ext uri="{FF2B5EF4-FFF2-40B4-BE49-F238E27FC236}">
                <a16:creationId xmlns:a16="http://schemas.microsoft.com/office/drawing/2014/main" id="{B688F096-D76A-F556-20A8-3CE8C0BDEC29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988852" y="529464"/>
            <a:ext cx="5254630" cy="6290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defRPr/>
            </a:pPr>
            <a:r>
              <a:rPr lang="fr-CH" dirty="0" err="1"/>
              <a:t>Problematic</a:t>
            </a:r>
            <a:endParaRPr lang="fr-CH" dirty="0">
              <a:latin typeface="Archivo"/>
              <a:ea typeface="Archivo"/>
              <a:cs typeface="Archivo"/>
            </a:endParaRPr>
          </a:p>
        </p:txBody>
      </p:sp>
      <p:sp>
        <p:nvSpPr>
          <p:cNvPr id="823150496" name="Google Shape;538;p35">
            <a:extLst>
              <a:ext uri="{FF2B5EF4-FFF2-40B4-BE49-F238E27FC236}">
                <a16:creationId xmlns:a16="http://schemas.microsoft.com/office/drawing/2014/main" id="{A0886756-CA73-9D9C-473A-719C42F831D8}"/>
              </a:ext>
            </a:extLst>
          </p:cNvPr>
          <p:cNvSpPr txBox="1"/>
          <p:nvPr/>
        </p:nvSpPr>
        <p:spPr bwMode="auto">
          <a:xfrm>
            <a:off x="774794" y="508739"/>
            <a:ext cx="1046700" cy="711600"/>
          </a:xfrm>
          <a:prstGeom prst="rect">
            <a:avLst/>
          </a:prstGeom>
          <a:solidFill>
            <a:schemeClr val="tx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en" sz="4500">
                <a:solidFill>
                  <a:schemeClr val="bg1"/>
                </a:solidFill>
                <a:latin typeface="Archivo Black"/>
                <a:cs typeface="Archivo Black"/>
              </a:rPr>
              <a:t>0</a:t>
            </a:r>
            <a:r>
              <a:rPr lang="fr-CH" sz="4500">
                <a:solidFill>
                  <a:schemeClr val="bg1"/>
                </a:solidFill>
                <a:latin typeface="Archivo Black"/>
                <a:cs typeface="Archivo Black"/>
              </a:rPr>
              <a:t>1</a:t>
            </a:r>
            <a:endParaRPr/>
          </a:p>
        </p:txBody>
      </p:sp>
      <p:sp>
        <p:nvSpPr>
          <p:cNvPr id="611398426" name="Google Shape;537;p35">
            <a:extLst>
              <a:ext uri="{FF2B5EF4-FFF2-40B4-BE49-F238E27FC236}">
                <a16:creationId xmlns:a16="http://schemas.microsoft.com/office/drawing/2014/main" id="{EDA188EC-031B-FF1F-D7E5-9B3292D45501}"/>
              </a:ext>
            </a:extLst>
          </p:cNvPr>
          <p:cNvSpPr txBox="1"/>
          <p:nvPr/>
        </p:nvSpPr>
        <p:spPr bwMode="auto">
          <a:xfrm>
            <a:off x="1992661" y="938810"/>
            <a:ext cx="2345745" cy="3775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Solutions ? (Excel)</a:t>
            </a:r>
            <a:endParaRPr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4206735-E57A-7A89-BE6C-69F8C3D7B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167" y="1394067"/>
            <a:ext cx="1099528" cy="1023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Use Excel Data Validation for Entering Dates">
            <a:extLst>
              <a:ext uri="{FF2B5EF4-FFF2-40B4-BE49-F238E27FC236}">
                <a16:creationId xmlns:a16="http://schemas.microsoft.com/office/drawing/2014/main" id="{7F10734E-8A1A-E0C1-4224-B0869FD3A4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53"/>
          <a:stretch>
            <a:fillRect/>
          </a:stretch>
        </p:blipFill>
        <p:spPr bwMode="auto">
          <a:xfrm>
            <a:off x="6715398" y="2195314"/>
            <a:ext cx="3038475" cy="13011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xcel Will Not Open Macro Enabled Workbooks - Software &amp; Applications -  Spiceworks Community">
            <a:extLst>
              <a:ext uri="{FF2B5EF4-FFF2-40B4-BE49-F238E27FC236}">
                <a16:creationId xmlns:a16="http://schemas.microsoft.com/office/drawing/2014/main" id="{AEEC4533-C367-7D89-07F7-A6510178A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696" y="831827"/>
            <a:ext cx="2422431" cy="81115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537;p35">
            <a:extLst>
              <a:ext uri="{FF2B5EF4-FFF2-40B4-BE49-F238E27FC236}">
                <a16:creationId xmlns:a16="http://schemas.microsoft.com/office/drawing/2014/main" id="{8DA34300-E483-D5DB-DCFA-763670337D7A}"/>
              </a:ext>
            </a:extLst>
          </p:cNvPr>
          <p:cNvSpPr txBox="1"/>
          <p:nvPr/>
        </p:nvSpPr>
        <p:spPr bwMode="auto">
          <a:xfrm>
            <a:off x="774793" y="1725666"/>
            <a:ext cx="2748335" cy="26223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sz="1600" b="1" dirty="0">
                <a:solidFill>
                  <a:schemeClr val="bg1">
                    <a:lumMod val="10000"/>
                  </a:schemeClr>
                </a:solidFill>
                <a:latin typeface="Manrope" pitchFamily="2" charset="0"/>
              </a:rPr>
              <a:t>Technical </a:t>
            </a:r>
            <a:r>
              <a:rPr lang="fr-CH" sz="1600" b="1" dirty="0" err="1">
                <a:solidFill>
                  <a:schemeClr val="bg1">
                    <a:lumMod val="10000"/>
                  </a:schemeClr>
                </a:solidFill>
                <a:latin typeface="Manrope" pitchFamily="2" charset="0"/>
              </a:rPr>
              <a:t>instability</a:t>
            </a:r>
            <a:r>
              <a:rPr lang="fr-CH" sz="1600" b="1" dirty="0">
                <a:solidFill>
                  <a:schemeClr val="bg1">
                    <a:lumMod val="10000"/>
                  </a:schemeClr>
                </a:solidFill>
                <a:latin typeface="Manrope" pitchFamily="2" charset="0"/>
              </a:rPr>
              <a:t> :</a:t>
            </a:r>
            <a:endParaRPr lang="fr-FR" sz="1600" dirty="0">
              <a:solidFill>
                <a:schemeClr val="bg1">
                  <a:lumMod val="10000"/>
                </a:schemeClr>
              </a:solidFill>
              <a:latin typeface="Manrope" pitchFamily="2" charset="0"/>
            </a:endParaRPr>
          </a:p>
          <a:p>
            <a:pPr>
              <a:defRPr/>
            </a:pP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Too </a:t>
            </a:r>
            <a:r>
              <a:rPr lang="fr-CH" sz="1600" i="1" dirty="0" err="1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much</a:t>
            </a: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 macros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fr-CH" sz="1600" i="1" dirty="0">
              <a:solidFill>
                <a:schemeClr val="bg1">
                  <a:lumMod val="10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fr-CH" sz="1600" b="1" dirty="0">
                <a:solidFill>
                  <a:schemeClr val="bg1">
                    <a:lumMod val="10000"/>
                  </a:schemeClr>
                </a:solidFill>
                <a:latin typeface="Manrope" pitchFamily="2" charset="0"/>
              </a:rPr>
              <a:t>Heavy </a:t>
            </a:r>
            <a:r>
              <a:rPr lang="fr-CH" sz="1600" b="1" dirty="0" err="1">
                <a:solidFill>
                  <a:schemeClr val="bg1">
                    <a:lumMod val="10000"/>
                  </a:schemeClr>
                </a:solidFill>
                <a:latin typeface="Manrope" pitchFamily="2" charset="0"/>
              </a:rPr>
              <a:t>ergonomics</a:t>
            </a:r>
            <a:r>
              <a:rPr lang="fr-CH" sz="1600" b="1" dirty="0">
                <a:solidFill>
                  <a:schemeClr val="bg1">
                    <a:lumMod val="10000"/>
                  </a:schemeClr>
                </a:solidFill>
                <a:latin typeface="Manrope" pitchFamily="2" charset="0"/>
              </a:rPr>
              <a:t> </a:t>
            </a:r>
            <a:r>
              <a:rPr lang="fr-CH" sz="1600" b="1" dirty="0">
                <a:solidFill>
                  <a:schemeClr val="bg1">
                    <a:lumMod val="10000"/>
                  </a:schemeClr>
                </a:solidFill>
                <a:latin typeface="Manrope"/>
              </a:rPr>
              <a:t>:</a:t>
            </a:r>
          </a:p>
          <a:p>
            <a:pPr>
              <a:defRPr/>
            </a:pP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UI  </a:t>
            </a:r>
            <a:r>
              <a:rPr lang="fr-CH" sz="1600" i="1" dirty="0" err="1">
                <a:solidFill>
                  <a:schemeClr val="bg1">
                    <a:lumMod val="25000"/>
                  </a:schemeClr>
                </a:solidFill>
                <a:latin typeface="Manrope"/>
              </a:rPr>
              <a:t>is</a:t>
            </a: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 not user </a:t>
            </a:r>
            <a:r>
              <a:rPr lang="fr-CH" sz="1600" i="1" dirty="0" err="1">
                <a:solidFill>
                  <a:schemeClr val="bg1">
                    <a:lumMod val="25000"/>
                  </a:schemeClr>
                </a:solidFill>
                <a:latin typeface="Manrope"/>
              </a:rPr>
              <a:t>friendly</a:t>
            </a: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 </a:t>
            </a:r>
            <a:br>
              <a:rPr lang="fr-CH" sz="1600" i="1" dirty="0">
                <a:solidFill>
                  <a:schemeClr val="bg1">
                    <a:lumMod val="10000"/>
                  </a:schemeClr>
                </a:solidFill>
                <a:latin typeface="Manrope"/>
              </a:rPr>
            </a:br>
            <a:endParaRPr lang="fr-CH" sz="1600" i="1" dirty="0">
              <a:solidFill>
                <a:schemeClr val="bg1">
                  <a:lumMod val="10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fr-CH" sz="1600" b="1" dirty="0" err="1">
                <a:solidFill>
                  <a:schemeClr val="bg1">
                    <a:lumMod val="10000"/>
                  </a:schemeClr>
                </a:solidFill>
                <a:latin typeface="Manrope"/>
              </a:rPr>
              <a:t>Archiving</a:t>
            </a:r>
            <a:r>
              <a:rPr lang="fr-CH" sz="1600" b="1" dirty="0">
                <a:solidFill>
                  <a:schemeClr val="bg1">
                    <a:lumMod val="10000"/>
                  </a:schemeClr>
                </a:solidFill>
                <a:latin typeface="Manrope"/>
              </a:rPr>
              <a:t> not possible :</a:t>
            </a:r>
          </a:p>
          <a:p>
            <a:pPr>
              <a:defRPr/>
            </a:pP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Not possible to put PDF</a:t>
            </a:r>
            <a:b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</a:br>
            <a:endParaRPr lang="fr-FR" sz="16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sz="16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6606B5A-BC37-2641-3C2B-E0761D050A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330" y="2652754"/>
            <a:ext cx="2355047" cy="16952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52" name="Picture 4" descr="Macro Errors in Excel - Step by Step Tutorial">
            <a:extLst>
              <a:ext uri="{FF2B5EF4-FFF2-40B4-BE49-F238E27FC236}">
                <a16:creationId xmlns:a16="http://schemas.microsoft.com/office/drawing/2014/main" id="{42EEAC0D-878F-CED2-E526-4F27A893B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836" y="1158490"/>
            <a:ext cx="2301234" cy="1517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775D8CC-11EB-EC55-EFE0-189505B75F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5931" y="3426948"/>
            <a:ext cx="2479296" cy="16313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842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46617CF-0580-8B10-C19D-E7543C34FF2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403588" name="Google Shape;536;p35">
            <a:extLst>
              <a:ext uri="{FF2B5EF4-FFF2-40B4-BE49-F238E27FC236}">
                <a16:creationId xmlns:a16="http://schemas.microsoft.com/office/drawing/2014/main" id="{9F029931-38FB-7806-20FE-B33C00AE822E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988852" y="529464"/>
            <a:ext cx="5254630" cy="6290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defRPr/>
            </a:pPr>
            <a:r>
              <a:rPr lang="fr-CH" dirty="0" err="1"/>
              <a:t>Problematic</a:t>
            </a:r>
            <a:endParaRPr lang="fr-CH" dirty="0">
              <a:latin typeface="Archivo"/>
              <a:ea typeface="Archivo"/>
              <a:cs typeface="Archivo"/>
            </a:endParaRPr>
          </a:p>
        </p:txBody>
      </p:sp>
      <p:sp>
        <p:nvSpPr>
          <p:cNvPr id="823150496" name="Google Shape;538;p35">
            <a:extLst>
              <a:ext uri="{FF2B5EF4-FFF2-40B4-BE49-F238E27FC236}">
                <a16:creationId xmlns:a16="http://schemas.microsoft.com/office/drawing/2014/main" id="{FC8E5544-0963-EE0E-8D27-D820DCCF347C}"/>
              </a:ext>
            </a:extLst>
          </p:cNvPr>
          <p:cNvSpPr txBox="1"/>
          <p:nvPr/>
        </p:nvSpPr>
        <p:spPr bwMode="auto">
          <a:xfrm>
            <a:off x="774794" y="508739"/>
            <a:ext cx="1046700" cy="711600"/>
          </a:xfrm>
          <a:prstGeom prst="rect">
            <a:avLst/>
          </a:prstGeom>
          <a:solidFill>
            <a:schemeClr val="tx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en" sz="4500">
                <a:solidFill>
                  <a:schemeClr val="bg1"/>
                </a:solidFill>
                <a:latin typeface="Archivo Black"/>
                <a:cs typeface="Archivo Black"/>
              </a:rPr>
              <a:t>0</a:t>
            </a:r>
            <a:r>
              <a:rPr lang="fr-CH" sz="4500">
                <a:solidFill>
                  <a:schemeClr val="bg1"/>
                </a:solidFill>
                <a:latin typeface="Archivo Black"/>
                <a:cs typeface="Archivo Black"/>
              </a:rPr>
              <a:t>1</a:t>
            </a:r>
            <a:endParaRPr/>
          </a:p>
        </p:txBody>
      </p:sp>
      <p:sp>
        <p:nvSpPr>
          <p:cNvPr id="611398426" name="Google Shape;537;p35">
            <a:extLst>
              <a:ext uri="{FF2B5EF4-FFF2-40B4-BE49-F238E27FC236}">
                <a16:creationId xmlns:a16="http://schemas.microsoft.com/office/drawing/2014/main" id="{4E0A859F-40C3-8336-A3F6-E7F30185EB1B}"/>
              </a:ext>
            </a:extLst>
          </p:cNvPr>
          <p:cNvSpPr txBox="1"/>
          <p:nvPr/>
        </p:nvSpPr>
        <p:spPr bwMode="auto">
          <a:xfrm>
            <a:off x="1992661" y="938810"/>
            <a:ext cx="2919997" cy="3775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Solutions ? (Cloud app)</a:t>
            </a:r>
            <a:endParaRPr dirty="0"/>
          </a:p>
        </p:txBody>
      </p:sp>
      <p:sp>
        <p:nvSpPr>
          <p:cNvPr id="7" name="Google Shape;537;p35">
            <a:extLst>
              <a:ext uri="{FF2B5EF4-FFF2-40B4-BE49-F238E27FC236}">
                <a16:creationId xmlns:a16="http://schemas.microsoft.com/office/drawing/2014/main" id="{060BD134-E9E7-4DB1-9EAD-A60D734F93DA}"/>
              </a:ext>
            </a:extLst>
          </p:cNvPr>
          <p:cNvSpPr txBox="1"/>
          <p:nvPr/>
        </p:nvSpPr>
        <p:spPr bwMode="auto">
          <a:xfrm>
            <a:off x="774794" y="1725665"/>
            <a:ext cx="2712478" cy="3034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sz="1600" b="1" dirty="0" err="1">
                <a:solidFill>
                  <a:schemeClr val="bg1">
                    <a:lumMod val="10000"/>
                  </a:schemeClr>
                </a:solidFill>
                <a:latin typeface="Manrope" pitchFamily="2" charset="0"/>
              </a:rPr>
              <a:t>Confidentiality</a:t>
            </a:r>
            <a:r>
              <a:rPr lang="fr-CH" sz="1600" b="1" dirty="0">
                <a:solidFill>
                  <a:schemeClr val="bg1">
                    <a:lumMod val="10000"/>
                  </a:schemeClr>
                </a:solidFill>
                <a:latin typeface="Manrope" pitchFamily="2" charset="0"/>
              </a:rPr>
              <a:t> :</a:t>
            </a:r>
            <a:endParaRPr lang="fr-FR" sz="1600" dirty="0">
              <a:solidFill>
                <a:schemeClr val="bg1">
                  <a:lumMod val="10000"/>
                </a:schemeClr>
              </a:solidFill>
              <a:latin typeface="Manrope" pitchFamily="2" charset="0"/>
            </a:endParaRPr>
          </a:p>
          <a:p>
            <a:pPr>
              <a:defRPr/>
            </a:pP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You </a:t>
            </a:r>
            <a:r>
              <a:rPr lang="fr-CH" sz="1600" i="1" dirty="0" err="1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don’t</a:t>
            </a: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 </a:t>
            </a:r>
            <a:r>
              <a:rPr lang="fr-CH" sz="1600" i="1" dirty="0" err="1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really</a:t>
            </a: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 </a:t>
            </a:r>
            <a:r>
              <a:rPr lang="fr-CH" sz="1600" i="1" dirty="0" err="1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own</a:t>
            </a: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 </a:t>
            </a:r>
            <a:r>
              <a:rPr lang="fr-CH" sz="1600" i="1" dirty="0" err="1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your</a:t>
            </a: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 </a:t>
            </a:r>
            <a:r>
              <a:rPr lang="fr-CH" sz="1600" i="1" dirty="0" err="1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own</a:t>
            </a:r>
            <a: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 data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fr-CH" sz="1600" i="1" dirty="0">
              <a:solidFill>
                <a:schemeClr val="bg1">
                  <a:lumMod val="10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fr-CH" sz="1600" b="1" dirty="0">
                <a:solidFill>
                  <a:schemeClr val="bg1">
                    <a:lumMod val="10000"/>
                  </a:schemeClr>
                </a:solidFill>
                <a:latin typeface="Manrope" pitchFamily="2" charset="0"/>
              </a:rPr>
              <a:t>Internet </a:t>
            </a:r>
            <a:r>
              <a:rPr lang="fr-CH" sz="1600" b="1" dirty="0" err="1">
                <a:solidFill>
                  <a:schemeClr val="bg1">
                    <a:lumMod val="10000"/>
                  </a:schemeClr>
                </a:solidFill>
                <a:latin typeface="Manrope" pitchFamily="2" charset="0"/>
              </a:rPr>
              <a:t>only</a:t>
            </a:r>
            <a:r>
              <a:rPr lang="fr-CH" sz="1600" b="1" dirty="0">
                <a:solidFill>
                  <a:schemeClr val="bg1">
                    <a:lumMod val="10000"/>
                  </a:schemeClr>
                </a:solidFill>
                <a:latin typeface="Manrope" pitchFamily="2" charset="0"/>
              </a:rPr>
              <a:t> </a:t>
            </a:r>
            <a:r>
              <a:rPr lang="fr-CH" sz="1600" b="1" dirty="0">
                <a:solidFill>
                  <a:schemeClr val="bg1">
                    <a:lumMod val="10000"/>
                  </a:schemeClr>
                </a:solidFill>
                <a:latin typeface="Manrope"/>
              </a:rPr>
              <a:t>:</a:t>
            </a:r>
          </a:p>
          <a:p>
            <a:pPr>
              <a:defRPr/>
            </a:pPr>
            <a:r>
              <a:rPr lang="en-US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No access to your results or scans when offline</a:t>
            </a:r>
            <a:br>
              <a:rPr lang="fr-CH" sz="1600" i="1" dirty="0">
                <a:solidFill>
                  <a:schemeClr val="bg1">
                    <a:lumMod val="10000"/>
                  </a:schemeClr>
                </a:solidFill>
                <a:latin typeface="Manrope"/>
              </a:rPr>
            </a:br>
            <a:endParaRPr lang="fr-CH" sz="1600" i="1" dirty="0">
              <a:solidFill>
                <a:schemeClr val="bg1">
                  <a:lumMod val="10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fr-CH" sz="1600" b="1" dirty="0">
                <a:solidFill>
                  <a:schemeClr val="bg1">
                    <a:lumMod val="10000"/>
                  </a:schemeClr>
                </a:solidFill>
                <a:latin typeface="Manrope"/>
              </a:rPr>
              <a:t>time </a:t>
            </a:r>
            <a:r>
              <a:rPr lang="fr-CH" sz="1600" b="1" dirty="0" err="1">
                <a:solidFill>
                  <a:schemeClr val="bg1">
                    <a:lumMod val="10000"/>
                  </a:schemeClr>
                </a:solidFill>
                <a:latin typeface="Manrope"/>
              </a:rPr>
              <a:t>consuming</a:t>
            </a:r>
            <a:r>
              <a:rPr lang="fr-CH" sz="1600" b="1" dirty="0">
                <a:solidFill>
                  <a:schemeClr val="bg1">
                    <a:lumMod val="10000"/>
                  </a:schemeClr>
                </a:solidFill>
                <a:latin typeface="Manrope"/>
              </a:rPr>
              <a:t> :</a:t>
            </a:r>
          </a:p>
          <a:p>
            <a:pPr>
              <a:defRPr/>
            </a:pPr>
            <a:r>
              <a:rPr lang="en-US" sz="1600" i="1" dirty="0">
                <a:solidFill>
                  <a:schemeClr val="bg1">
                    <a:lumMod val="25000"/>
                  </a:schemeClr>
                </a:solidFill>
                <a:latin typeface="Manrope" pitchFamily="2" charset="0"/>
              </a:rPr>
              <a:t>You build your own databases from scratch</a:t>
            </a:r>
            <a:br>
              <a:rPr lang="fr-CH" sz="16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</a:br>
            <a:endParaRPr lang="fr-FR" sz="16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sz="16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5E7191B-560F-A13A-E383-6805EAEBB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944" y="2571750"/>
            <a:ext cx="1106426" cy="14843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78" name="Picture 6" descr="6 Steps to Maintaining Confidentiality and Privacy for Family Offices">
            <a:extLst>
              <a:ext uri="{FF2B5EF4-FFF2-40B4-BE49-F238E27FC236}">
                <a16:creationId xmlns:a16="http://schemas.microsoft.com/office/drawing/2014/main" id="{56268E96-32C9-E696-0413-0A85AD888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167" y="1316320"/>
            <a:ext cx="2541223" cy="16965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Faster Icon Png 0 Copy - Time Consuming Icon Png, Transparent Png - kindpng">
            <a:extLst>
              <a:ext uri="{FF2B5EF4-FFF2-40B4-BE49-F238E27FC236}">
                <a16:creationId xmlns:a16="http://schemas.microsoft.com/office/drawing/2014/main" id="{36E5E405-8CFF-C075-B49E-53C58B208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097" y="3362223"/>
            <a:ext cx="1893991" cy="168493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119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C62713-5CF5-AB82-70FA-3DA8F2A5F6D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C631EB2F-F319-7C19-C2A6-F778DBE50A46}"/>
              </a:ext>
            </a:extLst>
          </p:cNvPr>
          <p:cNvSpPr/>
          <p:nvPr/>
        </p:nvSpPr>
        <p:spPr bwMode="auto">
          <a:xfrm>
            <a:off x="2687933" y="1658485"/>
            <a:ext cx="1872346" cy="2342334"/>
          </a:xfrm>
          <a:prstGeom prst="roundRect">
            <a:avLst>
              <a:gd name="adj" fmla="val 4770"/>
            </a:avLst>
          </a:prstGeom>
          <a:solidFill>
            <a:srgbClr val="F8FEF8"/>
          </a:solidFill>
          <a:ln>
            <a:solidFill>
              <a:srgbClr val="92D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1" name="Google Shape;537;p35">
            <a:extLst>
              <a:ext uri="{FF2B5EF4-FFF2-40B4-BE49-F238E27FC236}">
                <a16:creationId xmlns:a16="http://schemas.microsoft.com/office/drawing/2014/main" id="{9B26D89F-591F-8552-E535-A874CAF6CEA4}"/>
              </a:ext>
            </a:extLst>
          </p:cNvPr>
          <p:cNvSpPr txBox="1"/>
          <p:nvPr/>
        </p:nvSpPr>
        <p:spPr bwMode="auto">
          <a:xfrm>
            <a:off x="2760983" y="2311848"/>
            <a:ext cx="1767817" cy="1633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b="1" dirty="0">
                <a:latin typeface="Manrope" pitchFamily="2" charset="0"/>
              </a:rPr>
              <a:t>All-in-One Hub</a:t>
            </a:r>
            <a:br>
              <a:rPr kumimoji="0" lang="fr-CH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</a:br>
            <a:endParaRPr lang="en-US" sz="8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Grades, PDF scans, and work journals unified in a single, perfectly organized place.</a:t>
            </a:r>
            <a:endParaRPr lang="fr-FR" sz="12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sz="1200" dirty="0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75CC8CA8-CD32-473D-53BE-1BD2533F5029}"/>
              </a:ext>
            </a:extLst>
          </p:cNvPr>
          <p:cNvSpPr/>
          <p:nvPr/>
        </p:nvSpPr>
        <p:spPr>
          <a:xfrm>
            <a:off x="639586" y="1658485"/>
            <a:ext cx="1867826" cy="2342334"/>
          </a:xfrm>
          <a:prstGeom prst="roundRect">
            <a:avLst>
              <a:gd name="adj" fmla="val 4770"/>
            </a:avLst>
          </a:prstGeom>
          <a:solidFill>
            <a:srgbClr val="F8FAFE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39403588" name="Google Shape;536;p35">
            <a:extLst>
              <a:ext uri="{FF2B5EF4-FFF2-40B4-BE49-F238E27FC236}">
                <a16:creationId xmlns:a16="http://schemas.microsoft.com/office/drawing/2014/main" id="{78AF69D3-7534-CAEE-B055-B3775D59C0C0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988852" y="529464"/>
            <a:ext cx="4410900" cy="6290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defRPr/>
            </a:pPr>
            <a:r>
              <a:rPr lang="fr-CH" dirty="0"/>
              <a:t>Needs</a:t>
            </a:r>
            <a:endParaRPr dirty="0">
              <a:latin typeface="Archivo"/>
              <a:ea typeface="Archivo"/>
              <a:cs typeface="Archivo"/>
            </a:endParaRPr>
          </a:p>
        </p:txBody>
      </p:sp>
      <p:sp>
        <p:nvSpPr>
          <p:cNvPr id="823150496" name="Google Shape;538;p35">
            <a:extLst>
              <a:ext uri="{FF2B5EF4-FFF2-40B4-BE49-F238E27FC236}">
                <a16:creationId xmlns:a16="http://schemas.microsoft.com/office/drawing/2014/main" id="{8EF8F84A-E11C-4DB1-3BFF-68F7B50D57FC}"/>
              </a:ext>
            </a:extLst>
          </p:cNvPr>
          <p:cNvSpPr txBox="1"/>
          <p:nvPr/>
        </p:nvSpPr>
        <p:spPr bwMode="auto">
          <a:xfrm>
            <a:off x="774794" y="508739"/>
            <a:ext cx="1046700" cy="711600"/>
          </a:xfrm>
          <a:prstGeom prst="rect">
            <a:avLst/>
          </a:prstGeom>
          <a:solidFill>
            <a:schemeClr val="tx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en" sz="4500" dirty="0">
                <a:solidFill>
                  <a:schemeClr val="bg1"/>
                </a:solidFill>
                <a:latin typeface="Archivo Black"/>
                <a:cs typeface="Archivo Black"/>
              </a:rPr>
              <a:t>0</a:t>
            </a:r>
            <a:r>
              <a:rPr lang="fr-CH" sz="4500" dirty="0">
                <a:solidFill>
                  <a:schemeClr val="bg1"/>
                </a:solidFill>
                <a:latin typeface="Archivo Black"/>
                <a:cs typeface="Archivo Black"/>
              </a:rPr>
              <a:t>2</a:t>
            </a:r>
            <a:endParaRPr dirty="0"/>
          </a:p>
        </p:txBody>
      </p:sp>
      <p:sp>
        <p:nvSpPr>
          <p:cNvPr id="611398426" name="Google Shape;537;p35">
            <a:extLst>
              <a:ext uri="{FF2B5EF4-FFF2-40B4-BE49-F238E27FC236}">
                <a16:creationId xmlns:a16="http://schemas.microsoft.com/office/drawing/2014/main" id="{E25A6023-07B9-E7D1-29E1-373214CA0976}"/>
              </a:ext>
            </a:extLst>
          </p:cNvPr>
          <p:cNvSpPr txBox="1"/>
          <p:nvPr/>
        </p:nvSpPr>
        <p:spPr bwMode="auto">
          <a:xfrm>
            <a:off x="1992661" y="938810"/>
            <a:ext cx="3913463" cy="3775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dirty="0" err="1">
                <a:solidFill>
                  <a:schemeClr val="bg1">
                    <a:lumMod val="25000"/>
                  </a:schemeClr>
                </a:solidFill>
                <a:latin typeface="Manrope"/>
              </a:rPr>
              <a:t>What</a:t>
            </a:r>
            <a:r>
              <a:rPr lang="fr-CH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 a </a:t>
            </a:r>
            <a:r>
              <a:rPr lang="fr-CH" dirty="0" err="1">
                <a:solidFill>
                  <a:schemeClr val="bg1">
                    <a:lumMod val="25000"/>
                  </a:schemeClr>
                </a:solidFill>
                <a:latin typeface="Manrope"/>
              </a:rPr>
              <a:t>student</a:t>
            </a:r>
            <a:r>
              <a:rPr lang="fr-CH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 </a:t>
            </a:r>
            <a:r>
              <a:rPr lang="fr-CH" dirty="0" err="1">
                <a:solidFill>
                  <a:schemeClr val="bg1">
                    <a:lumMod val="25000"/>
                  </a:schemeClr>
                </a:solidFill>
                <a:latin typeface="Manrope"/>
              </a:rPr>
              <a:t>really</a:t>
            </a:r>
            <a:r>
              <a:rPr lang="fr-CH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 </a:t>
            </a:r>
            <a:r>
              <a:rPr lang="fr-CH" dirty="0" err="1">
                <a:solidFill>
                  <a:schemeClr val="bg1">
                    <a:lumMod val="25000"/>
                  </a:schemeClr>
                </a:solidFill>
                <a:latin typeface="Manrope"/>
              </a:rPr>
              <a:t>need</a:t>
            </a:r>
            <a:r>
              <a:rPr lang="fr-CH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 ?</a:t>
            </a:r>
            <a:endParaRPr dirty="0"/>
          </a:p>
        </p:txBody>
      </p:sp>
      <p:pic>
        <p:nvPicPr>
          <p:cNvPr id="25" name="Graphique 24">
            <a:extLst>
              <a:ext uri="{FF2B5EF4-FFF2-40B4-BE49-F238E27FC236}">
                <a16:creationId xmlns:a16="http://schemas.microsoft.com/office/drawing/2014/main" id="{7D0CAE80-CDA4-B8C7-5894-CB74ADA3E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6730" y="1779695"/>
            <a:ext cx="406131" cy="406131"/>
          </a:xfrm>
          <a:prstGeom prst="rect">
            <a:avLst/>
          </a:prstGeom>
        </p:spPr>
      </p:pic>
      <p:pic>
        <p:nvPicPr>
          <p:cNvPr id="29" name="Graphique 28">
            <a:extLst>
              <a:ext uri="{FF2B5EF4-FFF2-40B4-BE49-F238E27FC236}">
                <a16:creationId xmlns:a16="http://schemas.microsoft.com/office/drawing/2014/main" id="{5465E2FD-10A9-9268-D16B-A08694892F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383" y="1806521"/>
            <a:ext cx="406131" cy="406131"/>
          </a:xfrm>
          <a:prstGeom prst="rect">
            <a:avLst/>
          </a:prstGeom>
        </p:spPr>
      </p:pic>
      <p:sp>
        <p:nvSpPr>
          <p:cNvPr id="34" name="Google Shape;537;p35">
            <a:extLst>
              <a:ext uri="{FF2B5EF4-FFF2-40B4-BE49-F238E27FC236}">
                <a16:creationId xmlns:a16="http://schemas.microsoft.com/office/drawing/2014/main" id="{55148866-A162-6F5B-CF15-44D84DC9E4F4}"/>
              </a:ext>
            </a:extLst>
          </p:cNvPr>
          <p:cNvSpPr txBox="1"/>
          <p:nvPr/>
        </p:nvSpPr>
        <p:spPr bwMode="auto">
          <a:xfrm>
            <a:off x="715886" y="2311848"/>
            <a:ext cx="1781366" cy="16385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CH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</a:rPr>
              <a:t>Automatic</a:t>
            </a:r>
            <a:r>
              <a:rPr kumimoji="0" lang="fr-CH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</a:rPr>
              <a:t> Math</a:t>
            </a:r>
            <a:br>
              <a:rPr kumimoji="0" lang="fr-CH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</a:rPr>
            </a:br>
            <a:endParaRPr lang="en-US" sz="800" i="1" dirty="0">
              <a:solidFill>
                <a:schemeClr val="bg1">
                  <a:lumMod val="25000"/>
                </a:schemeClr>
              </a:solidFill>
              <a:latin typeface="Manrope" pitchFamily="2" charset="0"/>
            </a:endParaRPr>
          </a:p>
          <a:p>
            <a:pPr>
              <a:defRPr/>
            </a:pPr>
            <a: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Instant, error-free weighted averages. </a:t>
            </a:r>
            <a:b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</a:br>
            <a:b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</a:br>
            <a: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Stop wasting time calculating grades manually.</a:t>
            </a:r>
            <a:endParaRPr lang="fr-FR" sz="12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lang="fr-FR" sz="12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sz="1200" dirty="0"/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EB67525F-953F-4279-6F4D-2DFF0CD19897}"/>
              </a:ext>
            </a:extLst>
          </p:cNvPr>
          <p:cNvSpPr/>
          <p:nvPr/>
        </p:nvSpPr>
        <p:spPr bwMode="auto">
          <a:xfrm>
            <a:off x="4740800" y="1663351"/>
            <a:ext cx="1872346" cy="2342334"/>
          </a:xfrm>
          <a:prstGeom prst="roundRect">
            <a:avLst>
              <a:gd name="adj" fmla="val 4770"/>
            </a:avLst>
          </a:prstGeom>
          <a:solidFill>
            <a:srgbClr val="FEF8F8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7" name="Google Shape;537;p35">
            <a:extLst>
              <a:ext uri="{FF2B5EF4-FFF2-40B4-BE49-F238E27FC236}">
                <a16:creationId xmlns:a16="http://schemas.microsoft.com/office/drawing/2014/main" id="{E3942384-5365-1C87-D122-91238D7D05B9}"/>
              </a:ext>
            </a:extLst>
          </p:cNvPr>
          <p:cNvSpPr txBox="1"/>
          <p:nvPr/>
        </p:nvSpPr>
        <p:spPr bwMode="auto">
          <a:xfrm>
            <a:off x="4813850" y="2316714"/>
            <a:ext cx="1767817" cy="1633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b="1" dirty="0">
                <a:latin typeface="Manrope" pitchFamily="2" charset="0"/>
              </a:rPr>
              <a:t>PDF Support</a:t>
            </a:r>
            <a:br>
              <a:rPr kumimoji="0" lang="fr-CH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</a:br>
            <a:endParaRPr lang="en-US" sz="8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Link optimized PDF scans directly to the grades and study anywhere without heavy binders.</a:t>
            </a:r>
            <a:endParaRPr lang="fr-FR" sz="12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sz="1200" dirty="0"/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60407DA4-420D-C96B-FF56-9A58CC77CE4C}"/>
              </a:ext>
            </a:extLst>
          </p:cNvPr>
          <p:cNvSpPr/>
          <p:nvPr/>
        </p:nvSpPr>
        <p:spPr bwMode="auto">
          <a:xfrm>
            <a:off x="6793667" y="1658485"/>
            <a:ext cx="1872346" cy="2342334"/>
          </a:xfrm>
          <a:prstGeom prst="roundRect">
            <a:avLst>
              <a:gd name="adj" fmla="val 4770"/>
            </a:avLst>
          </a:prstGeom>
          <a:solidFill>
            <a:srgbClr val="FDF8FE"/>
          </a:solidFill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9" name="Google Shape;537;p35">
            <a:extLst>
              <a:ext uri="{FF2B5EF4-FFF2-40B4-BE49-F238E27FC236}">
                <a16:creationId xmlns:a16="http://schemas.microsoft.com/office/drawing/2014/main" id="{D9FB4589-861E-ADFF-A37C-62F323F2FCEC}"/>
              </a:ext>
            </a:extLst>
          </p:cNvPr>
          <p:cNvSpPr txBox="1"/>
          <p:nvPr/>
        </p:nvSpPr>
        <p:spPr bwMode="auto">
          <a:xfrm>
            <a:off x="6866717" y="2311848"/>
            <a:ext cx="1767817" cy="1633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b="1" dirty="0">
                <a:latin typeface="Manrope" pitchFamily="2" charset="0"/>
              </a:rPr>
              <a:t>100% </a:t>
            </a:r>
            <a:r>
              <a:rPr lang="fr-CH" b="1" dirty="0" err="1">
                <a:latin typeface="Manrope" pitchFamily="2" charset="0"/>
              </a:rPr>
              <a:t>Privacy</a:t>
            </a:r>
            <a:br>
              <a:rPr kumimoji="0" lang="fr-CH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</a:br>
            <a:endParaRPr lang="en-US" sz="8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Zero cloud dependency. </a:t>
            </a:r>
          </a:p>
          <a:p>
            <a:pPr>
              <a:defRPr/>
            </a:pPr>
            <a:b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</a:br>
            <a: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Your academic data stays completely safe on your local machine.</a:t>
            </a:r>
            <a:endParaRPr sz="1200" dirty="0"/>
          </a:p>
        </p:txBody>
      </p:sp>
      <p:pic>
        <p:nvPicPr>
          <p:cNvPr id="33" name="Graphique 32">
            <a:extLst>
              <a:ext uri="{FF2B5EF4-FFF2-40B4-BE49-F238E27FC236}">
                <a16:creationId xmlns:a16="http://schemas.microsoft.com/office/drawing/2014/main" id="{D21E60C1-9161-93D6-8C70-AA32184D2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8250" y="1779695"/>
            <a:ext cx="492506" cy="492506"/>
          </a:xfrm>
          <a:prstGeom prst="rect">
            <a:avLst/>
          </a:prstGeom>
        </p:spPr>
      </p:pic>
      <p:pic>
        <p:nvPicPr>
          <p:cNvPr id="31" name="Graphique 30">
            <a:extLst>
              <a:ext uri="{FF2B5EF4-FFF2-40B4-BE49-F238E27FC236}">
                <a16:creationId xmlns:a16="http://schemas.microsoft.com/office/drawing/2014/main" id="{7A2FCB45-EE6A-7DF6-5974-FBE9E4254A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2583" y="1779695"/>
            <a:ext cx="474160" cy="47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65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91017D-E4E7-C70F-A9F6-0AA14028060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38F6D67-324E-8216-5BAD-3395F24CD4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3" r="15630" b="23508"/>
          <a:stretch>
            <a:fillRect/>
          </a:stretch>
        </p:blipFill>
        <p:spPr bwMode="auto">
          <a:xfrm>
            <a:off x="2810107" y="2096176"/>
            <a:ext cx="6586654" cy="309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9403588" name="Google Shape;536;p35">
            <a:extLst>
              <a:ext uri="{FF2B5EF4-FFF2-40B4-BE49-F238E27FC236}">
                <a16:creationId xmlns:a16="http://schemas.microsoft.com/office/drawing/2014/main" id="{937B0D9E-5F26-0945-6BAA-18928CDBE98C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988852" y="529464"/>
            <a:ext cx="4410900" cy="6290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defRPr/>
            </a:pPr>
            <a:r>
              <a:rPr lang="fr-CH" dirty="0" err="1"/>
              <a:t>My</a:t>
            </a:r>
            <a:r>
              <a:rPr lang="fr-CH" dirty="0"/>
              <a:t> solution</a:t>
            </a:r>
            <a:endParaRPr dirty="0">
              <a:latin typeface="Archivo"/>
              <a:ea typeface="Archivo"/>
              <a:cs typeface="Archivo"/>
            </a:endParaRPr>
          </a:p>
        </p:txBody>
      </p:sp>
      <p:sp>
        <p:nvSpPr>
          <p:cNvPr id="823150496" name="Google Shape;538;p35">
            <a:extLst>
              <a:ext uri="{FF2B5EF4-FFF2-40B4-BE49-F238E27FC236}">
                <a16:creationId xmlns:a16="http://schemas.microsoft.com/office/drawing/2014/main" id="{C1AE7ED4-2ED9-B72B-C490-D3EEDFA76211}"/>
              </a:ext>
            </a:extLst>
          </p:cNvPr>
          <p:cNvSpPr txBox="1"/>
          <p:nvPr/>
        </p:nvSpPr>
        <p:spPr bwMode="auto">
          <a:xfrm>
            <a:off x="774794" y="508739"/>
            <a:ext cx="1046700" cy="711600"/>
          </a:xfrm>
          <a:prstGeom prst="rect">
            <a:avLst/>
          </a:prstGeom>
          <a:solidFill>
            <a:schemeClr val="tx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en" sz="4500" dirty="0">
                <a:solidFill>
                  <a:schemeClr val="bg1"/>
                </a:solidFill>
                <a:latin typeface="Archivo Black"/>
                <a:cs typeface="Archivo Black"/>
              </a:rPr>
              <a:t>0</a:t>
            </a:r>
            <a:r>
              <a:rPr lang="fr-CH" sz="4500" dirty="0">
                <a:solidFill>
                  <a:schemeClr val="bg1"/>
                </a:solidFill>
                <a:latin typeface="Archivo Black"/>
                <a:cs typeface="Archivo Black"/>
              </a:rPr>
              <a:t>3</a:t>
            </a:r>
            <a:endParaRPr dirty="0"/>
          </a:p>
        </p:txBody>
      </p:sp>
      <p:sp>
        <p:nvSpPr>
          <p:cNvPr id="1912932472" name="Google Shape;537;p35">
            <a:extLst>
              <a:ext uri="{FF2B5EF4-FFF2-40B4-BE49-F238E27FC236}">
                <a16:creationId xmlns:a16="http://schemas.microsoft.com/office/drawing/2014/main" id="{F33DDE11-AB3D-D415-A4EC-F4280434EFB5}"/>
              </a:ext>
            </a:extLst>
          </p:cNvPr>
          <p:cNvSpPr txBox="1"/>
          <p:nvPr/>
        </p:nvSpPr>
        <p:spPr bwMode="auto">
          <a:xfrm>
            <a:off x="1043015" y="1629685"/>
            <a:ext cx="3528985" cy="32237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sz="1600" b="1" dirty="0">
                <a:latin typeface="Manrope" pitchFamily="2" charset="0"/>
                <a:cs typeface="Mangal" panose="020B0502040204020203" pitchFamily="18" charset="0"/>
              </a:rPr>
              <a:t>A Tailor-Made Tool</a:t>
            </a:r>
            <a:endParaRPr lang="fr-FR" sz="1600" dirty="0">
              <a:latin typeface="Manrope" pitchFamily="2" charset="0"/>
              <a:cs typeface="Mangal" panose="020B0502040204020203" pitchFamily="18" charset="0"/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  <a:latin typeface="Manrope"/>
              </a:rPr>
              <a:t>ScholarLog</a:t>
            </a:r>
            <a:r>
              <a:rPr lang="en-US" dirty="0">
                <a:solidFill>
                  <a:schemeClr val="tx1"/>
                </a:solidFill>
                <a:latin typeface="Manrope"/>
              </a:rPr>
              <a:t> is an offline, all-in-one desktop application built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Manrope"/>
              </a:rPr>
              <a:t>specifically for EST students.</a:t>
            </a:r>
            <a:endParaRPr lang="en-US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</p:txBody>
      </p:sp>
      <p:sp>
        <p:nvSpPr>
          <p:cNvPr id="611398426" name="Google Shape;537;p35">
            <a:extLst>
              <a:ext uri="{FF2B5EF4-FFF2-40B4-BE49-F238E27FC236}">
                <a16:creationId xmlns:a16="http://schemas.microsoft.com/office/drawing/2014/main" id="{904BBEFB-2D27-BD6E-0231-D896754CE6E7}"/>
              </a:ext>
            </a:extLst>
          </p:cNvPr>
          <p:cNvSpPr txBox="1"/>
          <p:nvPr/>
        </p:nvSpPr>
        <p:spPr bwMode="auto">
          <a:xfrm>
            <a:off x="1992661" y="938810"/>
            <a:ext cx="3047689" cy="3775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dirty="0"/>
              <a:t>The </a:t>
            </a:r>
            <a:r>
              <a:rPr lang="fr-CH" dirty="0" err="1"/>
              <a:t>ScholarLog</a:t>
            </a:r>
            <a:r>
              <a:rPr lang="fr-CH" dirty="0"/>
              <a:t> Application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436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BBCD0C7-4132-FD11-984D-EC0AA414881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403588" name="Google Shape;536;p35">
            <a:extLst>
              <a:ext uri="{FF2B5EF4-FFF2-40B4-BE49-F238E27FC236}">
                <a16:creationId xmlns:a16="http://schemas.microsoft.com/office/drawing/2014/main" id="{C2A95F73-228A-FA64-2EA6-B178498E3F02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988852" y="529464"/>
            <a:ext cx="4410900" cy="6290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defRPr/>
            </a:pPr>
            <a:r>
              <a:rPr lang="fr-CH" dirty="0" err="1"/>
              <a:t>Demonstration</a:t>
            </a:r>
            <a:endParaRPr dirty="0">
              <a:latin typeface="Archivo"/>
              <a:ea typeface="Archivo"/>
              <a:cs typeface="Archivo"/>
            </a:endParaRPr>
          </a:p>
        </p:txBody>
      </p:sp>
      <p:sp>
        <p:nvSpPr>
          <p:cNvPr id="823150496" name="Google Shape;538;p35">
            <a:extLst>
              <a:ext uri="{FF2B5EF4-FFF2-40B4-BE49-F238E27FC236}">
                <a16:creationId xmlns:a16="http://schemas.microsoft.com/office/drawing/2014/main" id="{335F12DC-4C7A-9647-3A5F-9D387B86AB76}"/>
              </a:ext>
            </a:extLst>
          </p:cNvPr>
          <p:cNvSpPr txBox="1"/>
          <p:nvPr/>
        </p:nvSpPr>
        <p:spPr bwMode="auto">
          <a:xfrm>
            <a:off x="774794" y="508739"/>
            <a:ext cx="1046700" cy="711600"/>
          </a:xfrm>
          <a:prstGeom prst="rect">
            <a:avLst/>
          </a:prstGeom>
          <a:solidFill>
            <a:schemeClr val="tx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en" sz="4500" dirty="0">
                <a:solidFill>
                  <a:schemeClr val="bg1"/>
                </a:solidFill>
                <a:latin typeface="Archivo Black"/>
                <a:cs typeface="Archivo Black"/>
              </a:rPr>
              <a:t>0</a:t>
            </a:r>
            <a:r>
              <a:rPr lang="fr-CH" sz="4500" dirty="0">
                <a:solidFill>
                  <a:schemeClr val="bg1"/>
                </a:solidFill>
                <a:latin typeface="Archivo Black"/>
                <a:cs typeface="Archivo Black"/>
              </a:rPr>
              <a:t>4</a:t>
            </a:r>
            <a:endParaRPr dirty="0"/>
          </a:p>
        </p:txBody>
      </p:sp>
      <p:sp>
        <p:nvSpPr>
          <p:cNvPr id="1912932472" name="Google Shape;537;p35">
            <a:extLst>
              <a:ext uri="{FF2B5EF4-FFF2-40B4-BE49-F238E27FC236}">
                <a16:creationId xmlns:a16="http://schemas.microsoft.com/office/drawing/2014/main" id="{9ED848E1-5C71-08D8-D74B-104235DA0889}"/>
              </a:ext>
            </a:extLst>
          </p:cNvPr>
          <p:cNvSpPr txBox="1"/>
          <p:nvPr/>
        </p:nvSpPr>
        <p:spPr bwMode="auto">
          <a:xfrm>
            <a:off x="701045" y="4222364"/>
            <a:ext cx="6621589" cy="7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b="1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Link to the installation files : </a:t>
            </a:r>
            <a:r>
              <a:rPr lang="fr-CH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Manrop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https://github.com/Hoferlukaslh/ScholarLog/releases/tag/v1.0 </a:t>
            </a:r>
            <a:endParaRPr lang="fr-FR" i="1" dirty="0">
              <a:solidFill>
                <a:schemeClr val="tx1">
                  <a:lumMod val="50000"/>
                  <a:lumOff val="50000"/>
                </a:schemeClr>
              </a:solidFill>
              <a:latin typeface="Manrope"/>
            </a:endParaRPr>
          </a:p>
          <a:p>
            <a:pPr>
              <a:defRPr/>
            </a:pPr>
            <a:endParaRPr lang="fr-FR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14D5318-A73E-3E36-AAB2-B99A53D2C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94" y="1408510"/>
            <a:ext cx="7447186" cy="268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98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FE6DE50-B272-47A7-F490-26063890AF1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403588" name="Google Shape;536;p35">
            <a:extLst>
              <a:ext uri="{FF2B5EF4-FFF2-40B4-BE49-F238E27FC236}">
                <a16:creationId xmlns:a16="http://schemas.microsoft.com/office/drawing/2014/main" id="{CC525EFA-CFEE-37B4-5AB8-A6BD0406B57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988852" y="529464"/>
            <a:ext cx="4410900" cy="6290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defRPr/>
            </a:pPr>
            <a:r>
              <a:rPr lang="fr-CH" dirty="0"/>
              <a:t>Conclusion</a:t>
            </a:r>
            <a:endParaRPr dirty="0">
              <a:latin typeface="Archivo"/>
              <a:ea typeface="Archivo"/>
              <a:cs typeface="Archivo"/>
            </a:endParaRPr>
          </a:p>
        </p:txBody>
      </p:sp>
      <p:sp>
        <p:nvSpPr>
          <p:cNvPr id="823150496" name="Google Shape;538;p35">
            <a:extLst>
              <a:ext uri="{FF2B5EF4-FFF2-40B4-BE49-F238E27FC236}">
                <a16:creationId xmlns:a16="http://schemas.microsoft.com/office/drawing/2014/main" id="{26A1BDB4-00BE-E277-E661-431CE7AB5759}"/>
              </a:ext>
            </a:extLst>
          </p:cNvPr>
          <p:cNvSpPr txBox="1"/>
          <p:nvPr/>
        </p:nvSpPr>
        <p:spPr bwMode="auto">
          <a:xfrm>
            <a:off x="774794" y="508739"/>
            <a:ext cx="1046700" cy="711600"/>
          </a:xfrm>
          <a:prstGeom prst="rect">
            <a:avLst/>
          </a:prstGeom>
          <a:solidFill>
            <a:schemeClr val="tx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en" sz="4500" dirty="0">
                <a:solidFill>
                  <a:schemeClr val="bg1"/>
                </a:solidFill>
                <a:latin typeface="Archivo Black"/>
                <a:cs typeface="Archivo Black"/>
              </a:rPr>
              <a:t>0</a:t>
            </a:r>
            <a:r>
              <a:rPr lang="fr-CH" sz="4500" dirty="0">
                <a:solidFill>
                  <a:schemeClr val="bg1"/>
                </a:solidFill>
                <a:latin typeface="Archivo Black"/>
                <a:cs typeface="Archivo Black"/>
              </a:rPr>
              <a:t>5</a:t>
            </a:r>
            <a:endParaRPr dirty="0"/>
          </a:p>
        </p:txBody>
      </p:sp>
      <p:sp>
        <p:nvSpPr>
          <p:cNvPr id="611398426" name="Google Shape;537;p35">
            <a:extLst>
              <a:ext uri="{FF2B5EF4-FFF2-40B4-BE49-F238E27FC236}">
                <a16:creationId xmlns:a16="http://schemas.microsoft.com/office/drawing/2014/main" id="{A557F1BC-5D1A-A9D8-60A9-FA03787B0BF8}"/>
              </a:ext>
            </a:extLst>
          </p:cNvPr>
          <p:cNvSpPr txBox="1"/>
          <p:nvPr/>
        </p:nvSpPr>
        <p:spPr bwMode="auto">
          <a:xfrm>
            <a:off x="1992662" y="938810"/>
            <a:ext cx="1979898" cy="3775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lang="fr-CH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Why </a:t>
            </a:r>
            <a:r>
              <a:rPr lang="fr-CH" dirty="0" err="1">
                <a:solidFill>
                  <a:schemeClr val="bg1">
                    <a:lumMod val="25000"/>
                  </a:schemeClr>
                </a:solidFill>
                <a:latin typeface="Manrope"/>
              </a:rPr>
              <a:t>ScholarLog</a:t>
            </a:r>
            <a:r>
              <a:rPr lang="fr-CH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 ?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0128C9-55EC-9BED-E7CB-89197EB47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671570" y="889018"/>
            <a:ext cx="2697635" cy="15078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3000" endPos="65000" dist="50800" dir="5400000" sy="-100000" algn="bl" rotWithShape="0"/>
          </a:effectLst>
          <a:scene3d>
            <a:camera prst="perspectiveContrastingLeftFacing">
              <a:rot lat="20949963" lon="1645717" rev="21232854"/>
            </a:camera>
            <a:lightRig rig="threePt" dir="t"/>
          </a:scene3d>
        </p:spPr>
      </p:pic>
      <p:sp>
        <p:nvSpPr>
          <p:cNvPr id="4" name="Google Shape;537;p35">
            <a:extLst>
              <a:ext uri="{FF2B5EF4-FFF2-40B4-BE49-F238E27FC236}">
                <a16:creationId xmlns:a16="http://schemas.microsoft.com/office/drawing/2014/main" id="{3F4A21D6-ECB6-C7C1-47F8-F99641E8394D}"/>
              </a:ext>
            </a:extLst>
          </p:cNvPr>
          <p:cNvSpPr txBox="1"/>
          <p:nvPr/>
        </p:nvSpPr>
        <p:spPr bwMode="auto">
          <a:xfrm>
            <a:off x="774794" y="2923988"/>
            <a:ext cx="2464194" cy="13736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CH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</a:rPr>
              <a:t>Time </a:t>
            </a:r>
            <a:r>
              <a:rPr kumimoji="0" lang="fr-CH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</a:rPr>
              <a:t>saved</a:t>
            </a:r>
            <a:br>
              <a:rPr kumimoji="0" lang="fr-CH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</a:br>
            <a:endParaRPr lang="en-US" sz="8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Eliminates manual calculations and chaotic excel sheets, </a:t>
            </a:r>
            <a:b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</a:br>
            <a:endParaRPr lang="en-US" sz="12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saving hours of administrative work every module.</a:t>
            </a:r>
            <a:endParaRPr lang="fr-FR" sz="12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endParaRPr sz="1200" dirty="0"/>
          </a:p>
        </p:txBody>
      </p:sp>
      <p:sp>
        <p:nvSpPr>
          <p:cNvPr id="8" name="Google Shape;537;p35">
            <a:extLst>
              <a:ext uri="{FF2B5EF4-FFF2-40B4-BE49-F238E27FC236}">
                <a16:creationId xmlns:a16="http://schemas.microsoft.com/office/drawing/2014/main" id="{5245B9E1-1C62-CC6E-5E7C-09C6C486F2AA}"/>
              </a:ext>
            </a:extLst>
          </p:cNvPr>
          <p:cNvSpPr txBox="1"/>
          <p:nvPr/>
        </p:nvSpPr>
        <p:spPr bwMode="auto">
          <a:xfrm>
            <a:off x="3538316" y="2923988"/>
            <a:ext cx="2464194" cy="15718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CH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</a:rPr>
              <a:t>GPLv3 Open Source</a:t>
            </a:r>
            <a:br>
              <a:rPr kumimoji="0" lang="fr-CH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</a:br>
            <a:endParaRPr lang="en-US" sz="8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A collaborative, transparent tool. </a:t>
            </a:r>
          </a:p>
          <a:p>
            <a:pPr>
              <a:defRPr/>
            </a:pPr>
            <a:endParaRPr lang="en-US" sz="12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Free forever, guaranteeing that the code can evolve with future student needs.</a:t>
            </a:r>
            <a:endParaRPr sz="1200" dirty="0"/>
          </a:p>
        </p:txBody>
      </p:sp>
      <p:sp>
        <p:nvSpPr>
          <p:cNvPr id="9" name="Google Shape;537;p35">
            <a:extLst>
              <a:ext uri="{FF2B5EF4-FFF2-40B4-BE49-F238E27FC236}">
                <a16:creationId xmlns:a16="http://schemas.microsoft.com/office/drawing/2014/main" id="{05E13F97-27E6-0F0E-C492-6D5EAC086151}"/>
              </a:ext>
            </a:extLst>
          </p:cNvPr>
          <p:cNvSpPr txBox="1"/>
          <p:nvPr/>
        </p:nvSpPr>
        <p:spPr bwMode="auto">
          <a:xfrm>
            <a:off x="6301838" y="2923988"/>
            <a:ext cx="2464194" cy="13736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CH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itchFamily="2" charset="0"/>
              </a:rPr>
              <a:t>Cross-Platform</a:t>
            </a:r>
            <a:br>
              <a:rPr kumimoji="0" lang="fr-CH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</a:br>
            <a:endParaRPr lang="en-US" sz="800" i="1" dirty="0">
              <a:solidFill>
                <a:schemeClr val="bg1">
                  <a:lumMod val="25000"/>
                </a:schemeClr>
              </a:solidFill>
              <a:latin typeface="Manrope"/>
            </a:endParaRPr>
          </a:p>
          <a:p>
            <a:pPr>
              <a:defRPr/>
            </a:pPr>
            <a:r>
              <a:rPr lang="en-US" sz="1200" i="1" dirty="0">
                <a:solidFill>
                  <a:schemeClr val="bg1">
                    <a:lumMod val="25000"/>
                  </a:schemeClr>
                </a:solidFill>
                <a:latin typeface="Manrope"/>
              </a:rPr>
              <a:t>Fully automated deployment scripts provide native, optimized installers for Windows, macOS, and Linux.</a:t>
            </a:r>
            <a:endParaRPr sz="1200" dirty="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11EF3BE6-AEDF-DE06-E318-D35415480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130" y="2513839"/>
            <a:ext cx="446014" cy="446014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4A0CC1C3-53D0-8E98-8C20-227AAC0C83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6629" y="2513839"/>
            <a:ext cx="504638" cy="504638"/>
          </a:xfrm>
          <a:prstGeom prst="rect">
            <a:avLst/>
          </a:prstGeom>
        </p:spPr>
      </p:pic>
      <p:pic>
        <p:nvPicPr>
          <p:cNvPr id="17" name="Graphique 16">
            <a:extLst>
              <a:ext uri="{FF2B5EF4-FFF2-40B4-BE49-F238E27FC236}">
                <a16:creationId xmlns:a16="http://schemas.microsoft.com/office/drawing/2014/main" id="{1D0D0BEE-D210-437C-2774-90F55EDD7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5756" y="2513839"/>
            <a:ext cx="504638" cy="504638"/>
          </a:xfrm>
          <a:prstGeom prst="rect">
            <a:avLst/>
          </a:prstGeom>
        </p:spPr>
      </p:pic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CC6F6309-F88A-361C-2917-E8E177DF633A}"/>
              </a:ext>
            </a:extLst>
          </p:cNvPr>
          <p:cNvCxnSpPr>
            <a:cxnSpLocks/>
          </p:cNvCxnSpPr>
          <p:nvPr/>
        </p:nvCxnSpPr>
        <p:spPr>
          <a:xfrm>
            <a:off x="870418" y="3312160"/>
            <a:ext cx="22141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438DD1C9-C699-1118-8F33-539113C2A2C5}"/>
              </a:ext>
            </a:extLst>
          </p:cNvPr>
          <p:cNvCxnSpPr>
            <a:cxnSpLocks/>
          </p:cNvCxnSpPr>
          <p:nvPr/>
        </p:nvCxnSpPr>
        <p:spPr bwMode="auto">
          <a:xfrm>
            <a:off x="3628172" y="3312160"/>
            <a:ext cx="22141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9F061A08-EA79-5A49-4055-0B83300EEEE1}"/>
              </a:ext>
            </a:extLst>
          </p:cNvPr>
          <p:cNvCxnSpPr>
            <a:cxnSpLocks/>
          </p:cNvCxnSpPr>
          <p:nvPr/>
        </p:nvCxnSpPr>
        <p:spPr bwMode="auto">
          <a:xfrm>
            <a:off x="6395756" y="3312160"/>
            <a:ext cx="22141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963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16704" name="Google Shape;454;p30"/>
          <p:cNvSpPr txBox="1"/>
          <p:nvPr/>
        </p:nvSpPr>
        <p:spPr bwMode="auto">
          <a:xfrm>
            <a:off x="1632752" y="1776373"/>
            <a:ext cx="5878495" cy="15907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fr-CH" sz="3800">
                <a:solidFill>
                  <a:schemeClr val="bg1"/>
                </a:solidFill>
                <a:latin typeface="Archivo Black"/>
                <a:ea typeface="Archivo Black"/>
                <a:cs typeface="Archivo Black"/>
              </a:rPr>
              <a:t>Questions ?</a:t>
            </a:r>
            <a:endParaRPr lang="fr-CH" sz="3800">
              <a:solidFill>
                <a:schemeClr val="bg1"/>
              </a:solidFill>
              <a:latin typeface="Archivo"/>
              <a:ea typeface="Archivo"/>
              <a:cs typeface="Archivo"/>
            </a:endParaRPr>
          </a:p>
        </p:txBody>
      </p:sp>
      <p:sp>
        <p:nvSpPr>
          <p:cNvPr id="326193362" name="Google Shape;538;p35"/>
          <p:cNvSpPr txBox="1"/>
          <p:nvPr/>
        </p:nvSpPr>
        <p:spPr bwMode="auto">
          <a:xfrm>
            <a:off x="3877658" y="1873909"/>
            <a:ext cx="1046700" cy="625450"/>
          </a:xfrm>
          <a:prstGeom prst="rect">
            <a:avLst/>
          </a:prstGeom>
          <a:solidFill>
            <a:srgbClr val="6194E6">
              <a:alpha val="700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en" sz="4500" dirty="0">
                <a:solidFill>
                  <a:schemeClr val="bg1">
                    <a:alpha val="9000"/>
                  </a:schemeClr>
                </a:solidFill>
                <a:latin typeface="Archivo Black" panose="020B0A03020202020B04" pitchFamily="34" charset="0"/>
                <a:cs typeface="Archivo"/>
              </a:rPr>
              <a:t>0</a:t>
            </a:r>
            <a:r>
              <a:rPr lang="fr-CH" sz="4500" dirty="0">
                <a:solidFill>
                  <a:schemeClr val="bg1">
                    <a:alpha val="9000"/>
                  </a:schemeClr>
                </a:solidFill>
                <a:latin typeface="Archivo Black" panose="020B0A03020202020B04" pitchFamily="34" charset="0"/>
                <a:cs typeface="Archivo"/>
              </a:rPr>
              <a:t>7</a:t>
            </a:r>
            <a:endParaRPr dirty="0">
              <a:latin typeface="Archivo Black" panose="020B0A03020202020B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485630" name="Google Shape;454;p30"/>
          <p:cNvSpPr txBox="1"/>
          <p:nvPr/>
        </p:nvSpPr>
        <p:spPr bwMode="auto">
          <a:xfrm>
            <a:off x="1632752" y="1776373"/>
            <a:ext cx="5878495" cy="15907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r>
              <a:rPr lang="fr-CH" sz="3800">
                <a:solidFill>
                  <a:schemeClr val="bg1"/>
                </a:solidFill>
                <a:latin typeface="Archivo Black"/>
                <a:ea typeface="Archivo Black"/>
                <a:cs typeface="Archivo Black"/>
              </a:rPr>
              <a:t>Thanks for your attention !</a:t>
            </a:r>
            <a:endParaRPr lang="fr-CH" sz="3800">
              <a:solidFill>
                <a:schemeClr val="bg1"/>
              </a:solidFill>
              <a:latin typeface="Archivo"/>
              <a:ea typeface="Archivo"/>
              <a:cs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392</Words>
  <Application>Microsoft Office PowerPoint</Application>
  <PresentationFormat>Affichage à l'écran (16:9)</PresentationFormat>
  <Paragraphs>86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12</vt:i4>
      </vt:variant>
    </vt:vector>
  </HeadingPairs>
  <TitlesOfParts>
    <vt:vector size="21" baseType="lpstr">
      <vt:lpstr>DM Sans</vt:lpstr>
      <vt:lpstr>Manrope</vt:lpstr>
      <vt:lpstr>Arial</vt:lpstr>
      <vt:lpstr>Proxima Nova Semibold</vt:lpstr>
      <vt:lpstr>Archivo Black</vt:lpstr>
      <vt:lpstr>Proxima Nova</vt:lpstr>
      <vt:lpstr>Archivo</vt:lpstr>
      <vt:lpstr>Business Administration School Center by Slidesgo</vt:lpstr>
      <vt:lpstr>Slidesgo Final Pages</vt:lpstr>
      <vt:lpstr>Presentation M5 - ScholarLog</vt:lpstr>
      <vt:lpstr>Content</vt:lpstr>
      <vt:lpstr>Problematics</vt:lpstr>
      <vt:lpstr>Problematic</vt:lpstr>
      <vt:lpstr>Problematic</vt:lpstr>
      <vt:lpstr>Needs</vt:lpstr>
      <vt:lpstr>My solution</vt:lpstr>
      <vt:lpstr>Demonstration</vt:lpstr>
      <vt:lpstr>Conclusion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Présenation M4</dc:title>
  <dc:creator/>
  <cp:keywords>Réseau, Lukas, TINF2, 2026</cp:keywords>
  <cp:lastModifiedBy>Hofer Lukas</cp:lastModifiedBy>
  <cp:revision>81</cp:revision>
  <dcterms:modified xsi:type="dcterms:W3CDTF">2026-06-11T00:41:34Z</dcterms:modified>
</cp:coreProperties>
</file>